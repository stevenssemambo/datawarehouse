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9"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5143500" type="screen16x9"/>
  <p:notesSz cx="51435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5" d="100"/>
          <a:sy n="95" d="100"/>
        </p:scale>
        <p:origin x="46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4260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13335" y="601724"/>
            <a:ext cx="6477805" cy="1906073"/>
          </a:xfrm>
        </p:spPr>
        <p:txBody>
          <a:bodyPr bIns="0" anchor="b">
            <a:normAutofit/>
          </a:bodyPr>
          <a:lstStyle>
            <a:lvl1pPr algn="l">
              <a:defRPr sz="4950"/>
            </a:lvl1pPr>
          </a:lstStyle>
          <a:p>
            <a:r>
              <a:rPr lang="en-US"/>
              <a:t>Click to edit Master title style</a:t>
            </a:r>
            <a:endParaRPr lang="en-US" dirty="0"/>
          </a:p>
        </p:txBody>
      </p:sp>
      <p:sp>
        <p:nvSpPr>
          <p:cNvPr id="3" name="Subtitle 2"/>
          <p:cNvSpPr>
            <a:spLocks noGrp="1"/>
          </p:cNvSpPr>
          <p:nvPr>
            <p:ph type="subTitle" idx="1"/>
          </p:nvPr>
        </p:nvSpPr>
        <p:spPr>
          <a:xfrm>
            <a:off x="1813335" y="2648403"/>
            <a:ext cx="6477804" cy="733216"/>
          </a:xfrm>
        </p:spPr>
        <p:txBody>
          <a:bodyPr tIns="91440" bIns="91440">
            <a:normAutofit/>
          </a:bodyPr>
          <a:lstStyle>
            <a:lvl1pPr marL="0" indent="0" algn="l">
              <a:buNone/>
              <a:defRPr sz="1350" b="0" cap="all" baseline="0">
                <a:solidFill>
                  <a:schemeClr val="tx1"/>
                </a:solidFill>
              </a:defRPr>
            </a:lvl1pPr>
            <a:lvl2pPr marL="342900" indent="0" algn="ctr">
              <a:buNone/>
              <a:defRPr sz="135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5/14/2026</a:t>
            </a:fld>
            <a:endParaRPr lang="en-US" dirty="0"/>
          </a:p>
        </p:txBody>
      </p:sp>
      <p:sp>
        <p:nvSpPr>
          <p:cNvPr id="5" name="Footer Placeholder 4"/>
          <p:cNvSpPr>
            <a:spLocks noGrp="1"/>
          </p:cNvSpPr>
          <p:nvPr>
            <p:ph type="ftr" sz="quarter" idx="11"/>
          </p:nvPr>
        </p:nvSpPr>
        <p:spPr>
          <a:xfrm>
            <a:off x="1812376" y="246981"/>
            <a:ext cx="3730436" cy="231901"/>
          </a:xfrm>
        </p:spPr>
        <p:txBody>
          <a:bodyPr/>
          <a:lstStyle/>
          <a:p>
            <a:endParaRPr lang="en-US" dirty="0"/>
          </a:p>
        </p:txBody>
      </p:sp>
      <p:sp>
        <p:nvSpPr>
          <p:cNvPr id="6" name="Slide Number Placeholder 5"/>
          <p:cNvSpPr>
            <a:spLocks noGrp="1"/>
          </p:cNvSpPr>
          <p:nvPr>
            <p:ph type="sldNum" sz="quarter" idx="12"/>
          </p:nvPr>
        </p:nvSpPr>
        <p:spPr>
          <a:xfrm>
            <a:off x="1078249" y="599230"/>
            <a:ext cx="608264" cy="377684"/>
          </a:xfrm>
        </p:spPr>
        <p:txBody>
          <a:bodyPr/>
          <a:lstStyle/>
          <a:p>
            <a:fld id="{6D22F896-40B5-4ADD-8801-0D06FADFA095}" type="slidenum">
              <a:rPr lang="en-US" smtClean="0"/>
              <a:t>‹#›</a:t>
            </a:fld>
            <a:endParaRPr lang="en-US" dirty="0"/>
          </a:p>
        </p:txBody>
      </p:sp>
      <p:cxnSp>
        <p:nvCxnSpPr>
          <p:cNvPr id="15" name="Straight Connector 14"/>
          <p:cNvCxnSpPr/>
          <p:nvPr/>
        </p:nvCxnSpPr>
        <p:spPr>
          <a:xfrm>
            <a:off x="1813335" y="2646407"/>
            <a:ext cx="6477804"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36527191"/>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cxnSp>
        <p:nvCxnSpPr>
          <p:cNvPr id="33" name="Straight Connector 32"/>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7655947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90679" y="1317097"/>
            <a:ext cx="6482366" cy="1415963"/>
          </a:xfrm>
        </p:spPr>
        <p:txBody>
          <a:bodyPr anchor="b">
            <a:normAutofit/>
          </a:bodyPr>
          <a:lstStyle>
            <a:lvl1pPr algn="l">
              <a:defRPr sz="2700"/>
            </a:lvl1pPr>
          </a:lstStyle>
          <a:p>
            <a:r>
              <a:rPr lang="en-US"/>
              <a:t>Click to edit Master title style</a:t>
            </a:r>
            <a:endParaRPr lang="en-US" dirty="0"/>
          </a:p>
        </p:txBody>
      </p:sp>
      <p:sp>
        <p:nvSpPr>
          <p:cNvPr id="3" name="Text Placeholder 2"/>
          <p:cNvSpPr>
            <a:spLocks noGrp="1"/>
          </p:cNvSpPr>
          <p:nvPr>
            <p:ph type="body" idx="1"/>
          </p:nvPr>
        </p:nvSpPr>
        <p:spPr>
          <a:xfrm>
            <a:off x="1090679" y="2854647"/>
            <a:ext cx="6472835" cy="759697"/>
          </a:xfrm>
        </p:spPr>
        <p:txBody>
          <a:bodyPr tIns="91440">
            <a:norm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5/14/2026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cxnSp>
        <p:nvCxnSpPr>
          <p:cNvPr id="15" name="Straight Connector 14"/>
          <p:cNvCxnSpPr/>
          <p:nvPr/>
        </p:nvCxnSpPr>
        <p:spPr>
          <a:xfrm>
            <a:off x="1090679" y="2853739"/>
            <a:ext cx="647283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93856407"/>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86913" y="603667"/>
            <a:ext cx="7204226" cy="79447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85498" y="1508159"/>
            <a:ext cx="3483864" cy="25864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10328" y="1513007"/>
            <a:ext cx="3483864" cy="25811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5/14/2026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cxnSp>
        <p:nvCxnSpPr>
          <p:cNvPr id="35" name="Straight Connector 34"/>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4705802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85394" y="603123"/>
            <a:ext cx="7205746" cy="79223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85393" y="1514662"/>
            <a:ext cx="3483864" cy="601457"/>
          </a:xfrm>
        </p:spPr>
        <p:txBody>
          <a:bodyPr anchor="b">
            <a:normAutofit/>
          </a:bodyPr>
          <a:lstStyle>
            <a:lvl1pPr marL="0" indent="0">
              <a:lnSpc>
                <a:spcPct val="100000"/>
              </a:lnSpc>
              <a:buNone/>
              <a:defRPr sz="165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085393" y="2118202"/>
            <a:ext cx="3483864" cy="19833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09272" y="1517253"/>
            <a:ext cx="3483864" cy="601678"/>
          </a:xfrm>
        </p:spPr>
        <p:txBody>
          <a:bodyPr anchor="b">
            <a:normAutofit/>
          </a:bodyPr>
          <a:lstStyle>
            <a:lvl1pPr marL="0" indent="0">
              <a:lnSpc>
                <a:spcPct val="100000"/>
              </a:lnSpc>
              <a:buNone/>
              <a:defRPr sz="165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809272" y="2116119"/>
            <a:ext cx="3483864" cy="19780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5/14/2026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cxnSp>
        <p:nvCxnSpPr>
          <p:cNvPr id="29" name="Straight Connector 28"/>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63836692"/>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5/14/2026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cxnSp>
        <p:nvCxnSpPr>
          <p:cNvPr id="25" name="Straight Connector 24"/>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1558311"/>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5/14/2026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928874980"/>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3504" y="599230"/>
            <a:ext cx="2454824" cy="1685338"/>
          </a:xfrm>
        </p:spPr>
        <p:txBody>
          <a:bodyPr anchor="b">
            <a:normAutofit/>
          </a:bodyPr>
          <a:lstStyle>
            <a:lvl1pPr algn="l">
              <a:defRPr sz="1800"/>
            </a:lvl1pPr>
          </a:lstStyle>
          <a:p>
            <a:r>
              <a:rPr lang="en-US"/>
              <a:t>Click to edit Master title style</a:t>
            </a:r>
            <a:endParaRPr lang="en-US" dirty="0"/>
          </a:p>
        </p:txBody>
      </p:sp>
      <p:sp>
        <p:nvSpPr>
          <p:cNvPr id="3" name="Content Placeholder 2"/>
          <p:cNvSpPr>
            <a:spLocks noGrp="1"/>
          </p:cNvSpPr>
          <p:nvPr>
            <p:ph idx="1"/>
          </p:nvPr>
        </p:nvSpPr>
        <p:spPr>
          <a:xfrm>
            <a:off x="3782785" y="599230"/>
            <a:ext cx="4509353" cy="349412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83504" y="2404119"/>
            <a:ext cx="2456260" cy="1686136"/>
          </a:xfrm>
        </p:spPr>
        <p:txBody>
          <a:bodyPr/>
          <a:lstStyle>
            <a:lvl1pPr marL="0" indent="0" algn="l">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5/14/2026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cxnSp>
        <p:nvCxnSpPr>
          <p:cNvPr id="17" name="Straight Connector 16"/>
          <p:cNvCxnSpPr/>
          <p:nvPr/>
        </p:nvCxnSpPr>
        <p:spPr>
          <a:xfrm>
            <a:off x="1086210" y="2404118"/>
            <a:ext cx="2452118"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21716761"/>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5608041" y="361628"/>
            <a:ext cx="3055900" cy="3861826"/>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088405" y="847135"/>
            <a:ext cx="4149246" cy="1372938"/>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3292" y="841907"/>
            <a:ext cx="2093378" cy="2899745"/>
          </a:xfrm>
          <a:solidFill>
            <a:schemeClr val="bg1">
              <a:lumMod val="85000"/>
            </a:schemeClr>
          </a:solidFill>
          <a:ln w="9525" cap="sq">
            <a:noFill/>
            <a:miter lim="800000"/>
          </a:ln>
          <a:effectLst/>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1087747" y="2359494"/>
            <a:ext cx="4143303" cy="1502807"/>
          </a:xfrm>
        </p:spPr>
        <p:txBody>
          <a:bodyPr>
            <a:normAutofit/>
          </a:bodyPr>
          <a:lstStyle>
            <a:lvl1pPr marL="0" indent="0" algn="l">
              <a:buNone/>
              <a:defRPr sz="13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1085537" y="4102393"/>
            <a:ext cx="4145513" cy="240092"/>
          </a:xfrm>
        </p:spPr>
        <p:txBody>
          <a:bodyPr/>
          <a:lstStyle>
            <a:lvl1pPr algn="l">
              <a:defRPr/>
            </a:lvl1pPr>
          </a:lstStyle>
          <a:p>
            <a:fld id="{48A87A34-81AB-432B-8DAE-1953F412C126}" type="datetimeFigureOut">
              <a:rPr lang="en-US" smtClean="0"/>
              <a:pPr/>
              <a:t>5/14/2026</a:t>
            </a:fld>
            <a:endParaRPr lang="en-US" dirty="0"/>
          </a:p>
        </p:txBody>
      </p:sp>
      <p:sp>
        <p:nvSpPr>
          <p:cNvPr id="6" name="Footer Placeholder 5"/>
          <p:cNvSpPr>
            <a:spLocks noGrp="1"/>
          </p:cNvSpPr>
          <p:nvPr>
            <p:ph type="ftr" sz="quarter" idx="11"/>
          </p:nvPr>
        </p:nvSpPr>
        <p:spPr>
          <a:xfrm>
            <a:off x="1085537" y="238981"/>
            <a:ext cx="4155753" cy="240698"/>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cxnSp>
        <p:nvCxnSpPr>
          <p:cNvPr id="31" name="Straight Connector 30"/>
          <p:cNvCxnSpPr/>
          <p:nvPr/>
        </p:nvCxnSpPr>
        <p:spPr>
          <a:xfrm>
            <a:off x="1085537" y="2357704"/>
            <a:ext cx="414551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6259329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cxnSp>
        <p:nvCxnSpPr>
          <p:cNvPr id="26" name="Straight Connector 25"/>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5697494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79333" y="599230"/>
            <a:ext cx="1211807" cy="3494917"/>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83504" y="599230"/>
            <a:ext cx="5871623" cy="34949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cxnSp>
        <p:nvCxnSpPr>
          <p:cNvPr id="15" name="Straight Connector 14"/>
          <p:cNvCxnSpPr/>
          <p:nvPr/>
        </p:nvCxnSpPr>
        <p:spPr>
          <a:xfrm>
            <a:off x="7079333" y="599230"/>
            <a:ext cx="0" cy="3494917"/>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43831734"/>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279291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1514607"/>
            <a:ext cx="9144000" cy="3079456"/>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4">
            <a:extLst>
              <a:ext uri="{28A0092B-C50C-407E-A947-70E740481C1C}">
                <a14:useLocalDpi xmlns:a14="http://schemas.microsoft.com/office/drawing/2010/main" val="0"/>
              </a:ext>
            </a:extLst>
          </a:blip>
          <a:srcRect t="1538" b="-1538"/>
          <a:stretch/>
        </p:blipFill>
        <p:spPr bwMode="black">
          <a:xfrm>
            <a:off x="0" y="4594860"/>
            <a:ext cx="9144000" cy="557213"/>
          </a:xfrm>
          <a:prstGeom prst="rect">
            <a:avLst/>
          </a:prstGeom>
        </p:spPr>
      </p:pic>
      <p:sp>
        <p:nvSpPr>
          <p:cNvPr id="2" name="Title Placeholder 1"/>
          <p:cNvSpPr>
            <a:spLocks noGrp="1"/>
          </p:cNvSpPr>
          <p:nvPr>
            <p:ph type="title"/>
          </p:nvPr>
        </p:nvSpPr>
        <p:spPr>
          <a:xfrm>
            <a:off x="1088685" y="603390"/>
            <a:ext cx="7202456" cy="786926"/>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088685" y="1511799"/>
            <a:ext cx="7202456" cy="25879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665604" y="247778"/>
            <a:ext cx="2625536" cy="231901"/>
          </a:xfrm>
          <a:prstGeom prst="rect">
            <a:avLst/>
          </a:prstGeom>
        </p:spPr>
        <p:txBody>
          <a:bodyPr vert="horz" lIns="91440" tIns="45720" rIns="91440" bIns="45720" rtlCol="0" anchor="ctr"/>
          <a:lstStyle>
            <a:lvl1pPr algn="r">
              <a:defRPr sz="750">
                <a:solidFill>
                  <a:schemeClr val="tx1">
                    <a:tint val="75000"/>
                  </a:schemeClr>
                </a:solidFill>
              </a:defRPr>
            </a:lvl1pPr>
          </a:lstStyle>
          <a:p>
            <a:fld id="{48A87A34-81AB-432B-8DAE-1953F412C126}" type="datetimeFigureOut">
              <a:rPr lang="en-US" smtClean="0"/>
              <a:pPr/>
              <a:t>5/14/2026</a:t>
            </a:fld>
            <a:endParaRPr lang="en-US" dirty="0"/>
          </a:p>
        </p:txBody>
      </p:sp>
      <p:sp>
        <p:nvSpPr>
          <p:cNvPr id="5" name="Footer Placeholder 4"/>
          <p:cNvSpPr>
            <a:spLocks noGrp="1"/>
          </p:cNvSpPr>
          <p:nvPr>
            <p:ph type="ftr" sz="quarter" idx="3"/>
          </p:nvPr>
        </p:nvSpPr>
        <p:spPr>
          <a:xfrm>
            <a:off x="1088684" y="246981"/>
            <a:ext cx="4454127" cy="231901"/>
          </a:xfrm>
          <a:prstGeom prst="rect">
            <a:avLst/>
          </a:prstGeom>
        </p:spPr>
        <p:txBody>
          <a:bodyPr vert="horz" lIns="91440" tIns="45720" rIns="91440" bIns="45720" rtlCol="0" anchor="ctr"/>
          <a:lstStyle>
            <a:lvl1pPr algn="l">
              <a:defRPr sz="7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360046" y="599230"/>
            <a:ext cx="608264" cy="377684"/>
          </a:xfrm>
          <a:prstGeom prst="rect">
            <a:avLst/>
          </a:prstGeom>
        </p:spPr>
        <p:txBody>
          <a:bodyPr vert="horz" lIns="91440" tIns="45720" rIns="91440" bIns="45720" rtlCol="0" anchor="t"/>
          <a:lstStyle>
            <a:lvl1pPr algn="r">
              <a:defRPr sz="2100">
                <a:solidFill>
                  <a:schemeClr val="accent1"/>
                </a:solidFill>
              </a:defRPr>
            </a:lvl1pPr>
          </a:lstStyle>
          <a:p>
            <a:fld id="{6D22F896-40B5-4ADD-8801-0D06FADFA095}" type="slidenum">
              <a:rPr lang="en-US" smtClean="0"/>
              <a:pPr/>
              <a:t>‹#›</a:t>
            </a:fld>
            <a:endParaRPr lang="en-US" dirty="0"/>
          </a:p>
        </p:txBody>
      </p:sp>
      <p:cxnSp>
        <p:nvCxnSpPr>
          <p:cNvPr id="10" name="Straight Connector 9"/>
          <p:cNvCxnSpPr/>
          <p:nvPr/>
        </p:nvCxnSpPr>
        <p:spPr>
          <a:xfrm>
            <a:off x="0" y="4596310"/>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2892344"/>
      </p:ext>
    </p:extLst>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Lst>
  <p:hf sldNum="0" hdr="0" ftr="0" dt="0"/>
  <p:txStyles>
    <p:titleStyle>
      <a:lvl1pPr algn="l" defTabSz="685800" rtl="0" eaLnBrk="1" latinLnBrk="0" hangingPunct="1">
        <a:lnSpc>
          <a:spcPct val="90000"/>
        </a:lnSpc>
        <a:spcBef>
          <a:spcPct val="0"/>
        </a:spcBef>
        <a:buNone/>
        <a:defRPr sz="2400" b="0" i="0" kern="1200" cap="all">
          <a:solidFill>
            <a:schemeClr val="tx1"/>
          </a:solidFill>
          <a:effectLst/>
          <a:latin typeface="+mj-lt"/>
          <a:ea typeface="+mj-ea"/>
          <a:cs typeface="+mj-cs"/>
        </a:defRPr>
      </a:lvl1pPr>
    </p:titleStyle>
    <p:bodyStyle>
      <a:lvl1pPr marL="171450" indent="-171450" algn="l" defTabSz="685800" rtl="0" eaLnBrk="1" latinLnBrk="0" hangingPunct="1">
        <a:lnSpc>
          <a:spcPct val="120000"/>
        </a:lnSpc>
        <a:spcBef>
          <a:spcPts val="750"/>
        </a:spcBef>
        <a:buClr>
          <a:schemeClr val="accent1"/>
        </a:buClr>
        <a:buSzPct val="100000"/>
        <a:buFont typeface="Arial" panose="020B0604020202020204" pitchFamily="34" charset="0"/>
        <a:buChar char="•"/>
        <a:defRPr sz="1500" kern="1200">
          <a:solidFill>
            <a:schemeClr val="tx1"/>
          </a:solidFill>
          <a:effectLst/>
          <a:latin typeface="+mn-lt"/>
          <a:ea typeface="+mn-ea"/>
          <a:cs typeface="+mn-cs"/>
        </a:defRPr>
      </a:lvl1pPr>
      <a:lvl2pPr marL="5143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1350" kern="1200" cap="none" baseline="0">
          <a:solidFill>
            <a:schemeClr val="tx1"/>
          </a:solidFill>
          <a:effectLst/>
          <a:latin typeface="+mn-lt"/>
          <a:ea typeface="+mn-ea"/>
          <a:cs typeface="+mn-cs"/>
        </a:defRPr>
      </a:lvl2pPr>
      <a:lvl3pPr marL="8572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3pPr>
      <a:lvl4pPr marL="12001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1050" kern="1200" cap="none" baseline="0">
          <a:solidFill>
            <a:schemeClr val="tx1"/>
          </a:solidFill>
          <a:effectLst/>
          <a:latin typeface="+mn-lt"/>
          <a:ea typeface="+mn-ea"/>
          <a:cs typeface="+mn-cs"/>
        </a:defRPr>
      </a:lvl4pPr>
      <a:lvl5pPr marL="15430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5pPr>
      <a:lvl6pPr marL="18859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6pPr>
      <a:lvl7pPr marL="22288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7pPr>
      <a:lvl8pPr marL="25717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baseline="0">
          <a:solidFill>
            <a:schemeClr val="tx1"/>
          </a:solidFill>
          <a:effectLst/>
          <a:latin typeface="+mn-lt"/>
          <a:ea typeface="+mn-ea"/>
          <a:cs typeface="+mn-cs"/>
        </a:defRPr>
      </a:lvl8pPr>
      <a:lvl9pPr marL="29146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3291840"/>
            <a:ext cx="9144000" cy="1856232"/>
          </a:xfrm>
          <a:prstGeom prst="rect">
            <a:avLst/>
          </a:prstGeom>
          <a:solidFill>
            <a:srgbClr val="162040"/>
          </a:solidFill>
          <a:ln w="12700">
            <a:solidFill>
              <a:srgbClr val="162040"/>
            </a:solidFill>
            <a:prstDash val="solid"/>
          </a:ln>
        </p:spPr>
      </p:sp>
      <p:sp>
        <p:nvSpPr>
          <p:cNvPr id="3" name="Shape 1"/>
          <p:cNvSpPr/>
          <p:nvPr/>
        </p:nvSpPr>
        <p:spPr>
          <a:xfrm>
            <a:off x="0" y="3218688"/>
            <a:ext cx="9144000" cy="91440"/>
          </a:xfrm>
          <a:prstGeom prst="rect">
            <a:avLst/>
          </a:prstGeom>
          <a:solidFill>
            <a:srgbClr val="C9A84C"/>
          </a:solidFill>
          <a:ln w="12700">
            <a:solidFill>
              <a:srgbClr val="C9A84C"/>
            </a:solidFill>
            <a:prstDash val="solid"/>
          </a:ln>
        </p:spPr>
      </p:sp>
      <p:sp>
        <p:nvSpPr>
          <p:cNvPr id="4" name="Shape 2"/>
          <p:cNvSpPr/>
          <p:nvPr/>
        </p:nvSpPr>
        <p:spPr>
          <a:xfrm>
            <a:off x="365760" y="320040"/>
            <a:ext cx="73152" cy="2743200"/>
          </a:xfrm>
          <a:prstGeom prst="rect">
            <a:avLst/>
          </a:prstGeom>
          <a:solidFill>
            <a:srgbClr val="C9A84C"/>
          </a:solidFill>
          <a:ln w="12700">
            <a:solidFill>
              <a:srgbClr val="C9A84C"/>
            </a:solidFill>
            <a:prstDash val="solid"/>
          </a:ln>
        </p:spPr>
      </p:sp>
      <p:sp>
        <p:nvSpPr>
          <p:cNvPr id="5" name="Text 3"/>
          <p:cNvSpPr/>
          <p:nvPr/>
        </p:nvSpPr>
        <p:spPr>
          <a:xfrm>
            <a:off x="640080" y="274320"/>
            <a:ext cx="8229600" cy="685800"/>
          </a:xfrm>
          <a:prstGeom prst="rect">
            <a:avLst/>
          </a:prstGeom>
          <a:noFill/>
          <a:ln/>
        </p:spPr>
        <p:txBody>
          <a:bodyPr wrap="square" rtlCol="0" anchor="ctr"/>
          <a:lstStyle/>
          <a:p>
            <a:pPr marL="0" indent="0">
              <a:buNone/>
            </a:pPr>
            <a:r>
              <a:rPr lang="en-US" sz="3200" b="1" kern="0" spc="100" dirty="0">
                <a:solidFill>
                  <a:srgbClr val="FFFFFF"/>
                </a:solidFill>
                <a:latin typeface="Calibri" pitchFamily="34" charset="0"/>
                <a:ea typeface="Calibri" pitchFamily="34" charset="-122"/>
                <a:cs typeface="Calibri" pitchFamily="34" charset="-120"/>
              </a:rPr>
              <a:t>UGANDA FUEL PRICE &amp;</a:t>
            </a:r>
            <a:endParaRPr lang="en-US" sz="3200" dirty="0"/>
          </a:p>
        </p:txBody>
      </p:sp>
      <p:sp>
        <p:nvSpPr>
          <p:cNvPr id="6" name="Text 4"/>
          <p:cNvSpPr/>
          <p:nvPr/>
        </p:nvSpPr>
        <p:spPr>
          <a:xfrm>
            <a:off x="640080" y="914400"/>
            <a:ext cx="8229600" cy="685800"/>
          </a:xfrm>
          <a:prstGeom prst="rect">
            <a:avLst/>
          </a:prstGeom>
          <a:noFill/>
          <a:ln/>
        </p:spPr>
        <p:txBody>
          <a:bodyPr wrap="square" rtlCol="0" anchor="ctr"/>
          <a:lstStyle/>
          <a:p>
            <a:pPr marL="0" indent="0">
              <a:buNone/>
            </a:pPr>
            <a:r>
              <a:rPr lang="en-US" sz="3200" b="1" kern="0" spc="100" dirty="0">
                <a:solidFill>
                  <a:srgbClr val="C9A84C"/>
                </a:solidFill>
                <a:latin typeface="Calibri" pitchFamily="34" charset="0"/>
                <a:ea typeface="Calibri" pitchFamily="34" charset="-122"/>
                <a:cs typeface="Calibri" pitchFamily="34" charset="-120"/>
              </a:rPr>
              <a:t>CONSUMPTION DATA WAREHOUSE</a:t>
            </a:r>
            <a:endParaRPr lang="en-US" sz="3200" dirty="0"/>
          </a:p>
        </p:txBody>
      </p:sp>
      <p:sp>
        <p:nvSpPr>
          <p:cNvPr id="7" name="Text 5"/>
          <p:cNvSpPr/>
          <p:nvPr/>
        </p:nvSpPr>
        <p:spPr>
          <a:xfrm>
            <a:off x="640080" y="1691640"/>
            <a:ext cx="8229600" cy="411480"/>
          </a:xfrm>
          <a:prstGeom prst="rect">
            <a:avLst/>
          </a:prstGeom>
          <a:noFill/>
          <a:ln/>
        </p:spPr>
        <p:txBody>
          <a:bodyPr wrap="square" rtlCol="0" anchor="ctr"/>
          <a:lstStyle/>
          <a:p>
            <a:pPr marL="0" indent="0">
              <a:buNone/>
            </a:pPr>
            <a:r>
              <a:rPr lang="en-US" sz="1600" i="1" dirty="0">
                <a:solidFill>
                  <a:srgbClr val="A0B4CC"/>
                </a:solidFill>
                <a:latin typeface="Calibri" pitchFamily="34" charset="0"/>
                <a:ea typeface="Calibri" pitchFamily="34" charset="-122"/>
                <a:cs typeface="Calibri" pitchFamily="34" charset="-120"/>
              </a:rPr>
              <a:t>A Business Intelligence &amp; Data Warehousing Project</a:t>
            </a:r>
            <a:endParaRPr lang="en-US" sz="1600" dirty="0"/>
          </a:p>
        </p:txBody>
      </p:sp>
      <p:sp>
        <p:nvSpPr>
          <p:cNvPr id="8" name="Text 6"/>
          <p:cNvSpPr/>
          <p:nvPr/>
        </p:nvSpPr>
        <p:spPr>
          <a:xfrm>
            <a:off x="640080" y="2176272"/>
            <a:ext cx="8229600" cy="320040"/>
          </a:xfrm>
          <a:prstGeom prst="rect">
            <a:avLst/>
          </a:prstGeom>
          <a:noFill/>
          <a:ln/>
        </p:spPr>
        <p:txBody>
          <a:bodyPr wrap="square" rtlCol="0" anchor="ctr"/>
          <a:lstStyle/>
          <a:p>
            <a:pPr marL="0" indent="0">
              <a:buNone/>
            </a:pPr>
            <a:r>
              <a:rPr lang="en-US" sz="1200" dirty="0">
                <a:solidFill>
                  <a:srgbClr val="7090AA"/>
                </a:solidFill>
                <a:latin typeface="Calibri" pitchFamily="34" charset="0"/>
                <a:ea typeface="Calibri" pitchFamily="34" charset="-122"/>
                <a:cs typeface="Calibri" pitchFamily="34" charset="-120"/>
              </a:rPr>
              <a:t>College of Computing and Informatics Technology  |  Department of Information Technology</a:t>
            </a:r>
            <a:endParaRPr lang="en-US" sz="1200" dirty="0"/>
          </a:p>
        </p:txBody>
      </p:sp>
      <p:sp>
        <p:nvSpPr>
          <p:cNvPr id="9" name="Text 7"/>
          <p:cNvSpPr/>
          <p:nvPr/>
        </p:nvSpPr>
        <p:spPr>
          <a:xfrm>
            <a:off x="640080" y="3383280"/>
            <a:ext cx="1828800" cy="320040"/>
          </a:xfrm>
          <a:prstGeom prst="rect">
            <a:avLst/>
          </a:prstGeom>
          <a:noFill/>
          <a:ln/>
        </p:spPr>
        <p:txBody>
          <a:bodyPr wrap="square" rtlCol="0" anchor="ctr"/>
          <a:lstStyle/>
          <a:p>
            <a:pPr marL="0" indent="0">
              <a:buNone/>
            </a:pPr>
            <a:r>
              <a:rPr lang="en-US" sz="1200" b="1" dirty="0">
                <a:solidFill>
                  <a:srgbClr val="C9A84C"/>
                </a:solidFill>
                <a:latin typeface="Calibri" pitchFamily="34" charset="0"/>
                <a:ea typeface="Calibri" pitchFamily="34" charset="-122"/>
                <a:cs typeface="Calibri" pitchFamily="34" charset="-120"/>
              </a:rPr>
              <a:t>Group 4</a:t>
            </a:r>
            <a:endParaRPr lang="en-US" sz="1200" dirty="0"/>
          </a:p>
        </p:txBody>
      </p:sp>
      <p:sp>
        <p:nvSpPr>
          <p:cNvPr id="10" name="Text 8"/>
          <p:cNvSpPr/>
          <p:nvPr/>
        </p:nvSpPr>
        <p:spPr>
          <a:xfrm>
            <a:off x="640080" y="3703320"/>
            <a:ext cx="8229600" cy="320040"/>
          </a:xfrm>
          <a:prstGeom prst="rect">
            <a:avLst/>
          </a:prstGeom>
          <a:noFill/>
          <a:ln/>
        </p:spPr>
        <p:txBody>
          <a:bodyPr wrap="square" rtlCol="0" anchor="ctr"/>
          <a:lstStyle/>
          <a:p>
            <a:pPr marL="0" indent="0">
              <a:buNone/>
            </a:pPr>
            <a:r>
              <a:rPr lang="en-US" sz="1200" dirty="0">
                <a:solidFill>
                  <a:srgbClr val="A0B4CC"/>
                </a:solidFill>
                <a:latin typeface="Calibri" pitchFamily="34" charset="0"/>
                <a:ea typeface="Calibri" pitchFamily="34" charset="-122"/>
                <a:cs typeface="Calibri" pitchFamily="34" charset="-120"/>
              </a:rPr>
              <a:t>Ssemambo Steven  |  Opifeni Timothy  |  Owani Stuart  |  Musemerwe Charles</a:t>
            </a:r>
            <a:endParaRPr lang="en-US" sz="1200" dirty="0"/>
          </a:p>
        </p:txBody>
      </p:sp>
      <p:sp>
        <p:nvSpPr>
          <p:cNvPr id="11" name="Text 9"/>
          <p:cNvSpPr/>
          <p:nvPr/>
        </p:nvSpPr>
        <p:spPr>
          <a:xfrm>
            <a:off x="640080" y="4160520"/>
            <a:ext cx="8229600" cy="274320"/>
          </a:xfrm>
          <a:prstGeom prst="rect">
            <a:avLst/>
          </a:prstGeom>
          <a:noFill/>
          <a:ln/>
        </p:spPr>
        <p:txBody>
          <a:bodyPr wrap="square" rtlCol="0" anchor="ctr"/>
          <a:lstStyle/>
          <a:p>
            <a:pPr marL="0" indent="0">
              <a:buNone/>
            </a:pPr>
            <a:r>
              <a:rPr lang="en-US" sz="1100" dirty="0">
                <a:solidFill>
                  <a:srgbClr val="607880"/>
                </a:solidFill>
                <a:latin typeface="Calibri" pitchFamily="34" charset="0"/>
                <a:ea typeface="Calibri" pitchFamily="34" charset="-122"/>
                <a:cs typeface="Calibri" pitchFamily="34" charset="-120"/>
              </a:rPr>
              <a:t>Data Warehousing and Business Intelligence  |  Academic Year 2025/2026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F3864"/>
          </a:solidFill>
          <a:ln w="12700">
            <a:solidFill>
              <a:srgbClr val="1F3864"/>
            </a:solidFill>
            <a:prstDash val="solid"/>
          </a:ln>
        </p:spPr>
      </p:sp>
      <p:sp>
        <p:nvSpPr>
          <p:cNvPr id="3" name="Shape 1"/>
          <p:cNvSpPr/>
          <p:nvPr/>
        </p:nvSpPr>
        <p:spPr>
          <a:xfrm>
            <a:off x="0" y="777240"/>
            <a:ext cx="9144000" cy="54864"/>
          </a:xfrm>
          <a:prstGeom prst="rect">
            <a:avLst/>
          </a:prstGeom>
          <a:solidFill>
            <a:srgbClr val="C9A84C"/>
          </a:solidFill>
          <a:ln w="12700">
            <a:solidFill>
              <a:srgbClr val="C9A84C"/>
            </a:solidFill>
            <a:prstDash val="solid"/>
          </a:ln>
        </p:spPr>
      </p:sp>
      <p:sp>
        <p:nvSpPr>
          <p:cNvPr id="4" name="Text 2"/>
          <p:cNvSpPr/>
          <p:nvPr/>
        </p:nvSpPr>
        <p:spPr>
          <a:xfrm>
            <a:off x="274320" y="36576"/>
            <a:ext cx="8595360" cy="713232"/>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Presentation Agenda</a:t>
            </a:r>
            <a:endParaRPr lang="en-US" sz="2000" dirty="0"/>
          </a:p>
        </p:txBody>
      </p:sp>
      <p:sp>
        <p:nvSpPr>
          <p:cNvPr id="5" name="Shape 3"/>
          <p:cNvSpPr/>
          <p:nvPr/>
        </p:nvSpPr>
        <p:spPr>
          <a:xfrm>
            <a:off x="0" y="4892040"/>
            <a:ext cx="9144000" cy="256032"/>
          </a:xfrm>
          <a:prstGeom prst="rect">
            <a:avLst/>
          </a:prstGeom>
          <a:solidFill>
            <a:srgbClr val="F0F0F0"/>
          </a:solidFill>
          <a:ln w="12700">
            <a:solidFill>
              <a:srgbClr val="DDDDDD"/>
            </a:solidFill>
            <a:prstDash val="solid"/>
          </a:ln>
        </p:spPr>
      </p:sp>
      <p:sp>
        <p:nvSpPr>
          <p:cNvPr id="6" name="Text 4"/>
          <p:cNvSpPr/>
          <p:nvPr/>
        </p:nvSpPr>
        <p:spPr>
          <a:xfrm>
            <a:off x="182880" y="4910328"/>
            <a:ext cx="7315200" cy="201168"/>
          </a:xfrm>
          <a:prstGeom prst="rect">
            <a:avLst/>
          </a:prstGeom>
          <a:noFill/>
          <a:ln/>
        </p:spPr>
        <p:txBody>
          <a:bodyPr wrap="square" rtlCol="0" anchor="ctr"/>
          <a:lstStyle/>
          <a:p>
            <a:pPr marL="0" indent="0">
              <a:buNone/>
            </a:pPr>
            <a:r>
              <a:rPr lang="en-US" sz="800" dirty="0">
                <a:solidFill>
                  <a:srgbClr val="888888"/>
                </a:solidFill>
                <a:latin typeface="Calibri" pitchFamily="34" charset="0"/>
                <a:ea typeface="Calibri" pitchFamily="34" charset="-122"/>
                <a:cs typeface="Calibri" pitchFamily="34" charset="-120"/>
              </a:rPr>
              <a:t>Uganda Fuel Price &amp; Consumption Data Warehouse  |  Group 4  |  College of Computing and Informatics Technology</a:t>
            </a:r>
            <a:endParaRPr lang="en-US" sz="800" dirty="0"/>
          </a:p>
        </p:txBody>
      </p:sp>
      <p:sp>
        <p:nvSpPr>
          <p:cNvPr id="7" name="Text 5"/>
          <p:cNvSpPr/>
          <p:nvPr/>
        </p:nvSpPr>
        <p:spPr>
          <a:xfrm>
            <a:off x="8229600" y="4910328"/>
            <a:ext cx="731520" cy="201168"/>
          </a:xfrm>
          <a:prstGeom prst="rect">
            <a:avLst/>
          </a:prstGeom>
          <a:noFill/>
          <a:ln/>
        </p:spPr>
        <p:txBody>
          <a:bodyPr wrap="square" rtlCol="0" anchor="ctr"/>
          <a:lstStyle/>
          <a:p>
            <a:pPr marL="0" indent="0" algn="r">
              <a:buNone/>
            </a:pPr>
            <a:r>
              <a:rPr lang="en-US" sz="800" dirty="0">
                <a:solidFill>
                  <a:srgbClr val="888888"/>
                </a:solidFill>
                <a:latin typeface="Calibri" pitchFamily="34" charset="0"/>
                <a:ea typeface="Calibri" pitchFamily="34" charset="-122"/>
                <a:cs typeface="Calibri" pitchFamily="34" charset="-120"/>
              </a:rPr>
              <a:t>2 / 18</a:t>
            </a:r>
            <a:endParaRPr lang="en-US" sz="800" dirty="0"/>
          </a:p>
        </p:txBody>
      </p:sp>
      <p:sp>
        <p:nvSpPr>
          <p:cNvPr id="8" name="Shape 6"/>
          <p:cNvSpPr/>
          <p:nvPr/>
        </p:nvSpPr>
        <p:spPr>
          <a:xfrm>
            <a:off x="228600" y="996696"/>
            <a:ext cx="347472" cy="329184"/>
          </a:xfrm>
          <a:prstGeom prst="rect">
            <a:avLst/>
          </a:prstGeom>
          <a:solidFill>
            <a:srgbClr val="1F3864"/>
          </a:solidFill>
          <a:ln w="12700">
            <a:solidFill>
              <a:srgbClr val="1F3864"/>
            </a:solidFill>
            <a:prstDash val="solid"/>
          </a:ln>
        </p:spPr>
      </p:sp>
      <p:sp>
        <p:nvSpPr>
          <p:cNvPr id="9" name="Text 7"/>
          <p:cNvSpPr/>
          <p:nvPr/>
        </p:nvSpPr>
        <p:spPr>
          <a:xfrm>
            <a:off x="228600" y="996696"/>
            <a:ext cx="347472" cy="329184"/>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01</a:t>
            </a:r>
            <a:endParaRPr lang="en-US" sz="1100" dirty="0"/>
          </a:p>
        </p:txBody>
      </p:sp>
      <p:sp>
        <p:nvSpPr>
          <p:cNvPr id="10" name="Text 8"/>
          <p:cNvSpPr/>
          <p:nvPr/>
        </p:nvSpPr>
        <p:spPr>
          <a:xfrm>
            <a:off x="658368" y="960120"/>
            <a:ext cx="3474720" cy="411480"/>
          </a:xfrm>
          <a:prstGeom prst="rect">
            <a:avLst/>
          </a:prstGeom>
          <a:noFill/>
          <a:ln/>
        </p:spPr>
        <p:txBody>
          <a:bodyPr wrap="square" rtlCol="0" anchor="ctr"/>
          <a:lstStyle/>
          <a:p>
            <a:pPr marL="0" indent="0">
              <a:buNone/>
            </a:pPr>
            <a:r>
              <a:rPr lang="en-US" sz="1200" b="1" dirty="0">
                <a:solidFill>
                  <a:srgbClr val="1F3864"/>
                </a:solidFill>
                <a:latin typeface="Calibri" pitchFamily="34" charset="0"/>
                <a:ea typeface="Calibri" pitchFamily="34" charset="-122"/>
                <a:cs typeface="Calibri" pitchFamily="34" charset="-120"/>
              </a:rPr>
              <a:t>Business Problem &amp; Background</a:t>
            </a:r>
            <a:endParaRPr lang="en-US" sz="1200" dirty="0"/>
          </a:p>
        </p:txBody>
      </p:sp>
      <p:sp>
        <p:nvSpPr>
          <p:cNvPr id="11" name="Text 9"/>
          <p:cNvSpPr/>
          <p:nvPr/>
        </p:nvSpPr>
        <p:spPr>
          <a:xfrm>
            <a:off x="4206240" y="960120"/>
            <a:ext cx="4754880" cy="411480"/>
          </a:xfrm>
          <a:prstGeom prst="rect">
            <a:avLst/>
          </a:prstGeom>
          <a:noFill/>
          <a:ln/>
        </p:spPr>
        <p:txBody>
          <a:bodyPr wrap="square" rtlCol="0" anchor="ctr"/>
          <a:lstStyle/>
          <a:p>
            <a:pPr marL="0" indent="0">
              <a:buNone/>
            </a:pPr>
            <a:r>
              <a:rPr lang="en-US" sz="1100" i="1" dirty="0">
                <a:solidFill>
                  <a:srgbClr val="404040"/>
                </a:solidFill>
                <a:latin typeface="Calibri" pitchFamily="34" charset="0"/>
                <a:ea typeface="Calibri" pitchFamily="34" charset="-122"/>
                <a:cs typeface="Calibri" pitchFamily="34" charset="-120"/>
              </a:rPr>
              <a:t>Why this project matters to Uganda</a:t>
            </a:r>
            <a:endParaRPr lang="en-US" sz="1100" dirty="0"/>
          </a:p>
        </p:txBody>
      </p:sp>
      <p:sp>
        <p:nvSpPr>
          <p:cNvPr id="12" name="Shape 10"/>
          <p:cNvSpPr/>
          <p:nvPr/>
        </p:nvSpPr>
        <p:spPr>
          <a:xfrm>
            <a:off x="228600" y="1435608"/>
            <a:ext cx="347472" cy="329184"/>
          </a:xfrm>
          <a:prstGeom prst="rect">
            <a:avLst/>
          </a:prstGeom>
          <a:solidFill>
            <a:srgbClr val="1F3864"/>
          </a:solidFill>
          <a:ln w="12700">
            <a:solidFill>
              <a:srgbClr val="1F3864"/>
            </a:solidFill>
            <a:prstDash val="solid"/>
          </a:ln>
        </p:spPr>
      </p:sp>
      <p:sp>
        <p:nvSpPr>
          <p:cNvPr id="13" name="Text 11"/>
          <p:cNvSpPr/>
          <p:nvPr/>
        </p:nvSpPr>
        <p:spPr>
          <a:xfrm>
            <a:off x="228600" y="1435608"/>
            <a:ext cx="347472" cy="329184"/>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02</a:t>
            </a:r>
            <a:endParaRPr lang="en-US" sz="1100" dirty="0"/>
          </a:p>
        </p:txBody>
      </p:sp>
      <p:sp>
        <p:nvSpPr>
          <p:cNvPr id="14" name="Text 12"/>
          <p:cNvSpPr/>
          <p:nvPr/>
        </p:nvSpPr>
        <p:spPr>
          <a:xfrm>
            <a:off x="658368" y="1399032"/>
            <a:ext cx="3474720" cy="411480"/>
          </a:xfrm>
          <a:prstGeom prst="rect">
            <a:avLst/>
          </a:prstGeom>
          <a:noFill/>
          <a:ln/>
        </p:spPr>
        <p:txBody>
          <a:bodyPr wrap="square" rtlCol="0" anchor="ctr"/>
          <a:lstStyle/>
          <a:p>
            <a:pPr marL="0" indent="0">
              <a:buNone/>
            </a:pPr>
            <a:r>
              <a:rPr lang="en-US" sz="1200" b="1" dirty="0">
                <a:solidFill>
                  <a:srgbClr val="1F3864"/>
                </a:solidFill>
                <a:latin typeface="Calibri" pitchFamily="34" charset="0"/>
                <a:ea typeface="Calibri" pitchFamily="34" charset="-122"/>
                <a:cs typeface="Calibri" pitchFamily="34" charset="-120"/>
              </a:rPr>
              <a:t>Project Objectives &amp; Scope</a:t>
            </a:r>
            <a:endParaRPr lang="en-US" sz="1200" dirty="0"/>
          </a:p>
        </p:txBody>
      </p:sp>
      <p:sp>
        <p:nvSpPr>
          <p:cNvPr id="15" name="Text 13"/>
          <p:cNvSpPr/>
          <p:nvPr/>
        </p:nvSpPr>
        <p:spPr>
          <a:xfrm>
            <a:off x="4206240" y="1399032"/>
            <a:ext cx="4754880" cy="411480"/>
          </a:xfrm>
          <a:prstGeom prst="rect">
            <a:avLst/>
          </a:prstGeom>
          <a:noFill/>
          <a:ln/>
        </p:spPr>
        <p:txBody>
          <a:bodyPr wrap="square" rtlCol="0" anchor="ctr"/>
          <a:lstStyle/>
          <a:p>
            <a:pPr marL="0" indent="0">
              <a:buNone/>
            </a:pPr>
            <a:r>
              <a:rPr lang="en-US" sz="1100" i="1" dirty="0">
                <a:solidFill>
                  <a:srgbClr val="404040"/>
                </a:solidFill>
                <a:latin typeface="Calibri" pitchFamily="34" charset="0"/>
                <a:ea typeface="Calibri" pitchFamily="34" charset="-122"/>
                <a:cs typeface="Calibri" pitchFamily="34" charset="-120"/>
              </a:rPr>
              <a:t>What we set out to achieve and the boundaries</a:t>
            </a:r>
            <a:endParaRPr lang="en-US" sz="1100" dirty="0"/>
          </a:p>
        </p:txBody>
      </p:sp>
      <p:sp>
        <p:nvSpPr>
          <p:cNvPr id="16" name="Shape 14"/>
          <p:cNvSpPr/>
          <p:nvPr/>
        </p:nvSpPr>
        <p:spPr>
          <a:xfrm>
            <a:off x="228600" y="1874520"/>
            <a:ext cx="347472" cy="329184"/>
          </a:xfrm>
          <a:prstGeom prst="rect">
            <a:avLst/>
          </a:prstGeom>
          <a:solidFill>
            <a:srgbClr val="1F3864"/>
          </a:solidFill>
          <a:ln w="12700">
            <a:solidFill>
              <a:srgbClr val="1F3864"/>
            </a:solidFill>
            <a:prstDash val="solid"/>
          </a:ln>
        </p:spPr>
      </p:sp>
      <p:sp>
        <p:nvSpPr>
          <p:cNvPr id="17" name="Text 15"/>
          <p:cNvSpPr/>
          <p:nvPr/>
        </p:nvSpPr>
        <p:spPr>
          <a:xfrm>
            <a:off x="228600" y="1874520"/>
            <a:ext cx="347472" cy="329184"/>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03</a:t>
            </a:r>
            <a:endParaRPr lang="en-US" sz="1100" dirty="0"/>
          </a:p>
        </p:txBody>
      </p:sp>
      <p:sp>
        <p:nvSpPr>
          <p:cNvPr id="18" name="Text 16"/>
          <p:cNvSpPr/>
          <p:nvPr/>
        </p:nvSpPr>
        <p:spPr>
          <a:xfrm>
            <a:off x="658368" y="1837944"/>
            <a:ext cx="3474720" cy="411480"/>
          </a:xfrm>
          <a:prstGeom prst="rect">
            <a:avLst/>
          </a:prstGeom>
          <a:noFill/>
          <a:ln/>
        </p:spPr>
        <p:txBody>
          <a:bodyPr wrap="square" rtlCol="0" anchor="ctr"/>
          <a:lstStyle/>
          <a:p>
            <a:pPr marL="0" indent="0">
              <a:buNone/>
            </a:pPr>
            <a:r>
              <a:rPr lang="en-US" sz="1200" b="1" dirty="0">
                <a:solidFill>
                  <a:srgbClr val="1F3864"/>
                </a:solidFill>
                <a:latin typeface="Calibri" pitchFamily="34" charset="0"/>
                <a:ea typeface="Calibri" pitchFamily="34" charset="-122"/>
                <a:cs typeface="Calibri" pitchFamily="34" charset="-120"/>
              </a:rPr>
              <a:t>Data Sources &amp; Collection</a:t>
            </a:r>
            <a:endParaRPr lang="en-US" sz="1200" dirty="0"/>
          </a:p>
        </p:txBody>
      </p:sp>
      <p:sp>
        <p:nvSpPr>
          <p:cNvPr id="19" name="Text 17"/>
          <p:cNvSpPr/>
          <p:nvPr/>
        </p:nvSpPr>
        <p:spPr>
          <a:xfrm>
            <a:off x="4206240" y="1837944"/>
            <a:ext cx="4754880" cy="411480"/>
          </a:xfrm>
          <a:prstGeom prst="rect">
            <a:avLst/>
          </a:prstGeom>
          <a:noFill/>
          <a:ln/>
        </p:spPr>
        <p:txBody>
          <a:bodyPr wrap="square" rtlCol="0" anchor="ctr"/>
          <a:lstStyle/>
          <a:p>
            <a:pPr marL="0" indent="0">
              <a:buNone/>
            </a:pPr>
            <a:r>
              <a:rPr lang="en-US" sz="1100" i="1" dirty="0">
                <a:solidFill>
                  <a:srgbClr val="404040"/>
                </a:solidFill>
                <a:latin typeface="Calibri" pitchFamily="34" charset="0"/>
                <a:ea typeface="Calibri" pitchFamily="34" charset="-122"/>
                <a:cs typeface="Calibri" pitchFamily="34" charset="-120"/>
              </a:rPr>
              <a:t>UBOS, UNOC, ChimpReports, GlobalPetrolPrices</a:t>
            </a:r>
            <a:endParaRPr lang="en-US" sz="1100" dirty="0"/>
          </a:p>
        </p:txBody>
      </p:sp>
      <p:sp>
        <p:nvSpPr>
          <p:cNvPr id="20" name="Shape 18"/>
          <p:cNvSpPr/>
          <p:nvPr/>
        </p:nvSpPr>
        <p:spPr>
          <a:xfrm>
            <a:off x="228600" y="2313432"/>
            <a:ext cx="347472" cy="329184"/>
          </a:xfrm>
          <a:prstGeom prst="rect">
            <a:avLst/>
          </a:prstGeom>
          <a:solidFill>
            <a:srgbClr val="1F3864"/>
          </a:solidFill>
          <a:ln w="12700">
            <a:solidFill>
              <a:srgbClr val="1F3864"/>
            </a:solidFill>
            <a:prstDash val="solid"/>
          </a:ln>
        </p:spPr>
      </p:sp>
      <p:sp>
        <p:nvSpPr>
          <p:cNvPr id="21" name="Text 19"/>
          <p:cNvSpPr/>
          <p:nvPr/>
        </p:nvSpPr>
        <p:spPr>
          <a:xfrm>
            <a:off x="228600" y="2313432"/>
            <a:ext cx="347472" cy="329184"/>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04</a:t>
            </a:r>
            <a:endParaRPr lang="en-US" sz="1100" dirty="0"/>
          </a:p>
        </p:txBody>
      </p:sp>
      <p:sp>
        <p:nvSpPr>
          <p:cNvPr id="22" name="Text 20"/>
          <p:cNvSpPr/>
          <p:nvPr/>
        </p:nvSpPr>
        <p:spPr>
          <a:xfrm>
            <a:off x="658368" y="2276856"/>
            <a:ext cx="3474720" cy="411480"/>
          </a:xfrm>
          <a:prstGeom prst="rect">
            <a:avLst/>
          </a:prstGeom>
          <a:noFill/>
          <a:ln/>
        </p:spPr>
        <p:txBody>
          <a:bodyPr wrap="square" rtlCol="0" anchor="ctr"/>
          <a:lstStyle/>
          <a:p>
            <a:pPr marL="0" indent="0">
              <a:buNone/>
            </a:pPr>
            <a:r>
              <a:rPr lang="en-US" sz="1200" b="1" dirty="0">
                <a:solidFill>
                  <a:srgbClr val="1F3864"/>
                </a:solidFill>
                <a:latin typeface="Calibri" pitchFamily="34" charset="0"/>
                <a:ea typeface="Calibri" pitchFamily="34" charset="-122"/>
                <a:cs typeface="Calibri" pitchFamily="34" charset="-120"/>
              </a:rPr>
              <a:t>Data Warehouse Design</a:t>
            </a:r>
            <a:endParaRPr lang="en-US" sz="1200" dirty="0"/>
          </a:p>
        </p:txBody>
      </p:sp>
      <p:sp>
        <p:nvSpPr>
          <p:cNvPr id="23" name="Text 21"/>
          <p:cNvSpPr/>
          <p:nvPr/>
        </p:nvSpPr>
        <p:spPr>
          <a:xfrm>
            <a:off x="4206240" y="2276856"/>
            <a:ext cx="4754880" cy="411480"/>
          </a:xfrm>
          <a:prstGeom prst="rect">
            <a:avLst/>
          </a:prstGeom>
          <a:noFill/>
          <a:ln/>
        </p:spPr>
        <p:txBody>
          <a:bodyPr wrap="square" rtlCol="0" anchor="ctr"/>
          <a:lstStyle/>
          <a:p>
            <a:pPr marL="0" indent="0">
              <a:buNone/>
            </a:pPr>
            <a:r>
              <a:rPr lang="en-US" sz="1100" i="1" dirty="0">
                <a:solidFill>
                  <a:srgbClr val="404040"/>
                </a:solidFill>
                <a:latin typeface="Calibri" pitchFamily="34" charset="0"/>
                <a:ea typeface="Calibri" pitchFamily="34" charset="-122"/>
                <a:cs typeface="Calibri" pitchFamily="34" charset="-120"/>
              </a:rPr>
              <a:t>Star schema — fact and dimension tables</a:t>
            </a:r>
            <a:endParaRPr lang="en-US" sz="1100" dirty="0"/>
          </a:p>
        </p:txBody>
      </p:sp>
      <p:sp>
        <p:nvSpPr>
          <p:cNvPr id="24" name="Shape 22"/>
          <p:cNvSpPr/>
          <p:nvPr/>
        </p:nvSpPr>
        <p:spPr>
          <a:xfrm>
            <a:off x="228600" y="2752344"/>
            <a:ext cx="347472" cy="329184"/>
          </a:xfrm>
          <a:prstGeom prst="rect">
            <a:avLst/>
          </a:prstGeom>
          <a:solidFill>
            <a:srgbClr val="1F3864"/>
          </a:solidFill>
          <a:ln w="12700">
            <a:solidFill>
              <a:srgbClr val="1F3864"/>
            </a:solidFill>
            <a:prstDash val="solid"/>
          </a:ln>
        </p:spPr>
      </p:sp>
      <p:sp>
        <p:nvSpPr>
          <p:cNvPr id="25" name="Text 23"/>
          <p:cNvSpPr/>
          <p:nvPr/>
        </p:nvSpPr>
        <p:spPr>
          <a:xfrm>
            <a:off x="228600" y="2752344"/>
            <a:ext cx="347472" cy="329184"/>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05</a:t>
            </a:r>
            <a:endParaRPr lang="en-US" sz="1100" dirty="0"/>
          </a:p>
        </p:txBody>
      </p:sp>
      <p:sp>
        <p:nvSpPr>
          <p:cNvPr id="26" name="Text 24"/>
          <p:cNvSpPr/>
          <p:nvPr/>
        </p:nvSpPr>
        <p:spPr>
          <a:xfrm>
            <a:off x="658368" y="2715768"/>
            <a:ext cx="3474720" cy="411480"/>
          </a:xfrm>
          <a:prstGeom prst="rect">
            <a:avLst/>
          </a:prstGeom>
          <a:noFill/>
          <a:ln/>
        </p:spPr>
        <p:txBody>
          <a:bodyPr wrap="square" rtlCol="0" anchor="ctr"/>
          <a:lstStyle/>
          <a:p>
            <a:pPr marL="0" indent="0">
              <a:buNone/>
            </a:pPr>
            <a:r>
              <a:rPr lang="en-US" sz="1200" b="1" dirty="0">
                <a:solidFill>
                  <a:srgbClr val="1F3864"/>
                </a:solidFill>
                <a:latin typeface="Calibri" pitchFamily="34" charset="0"/>
                <a:ea typeface="Calibri" pitchFamily="34" charset="-122"/>
                <a:cs typeface="Calibri" pitchFamily="34" charset="-120"/>
              </a:rPr>
              <a:t>ETL Implementation</a:t>
            </a:r>
            <a:endParaRPr lang="en-US" sz="1200" dirty="0"/>
          </a:p>
        </p:txBody>
      </p:sp>
      <p:sp>
        <p:nvSpPr>
          <p:cNvPr id="27" name="Text 25"/>
          <p:cNvSpPr/>
          <p:nvPr/>
        </p:nvSpPr>
        <p:spPr>
          <a:xfrm>
            <a:off x="4206240" y="2715768"/>
            <a:ext cx="4754880" cy="411480"/>
          </a:xfrm>
          <a:prstGeom prst="rect">
            <a:avLst/>
          </a:prstGeom>
          <a:noFill/>
          <a:ln/>
        </p:spPr>
        <p:txBody>
          <a:bodyPr wrap="square" rtlCol="0" anchor="ctr"/>
          <a:lstStyle/>
          <a:p>
            <a:pPr marL="0" indent="0">
              <a:buNone/>
            </a:pPr>
            <a:r>
              <a:rPr lang="en-US" sz="1100" i="1" dirty="0">
                <a:solidFill>
                  <a:srgbClr val="404040"/>
                </a:solidFill>
                <a:latin typeface="Calibri" pitchFamily="34" charset="0"/>
                <a:ea typeface="Calibri" pitchFamily="34" charset="-122"/>
                <a:cs typeface="Calibri" pitchFamily="34" charset="-120"/>
              </a:rPr>
              <a:t>Three-layer Power Query pipeline</a:t>
            </a:r>
            <a:endParaRPr lang="en-US" sz="1100" dirty="0"/>
          </a:p>
        </p:txBody>
      </p:sp>
      <p:sp>
        <p:nvSpPr>
          <p:cNvPr id="28" name="Shape 26"/>
          <p:cNvSpPr/>
          <p:nvPr/>
        </p:nvSpPr>
        <p:spPr>
          <a:xfrm>
            <a:off x="228600" y="3191256"/>
            <a:ext cx="347472" cy="329184"/>
          </a:xfrm>
          <a:prstGeom prst="rect">
            <a:avLst/>
          </a:prstGeom>
          <a:solidFill>
            <a:srgbClr val="1F3864"/>
          </a:solidFill>
          <a:ln w="12700">
            <a:solidFill>
              <a:srgbClr val="1F3864"/>
            </a:solidFill>
            <a:prstDash val="solid"/>
          </a:ln>
        </p:spPr>
      </p:sp>
      <p:sp>
        <p:nvSpPr>
          <p:cNvPr id="29" name="Text 27"/>
          <p:cNvSpPr/>
          <p:nvPr/>
        </p:nvSpPr>
        <p:spPr>
          <a:xfrm>
            <a:off x="228600" y="3191256"/>
            <a:ext cx="347472" cy="329184"/>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06</a:t>
            </a:r>
            <a:endParaRPr lang="en-US" sz="1100" dirty="0"/>
          </a:p>
        </p:txBody>
      </p:sp>
      <p:sp>
        <p:nvSpPr>
          <p:cNvPr id="30" name="Text 28"/>
          <p:cNvSpPr/>
          <p:nvPr/>
        </p:nvSpPr>
        <p:spPr>
          <a:xfrm>
            <a:off x="658368" y="3154680"/>
            <a:ext cx="3474720" cy="411480"/>
          </a:xfrm>
          <a:prstGeom prst="rect">
            <a:avLst/>
          </a:prstGeom>
          <a:noFill/>
          <a:ln/>
        </p:spPr>
        <p:txBody>
          <a:bodyPr wrap="square" rtlCol="0" anchor="ctr"/>
          <a:lstStyle/>
          <a:p>
            <a:pPr marL="0" indent="0">
              <a:buNone/>
            </a:pPr>
            <a:r>
              <a:rPr lang="en-US" sz="1200" b="1" dirty="0">
                <a:solidFill>
                  <a:srgbClr val="1F3864"/>
                </a:solidFill>
                <a:latin typeface="Calibri" pitchFamily="34" charset="0"/>
                <a:ea typeface="Calibri" pitchFamily="34" charset="-122"/>
                <a:cs typeface="Calibri" pitchFamily="34" charset="-120"/>
              </a:rPr>
              <a:t>DAX Measures &amp; Data Model</a:t>
            </a:r>
            <a:endParaRPr lang="en-US" sz="1200" dirty="0"/>
          </a:p>
        </p:txBody>
      </p:sp>
      <p:sp>
        <p:nvSpPr>
          <p:cNvPr id="31" name="Text 29"/>
          <p:cNvSpPr/>
          <p:nvPr/>
        </p:nvSpPr>
        <p:spPr>
          <a:xfrm>
            <a:off x="4206240" y="3154680"/>
            <a:ext cx="4754880" cy="411480"/>
          </a:xfrm>
          <a:prstGeom prst="rect">
            <a:avLst/>
          </a:prstGeom>
          <a:noFill/>
          <a:ln/>
        </p:spPr>
        <p:txBody>
          <a:bodyPr wrap="square" rtlCol="0" anchor="ctr"/>
          <a:lstStyle/>
          <a:p>
            <a:pPr marL="0" indent="0">
              <a:buNone/>
            </a:pPr>
            <a:r>
              <a:rPr lang="en-US" sz="1100" i="1" dirty="0">
                <a:solidFill>
                  <a:srgbClr val="404040"/>
                </a:solidFill>
                <a:latin typeface="Calibri" pitchFamily="34" charset="0"/>
                <a:ea typeface="Calibri" pitchFamily="34" charset="-122"/>
                <a:cs typeface="Calibri" pitchFamily="34" charset="-120"/>
              </a:rPr>
              <a:t>Calculated measures and relationships</a:t>
            </a:r>
            <a:endParaRPr lang="en-US" sz="1100" dirty="0"/>
          </a:p>
        </p:txBody>
      </p:sp>
      <p:sp>
        <p:nvSpPr>
          <p:cNvPr id="32" name="Shape 30"/>
          <p:cNvSpPr/>
          <p:nvPr/>
        </p:nvSpPr>
        <p:spPr>
          <a:xfrm>
            <a:off x="228600" y="3630168"/>
            <a:ext cx="347472" cy="329184"/>
          </a:xfrm>
          <a:prstGeom prst="rect">
            <a:avLst/>
          </a:prstGeom>
          <a:solidFill>
            <a:srgbClr val="1F3864"/>
          </a:solidFill>
          <a:ln w="12700">
            <a:solidFill>
              <a:srgbClr val="1F3864"/>
            </a:solidFill>
            <a:prstDash val="solid"/>
          </a:ln>
        </p:spPr>
      </p:sp>
      <p:sp>
        <p:nvSpPr>
          <p:cNvPr id="33" name="Text 31"/>
          <p:cNvSpPr/>
          <p:nvPr/>
        </p:nvSpPr>
        <p:spPr>
          <a:xfrm>
            <a:off x="228600" y="3630168"/>
            <a:ext cx="347472" cy="329184"/>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07</a:t>
            </a:r>
            <a:endParaRPr lang="en-US" sz="1100" dirty="0"/>
          </a:p>
        </p:txBody>
      </p:sp>
      <p:sp>
        <p:nvSpPr>
          <p:cNvPr id="34" name="Text 32"/>
          <p:cNvSpPr/>
          <p:nvPr/>
        </p:nvSpPr>
        <p:spPr>
          <a:xfrm>
            <a:off x="658368" y="3593592"/>
            <a:ext cx="3474720" cy="411480"/>
          </a:xfrm>
          <a:prstGeom prst="rect">
            <a:avLst/>
          </a:prstGeom>
          <a:noFill/>
          <a:ln/>
        </p:spPr>
        <p:txBody>
          <a:bodyPr wrap="square" rtlCol="0" anchor="ctr"/>
          <a:lstStyle/>
          <a:p>
            <a:pPr marL="0" indent="0">
              <a:buNone/>
            </a:pPr>
            <a:r>
              <a:rPr lang="en-US" sz="1200" b="1" dirty="0">
                <a:solidFill>
                  <a:srgbClr val="1F3864"/>
                </a:solidFill>
                <a:latin typeface="Calibri" pitchFamily="34" charset="0"/>
                <a:ea typeface="Calibri" pitchFamily="34" charset="-122"/>
                <a:cs typeface="Calibri" pitchFamily="34" charset="-120"/>
              </a:rPr>
              <a:t>Dashboard Walkthrough</a:t>
            </a:r>
            <a:endParaRPr lang="en-US" sz="1200" dirty="0"/>
          </a:p>
        </p:txBody>
      </p:sp>
      <p:sp>
        <p:nvSpPr>
          <p:cNvPr id="35" name="Text 33"/>
          <p:cNvSpPr/>
          <p:nvPr/>
        </p:nvSpPr>
        <p:spPr>
          <a:xfrm>
            <a:off x="4206240" y="3593592"/>
            <a:ext cx="4754880" cy="411480"/>
          </a:xfrm>
          <a:prstGeom prst="rect">
            <a:avLst/>
          </a:prstGeom>
          <a:noFill/>
          <a:ln/>
        </p:spPr>
        <p:txBody>
          <a:bodyPr wrap="square" rtlCol="0" anchor="ctr"/>
          <a:lstStyle/>
          <a:p>
            <a:pPr marL="0" indent="0">
              <a:buNone/>
            </a:pPr>
            <a:r>
              <a:rPr lang="en-US" sz="1100" i="1" dirty="0">
                <a:solidFill>
                  <a:srgbClr val="404040"/>
                </a:solidFill>
                <a:latin typeface="Calibri" pitchFamily="34" charset="0"/>
                <a:ea typeface="Calibri" pitchFamily="34" charset="-122"/>
                <a:cs typeface="Calibri" pitchFamily="34" charset="-120"/>
              </a:rPr>
              <a:t>Five Power BI report pages</a:t>
            </a:r>
            <a:endParaRPr lang="en-US" sz="1100" dirty="0"/>
          </a:p>
        </p:txBody>
      </p:sp>
      <p:sp>
        <p:nvSpPr>
          <p:cNvPr id="36" name="Shape 34"/>
          <p:cNvSpPr/>
          <p:nvPr/>
        </p:nvSpPr>
        <p:spPr>
          <a:xfrm>
            <a:off x="228600" y="4069080"/>
            <a:ext cx="347472" cy="329184"/>
          </a:xfrm>
          <a:prstGeom prst="rect">
            <a:avLst/>
          </a:prstGeom>
          <a:solidFill>
            <a:srgbClr val="1F3864"/>
          </a:solidFill>
          <a:ln w="12700">
            <a:solidFill>
              <a:srgbClr val="1F3864"/>
            </a:solidFill>
            <a:prstDash val="solid"/>
          </a:ln>
        </p:spPr>
      </p:sp>
      <p:sp>
        <p:nvSpPr>
          <p:cNvPr id="37" name="Text 35"/>
          <p:cNvSpPr/>
          <p:nvPr/>
        </p:nvSpPr>
        <p:spPr>
          <a:xfrm>
            <a:off x="228600" y="4069080"/>
            <a:ext cx="347472" cy="329184"/>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08</a:t>
            </a:r>
            <a:endParaRPr lang="en-US" sz="1100" dirty="0"/>
          </a:p>
        </p:txBody>
      </p:sp>
      <p:sp>
        <p:nvSpPr>
          <p:cNvPr id="38" name="Text 36"/>
          <p:cNvSpPr/>
          <p:nvPr/>
        </p:nvSpPr>
        <p:spPr>
          <a:xfrm>
            <a:off x="658368" y="4032504"/>
            <a:ext cx="3474720" cy="411480"/>
          </a:xfrm>
          <a:prstGeom prst="rect">
            <a:avLst/>
          </a:prstGeom>
          <a:noFill/>
          <a:ln/>
        </p:spPr>
        <p:txBody>
          <a:bodyPr wrap="square" rtlCol="0" anchor="ctr"/>
          <a:lstStyle/>
          <a:p>
            <a:pPr marL="0" indent="0">
              <a:buNone/>
            </a:pPr>
            <a:r>
              <a:rPr lang="en-US" sz="1200" b="1" dirty="0">
                <a:solidFill>
                  <a:srgbClr val="1F3864"/>
                </a:solidFill>
                <a:latin typeface="Calibri" pitchFamily="34" charset="0"/>
                <a:ea typeface="Calibri" pitchFamily="34" charset="-122"/>
                <a:cs typeface="Calibri" pitchFamily="34" charset="-120"/>
              </a:rPr>
              <a:t>Key Findings</a:t>
            </a:r>
            <a:endParaRPr lang="en-US" sz="1200" dirty="0"/>
          </a:p>
        </p:txBody>
      </p:sp>
      <p:sp>
        <p:nvSpPr>
          <p:cNvPr id="39" name="Text 37"/>
          <p:cNvSpPr/>
          <p:nvPr/>
        </p:nvSpPr>
        <p:spPr>
          <a:xfrm>
            <a:off x="4206240" y="4032504"/>
            <a:ext cx="4754880" cy="411480"/>
          </a:xfrm>
          <a:prstGeom prst="rect">
            <a:avLst/>
          </a:prstGeom>
          <a:noFill/>
          <a:ln/>
        </p:spPr>
        <p:txBody>
          <a:bodyPr wrap="square" rtlCol="0" anchor="ctr"/>
          <a:lstStyle/>
          <a:p>
            <a:pPr marL="0" indent="0">
              <a:buNone/>
            </a:pPr>
            <a:r>
              <a:rPr lang="en-US" sz="1100" i="1" dirty="0">
                <a:solidFill>
                  <a:srgbClr val="404040"/>
                </a:solidFill>
                <a:latin typeface="Calibri" pitchFamily="34" charset="0"/>
                <a:ea typeface="Calibri" pitchFamily="34" charset="-122"/>
                <a:cs typeface="Calibri" pitchFamily="34" charset="-120"/>
              </a:rPr>
              <a:t>What the data revealed about Uganda's fuel market</a:t>
            </a:r>
            <a:endParaRPr lang="en-US" sz="1100" dirty="0"/>
          </a:p>
        </p:txBody>
      </p:sp>
      <p:sp>
        <p:nvSpPr>
          <p:cNvPr id="40" name="Shape 38"/>
          <p:cNvSpPr/>
          <p:nvPr/>
        </p:nvSpPr>
        <p:spPr>
          <a:xfrm>
            <a:off x="228600" y="4507992"/>
            <a:ext cx="347472" cy="329184"/>
          </a:xfrm>
          <a:prstGeom prst="rect">
            <a:avLst/>
          </a:prstGeom>
          <a:solidFill>
            <a:srgbClr val="1F3864"/>
          </a:solidFill>
          <a:ln w="12700">
            <a:solidFill>
              <a:srgbClr val="1F3864"/>
            </a:solidFill>
            <a:prstDash val="solid"/>
          </a:ln>
        </p:spPr>
      </p:sp>
      <p:sp>
        <p:nvSpPr>
          <p:cNvPr id="41" name="Text 39"/>
          <p:cNvSpPr/>
          <p:nvPr/>
        </p:nvSpPr>
        <p:spPr>
          <a:xfrm>
            <a:off x="228600" y="4507992"/>
            <a:ext cx="347472" cy="329184"/>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09</a:t>
            </a:r>
            <a:endParaRPr lang="en-US" sz="1100" dirty="0"/>
          </a:p>
        </p:txBody>
      </p:sp>
      <p:sp>
        <p:nvSpPr>
          <p:cNvPr id="42" name="Text 40"/>
          <p:cNvSpPr/>
          <p:nvPr/>
        </p:nvSpPr>
        <p:spPr>
          <a:xfrm>
            <a:off x="658368" y="4471416"/>
            <a:ext cx="3474720" cy="411480"/>
          </a:xfrm>
          <a:prstGeom prst="rect">
            <a:avLst/>
          </a:prstGeom>
          <a:noFill/>
          <a:ln/>
        </p:spPr>
        <p:txBody>
          <a:bodyPr wrap="square" rtlCol="0" anchor="ctr"/>
          <a:lstStyle/>
          <a:p>
            <a:pPr marL="0" indent="0">
              <a:buNone/>
            </a:pPr>
            <a:r>
              <a:rPr lang="en-US" sz="1200" b="1" dirty="0">
                <a:solidFill>
                  <a:srgbClr val="1F3864"/>
                </a:solidFill>
                <a:latin typeface="Calibri" pitchFamily="34" charset="0"/>
                <a:ea typeface="Calibri" pitchFamily="34" charset="-122"/>
                <a:cs typeface="Calibri" pitchFamily="34" charset="-120"/>
              </a:rPr>
              <a:t>Recommendations</a:t>
            </a:r>
            <a:endParaRPr lang="en-US" sz="1200" dirty="0"/>
          </a:p>
        </p:txBody>
      </p:sp>
      <p:sp>
        <p:nvSpPr>
          <p:cNvPr id="43" name="Text 41"/>
          <p:cNvSpPr/>
          <p:nvPr/>
        </p:nvSpPr>
        <p:spPr>
          <a:xfrm>
            <a:off x="4206240" y="4471416"/>
            <a:ext cx="4754880" cy="411480"/>
          </a:xfrm>
          <a:prstGeom prst="rect">
            <a:avLst/>
          </a:prstGeom>
          <a:noFill/>
          <a:ln/>
        </p:spPr>
        <p:txBody>
          <a:bodyPr wrap="square" rtlCol="0" anchor="ctr"/>
          <a:lstStyle/>
          <a:p>
            <a:pPr marL="0" indent="0">
              <a:buNone/>
            </a:pPr>
            <a:r>
              <a:rPr lang="en-US" sz="1100" i="1" dirty="0">
                <a:solidFill>
                  <a:srgbClr val="404040"/>
                </a:solidFill>
                <a:latin typeface="Calibri" pitchFamily="34" charset="0"/>
                <a:ea typeface="Calibri" pitchFamily="34" charset="-122"/>
                <a:cs typeface="Calibri" pitchFamily="34" charset="-120"/>
              </a:rPr>
              <a:t>Evidence-based actions for stakeholders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F3864"/>
          </a:solidFill>
          <a:ln w="12700">
            <a:solidFill>
              <a:srgbClr val="1F3864"/>
            </a:solidFill>
            <a:prstDash val="solid"/>
          </a:ln>
        </p:spPr>
      </p:sp>
      <p:sp>
        <p:nvSpPr>
          <p:cNvPr id="3" name="Shape 1"/>
          <p:cNvSpPr/>
          <p:nvPr/>
        </p:nvSpPr>
        <p:spPr>
          <a:xfrm>
            <a:off x="0" y="777240"/>
            <a:ext cx="9144000" cy="54864"/>
          </a:xfrm>
          <a:prstGeom prst="rect">
            <a:avLst/>
          </a:prstGeom>
          <a:solidFill>
            <a:srgbClr val="C9A84C"/>
          </a:solidFill>
          <a:ln w="12700">
            <a:solidFill>
              <a:srgbClr val="C9A84C"/>
            </a:solidFill>
            <a:prstDash val="solid"/>
          </a:ln>
        </p:spPr>
      </p:sp>
      <p:sp>
        <p:nvSpPr>
          <p:cNvPr id="4" name="Text 2"/>
          <p:cNvSpPr/>
          <p:nvPr/>
        </p:nvSpPr>
        <p:spPr>
          <a:xfrm>
            <a:off x="274320" y="36576"/>
            <a:ext cx="8595360" cy="713232"/>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Business Problem &amp; Background</a:t>
            </a:r>
            <a:endParaRPr lang="en-US" sz="2000" dirty="0"/>
          </a:p>
        </p:txBody>
      </p:sp>
      <p:sp>
        <p:nvSpPr>
          <p:cNvPr id="5" name="Text 3"/>
          <p:cNvSpPr/>
          <p:nvPr/>
        </p:nvSpPr>
        <p:spPr>
          <a:xfrm>
            <a:off x="274320" y="804672"/>
            <a:ext cx="8595360" cy="274320"/>
          </a:xfrm>
          <a:prstGeom prst="rect">
            <a:avLst/>
          </a:prstGeom>
          <a:noFill/>
          <a:ln/>
        </p:spPr>
        <p:txBody>
          <a:bodyPr wrap="square" rtlCol="0" anchor="ctr"/>
          <a:lstStyle/>
          <a:p>
            <a:pPr marL="0" indent="0">
              <a:buNone/>
            </a:pPr>
            <a:r>
              <a:rPr lang="en-US" sz="1100" i="1" dirty="0">
                <a:solidFill>
                  <a:srgbClr val="888888"/>
                </a:solidFill>
                <a:latin typeface="Calibri" pitchFamily="34" charset="0"/>
                <a:ea typeface="Calibri" pitchFamily="34" charset="-122"/>
                <a:cs typeface="Calibri" pitchFamily="34" charset="-120"/>
              </a:rPr>
              <a:t>Why Uganda needs a fuel price data warehouse</a:t>
            </a:r>
            <a:endParaRPr lang="en-US" sz="1100" dirty="0"/>
          </a:p>
        </p:txBody>
      </p:sp>
      <p:sp>
        <p:nvSpPr>
          <p:cNvPr id="6" name="Shape 4"/>
          <p:cNvSpPr/>
          <p:nvPr/>
        </p:nvSpPr>
        <p:spPr>
          <a:xfrm>
            <a:off x="0" y="4892040"/>
            <a:ext cx="9144000" cy="256032"/>
          </a:xfrm>
          <a:prstGeom prst="rect">
            <a:avLst/>
          </a:prstGeom>
          <a:solidFill>
            <a:srgbClr val="F0F0F0"/>
          </a:solidFill>
          <a:ln w="12700">
            <a:solidFill>
              <a:srgbClr val="DDDDDD"/>
            </a:solidFill>
            <a:prstDash val="solid"/>
          </a:ln>
        </p:spPr>
      </p:sp>
      <p:sp>
        <p:nvSpPr>
          <p:cNvPr id="7" name="Text 5"/>
          <p:cNvSpPr/>
          <p:nvPr/>
        </p:nvSpPr>
        <p:spPr>
          <a:xfrm>
            <a:off x="182880" y="4910328"/>
            <a:ext cx="7315200" cy="201168"/>
          </a:xfrm>
          <a:prstGeom prst="rect">
            <a:avLst/>
          </a:prstGeom>
          <a:noFill/>
          <a:ln/>
        </p:spPr>
        <p:txBody>
          <a:bodyPr wrap="square" rtlCol="0" anchor="ctr"/>
          <a:lstStyle/>
          <a:p>
            <a:pPr marL="0" indent="0">
              <a:buNone/>
            </a:pPr>
            <a:r>
              <a:rPr lang="en-US" sz="800" dirty="0">
                <a:solidFill>
                  <a:srgbClr val="888888"/>
                </a:solidFill>
                <a:latin typeface="Calibri" pitchFamily="34" charset="0"/>
                <a:ea typeface="Calibri" pitchFamily="34" charset="-122"/>
                <a:cs typeface="Calibri" pitchFamily="34" charset="-120"/>
              </a:rPr>
              <a:t>Uganda Fuel Price &amp; Consumption Data Warehouse  |  Group 4  |  College of Computing and Informatics Technology</a:t>
            </a:r>
            <a:endParaRPr lang="en-US" sz="800" dirty="0"/>
          </a:p>
        </p:txBody>
      </p:sp>
      <p:sp>
        <p:nvSpPr>
          <p:cNvPr id="8" name="Text 6"/>
          <p:cNvSpPr/>
          <p:nvPr/>
        </p:nvSpPr>
        <p:spPr>
          <a:xfrm>
            <a:off x="8229600" y="4910328"/>
            <a:ext cx="731520" cy="201168"/>
          </a:xfrm>
          <a:prstGeom prst="rect">
            <a:avLst/>
          </a:prstGeom>
          <a:noFill/>
          <a:ln/>
        </p:spPr>
        <p:txBody>
          <a:bodyPr wrap="square" rtlCol="0" anchor="ctr"/>
          <a:lstStyle/>
          <a:p>
            <a:pPr marL="0" indent="0" algn="r">
              <a:buNone/>
            </a:pPr>
            <a:r>
              <a:rPr lang="en-US" sz="800" dirty="0">
                <a:solidFill>
                  <a:srgbClr val="888888"/>
                </a:solidFill>
                <a:latin typeface="Calibri" pitchFamily="34" charset="0"/>
                <a:ea typeface="Calibri" pitchFamily="34" charset="-122"/>
                <a:cs typeface="Calibri" pitchFamily="34" charset="-120"/>
              </a:rPr>
              <a:t>3 / 18</a:t>
            </a:r>
            <a:endParaRPr lang="en-US" sz="800" dirty="0"/>
          </a:p>
        </p:txBody>
      </p:sp>
      <p:sp>
        <p:nvSpPr>
          <p:cNvPr id="9" name="Shape 7"/>
          <p:cNvSpPr/>
          <p:nvPr/>
        </p:nvSpPr>
        <p:spPr>
          <a:xfrm>
            <a:off x="228600" y="1065276"/>
            <a:ext cx="4160520" cy="3643884"/>
          </a:xfrm>
          <a:prstGeom prst="rect">
            <a:avLst/>
          </a:prstGeom>
          <a:solidFill>
            <a:srgbClr val="F0F5FF"/>
          </a:solidFill>
          <a:ln w="6350">
            <a:solidFill>
              <a:srgbClr val="C0D0EE"/>
            </a:solidFill>
            <a:prstDash val="solid"/>
          </a:ln>
        </p:spPr>
      </p:sp>
      <p:sp>
        <p:nvSpPr>
          <p:cNvPr id="10" name="Text 8"/>
          <p:cNvSpPr/>
          <p:nvPr/>
        </p:nvSpPr>
        <p:spPr>
          <a:xfrm>
            <a:off x="320040" y="1024128"/>
            <a:ext cx="3977640" cy="347472"/>
          </a:xfrm>
          <a:prstGeom prst="rect">
            <a:avLst/>
          </a:prstGeom>
          <a:noFill/>
          <a:ln/>
        </p:spPr>
        <p:txBody>
          <a:bodyPr wrap="square" rtlCol="0" anchor="ctr"/>
          <a:lstStyle/>
          <a:p>
            <a:pPr marL="0" indent="0">
              <a:buNone/>
            </a:pPr>
            <a:r>
              <a:rPr lang="en-US" sz="1300" b="1" dirty="0">
                <a:solidFill>
                  <a:srgbClr val="1F3864"/>
                </a:solidFill>
                <a:latin typeface="Calibri" pitchFamily="34" charset="0"/>
                <a:ea typeface="Calibri" pitchFamily="34" charset="-122"/>
                <a:cs typeface="Calibri" pitchFamily="34" charset="-120"/>
              </a:rPr>
              <a:t>Uganda's Fuel Context</a:t>
            </a:r>
            <a:endParaRPr lang="en-US" sz="1300" dirty="0"/>
          </a:p>
        </p:txBody>
      </p:sp>
      <p:sp>
        <p:nvSpPr>
          <p:cNvPr id="11" name="Shape 9"/>
          <p:cNvSpPr/>
          <p:nvPr/>
        </p:nvSpPr>
        <p:spPr>
          <a:xfrm>
            <a:off x="347472" y="1499616"/>
            <a:ext cx="118872" cy="118872"/>
          </a:xfrm>
          <a:prstGeom prst="ellipse">
            <a:avLst/>
          </a:prstGeom>
          <a:solidFill>
            <a:srgbClr val="C9A84C"/>
          </a:solidFill>
          <a:ln w="12700">
            <a:solidFill>
              <a:srgbClr val="C9A84C"/>
            </a:solidFill>
            <a:prstDash val="solid"/>
          </a:ln>
        </p:spPr>
      </p:sp>
      <p:sp>
        <p:nvSpPr>
          <p:cNvPr id="12" name="Text 10"/>
          <p:cNvSpPr/>
          <p:nvPr/>
        </p:nvSpPr>
        <p:spPr>
          <a:xfrm>
            <a:off x="521208" y="1444752"/>
            <a:ext cx="3749040" cy="475488"/>
          </a:xfrm>
          <a:prstGeom prst="rect">
            <a:avLst/>
          </a:prstGeom>
          <a:noFill/>
          <a:ln/>
        </p:spPr>
        <p:txBody>
          <a:bodyPr wrap="square" rtlCol="0" anchor="ctr"/>
          <a:lstStyle/>
          <a:p>
            <a:pPr marL="0" indent="0">
              <a:buNone/>
            </a:pPr>
            <a:r>
              <a:rPr lang="en-US" sz="1100" dirty="0">
                <a:solidFill>
                  <a:srgbClr val="404040"/>
                </a:solidFill>
                <a:latin typeface="Calibri" pitchFamily="34" charset="0"/>
                <a:ea typeface="Calibri" pitchFamily="34" charset="-122"/>
                <a:cs typeface="Calibri" pitchFamily="34" charset="-120"/>
              </a:rPr>
              <a:t>Landlocked — all fuel imported via Mombasa-Kampala corridor</a:t>
            </a:r>
            <a:endParaRPr lang="en-US" sz="1100" dirty="0"/>
          </a:p>
        </p:txBody>
      </p:sp>
      <p:sp>
        <p:nvSpPr>
          <p:cNvPr id="13" name="Shape 11"/>
          <p:cNvSpPr/>
          <p:nvPr/>
        </p:nvSpPr>
        <p:spPr>
          <a:xfrm>
            <a:off x="347472" y="2039112"/>
            <a:ext cx="118872" cy="118872"/>
          </a:xfrm>
          <a:prstGeom prst="ellipse">
            <a:avLst/>
          </a:prstGeom>
          <a:solidFill>
            <a:srgbClr val="C9A84C"/>
          </a:solidFill>
          <a:ln w="12700">
            <a:solidFill>
              <a:srgbClr val="C9A84C"/>
            </a:solidFill>
            <a:prstDash val="solid"/>
          </a:ln>
        </p:spPr>
      </p:sp>
      <p:sp>
        <p:nvSpPr>
          <p:cNvPr id="14" name="Text 12"/>
          <p:cNvSpPr/>
          <p:nvPr/>
        </p:nvSpPr>
        <p:spPr>
          <a:xfrm>
            <a:off x="521208" y="1984248"/>
            <a:ext cx="3749040" cy="475488"/>
          </a:xfrm>
          <a:prstGeom prst="rect">
            <a:avLst/>
          </a:prstGeom>
          <a:noFill/>
          <a:ln/>
        </p:spPr>
        <p:txBody>
          <a:bodyPr wrap="square" rtlCol="0" anchor="ctr"/>
          <a:lstStyle/>
          <a:p>
            <a:pPr marL="0" indent="0">
              <a:buNone/>
            </a:pPr>
            <a:r>
              <a:rPr lang="en-US" sz="1100" dirty="0">
                <a:solidFill>
                  <a:srgbClr val="404040"/>
                </a:solidFill>
                <a:latin typeface="Calibri" pitchFamily="34" charset="0"/>
                <a:ea typeface="Calibri" pitchFamily="34" charset="-122"/>
                <a:cs typeface="Calibri" pitchFamily="34" charset="-120"/>
              </a:rPr>
              <a:t>6.5 million litres consumed nationally every single day</a:t>
            </a:r>
            <a:endParaRPr lang="en-US" sz="1100" dirty="0"/>
          </a:p>
        </p:txBody>
      </p:sp>
      <p:sp>
        <p:nvSpPr>
          <p:cNvPr id="15" name="Shape 13"/>
          <p:cNvSpPr/>
          <p:nvPr/>
        </p:nvSpPr>
        <p:spPr>
          <a:xfrm>
            <a:off x="347472" y="2578608"/>
            <a:ext cx="118872" cy="118872"/>
          </a:xfrm>
          <a:prstGeom prst="ellipse">
            <a:avLst/>
          </a:prstGeom>
          <a:solidFill>
            <a:srgbClr val="C9A84C"/>
          </a:solidFill>
          <a:ln w="12700">
            <a:solidFill>
              <a:srgbClr val="C9A84C"/>
            </a:solidFill>
            <a:prstDash val="solid"/>
          </a:ln>
        </p:spPr>
      </p:sp>
      <p:sp>
        <p:nvSpPr>
          <p:cNvPr id="16" name="Text 14"/>
          <p:cNvSpPr/>
          <p:nvPr/>
        </p:nvSpPr>
        <p:spPr>
          <a:xfrm>
            <a:off x="521208" y="2523744"/>
            <a:ext cx="3749040" cy="475488"/>
          </a:xfrm>
          <a:prstGeom prst="rect">
            <a:avLst/>
          </a:prstGeom>
          <a:noFill/>
          <a:ln/>
        </p:spPr>
        <p:txBody>
          <a:bodyPr wrap="square" rtlCol="0" anchor="ctr"/>
          <a:lstStyle/>
          <a:p>
            <a:pPr marL="0" indent="0">
              <a:buNone/>
            </a:pPr>
            <a:r>
              <a:rPr lang="en-US" sz="1100" dirty="0">
                <a:solidFill>
                  <a:srgbClr val="404040"/>
                </a:solidFill>
                <a:latin typeface="Calibri" pitchFamily="34" charset="0"/>
                <a:ea typeface="Calibri" pitchFamily="34" charset="-122"/>
                <a:cs typeface="Calibri" pitchFamily="34" charset="-120"/>
              </a:rPr>
              <a:t>Prices fluctuate monthly — no unified tracking system exists</a:t>
            </a:r>
            <a:endParaRPr lang="en-US" sz="1100" dirty="0"/>
          </a:p>
        </p:txBody>
      </p:sp>
      <p:sp>
        <p:nvSpPr>
          <p:cNvPr id="17" name="Shape 15"/>
          <p:cNvSpPr/>
          <p:nvPr/>
        </p:nvSpPr>
        <p:spPr>
          <a:xfrm>
            <a:off x="347472" y="3118104"/>
            <a:ext cx="118872" cy="118872"/>
          </a:xfrm>
          <a:prstGeom prst="ellipse">
            <a:avLst/>
          </a:prstGeom>
          <a:solidFill>
            <a:srgbClr val="C9A84C"/>
          </a:solidFill>
          <a:ln w="12700">
            <a:solidFill>
              <a:srgbClr val="C9A84C"/>
            </a:solidFill>
            <a:prstDash val="solid"/>
          </a:ln>
        </p:spPr>
      </p:sp>
      <p:sp>
        <p:nvSpPr>
          <p:cNvPr id="18" name="Text 16"/>
          <p:cNvSpPr/>
          <p:nvPr/>
        </p:nvSpPr>
        <p:spPr>
          <a:xfrm>
            <a:off x="521208" y="3063240"/>
            <a:ext cx="3749040" cy="475488"/>
          </a:xfrm>
          <a:prstGeom prst="rect">
            <a:avLst/>
          </a:prstGeom>
          <a:noFill/>
          <a:ln/>
        </p:spPr>
        <p:txBody>
          <a:bodyPr wrap="square" rtlCol="0" anchor="ctr"/>
          <a:lstStyle/>
          <a:p>
            <a:pPr marL="0" indent="0">
              <a:buNone/>
            </a:pPr>
            <a:r>
              <a:rPr lang="en-US" sz="1100" dirty="0">
                <a:solidFill>
                  <a:srgbClr val="404040"/>
                </a:solidFill>
                <a:latin typeface="Calibri" pitchFamily="34" charset="0"/>
                <a:ea typeface="Calibri" pitchFamily="34" charset="-122"/>
                <a:cs typeface="Calibri" pitchFamily="34" charset="-120"/>
              </a:rPr>
              <a:t>Upcountry stations pay 4–10% more than Kampala</a:t>
            </a:r>
            <a:endParaRPr lang="en-US" sz="1100" dirty="0"/>
          </a:p>
        </p:txBody>
      </p:sp>
      <p:sp>
        <p:nvSpPr>
          <p:cNvPr id="19" name="Shape 17"/>
          <p:cNvSpPr/>
          <p:nvPr/>
        </p:nvSpPr>
        <p:spPr>
          <a:xfrm>
            <a:off x="347472" y="3657600"/>
            <a:ext cx="118872" cy="118872"/>
          </a:xfrm>
          <a:prstGeom prst="ellipse">
            <a:avLst/>
          </a:prstGeom>
          <a:solidFill>
            <a:srgbClr val="C9A84C"/>
          </a:solidFill>
          <a:ln w="12700">
            <a:solidFill>
              <a:srgbClr val="C9A84C"/>
            </a:solidFill>
            <a:prstDash val="solid"/>
          </a:ln>
        </p:spPr>
      </p:sp>
      <p:sp>
        <p:nvSpPr>
          <p:cNvPr id="20" name="Text 18"/>
          <p:cNvSpPr/>
          <p:nvPr/>
        </p:nvSpPr>
        <p:spPr>
          <a:xfrm>
            <a:off x="521208" y="3602736"/>
            <a:ext cx="3749040" cy="475488"/>
          </a:xfrm>
          <a:prstGeom prst="rect">
            <a:avLst/>
          </a:prstGeom>
          <a:noFill/>
          <a:ln/>
        </p:spPr>
        <p:txBody>
          <a:bodyPr wrap="square" rtlCol="0" anchor="ctr"/>
          <a:lstStyle/>
          <a:p>
            <a:pPr marL="0" indent="0">
              <a:buNone/>
            </a:pPr>
            <a:r>
              <a:rPr lang="en-US" sz="1100" dirty="0">
                <a:solidFill>
                  <a:srgbClr val="404040"/>
                </a:solidFill>
                <a:latin typeface="Calibri" pitchFamily="34" charset="0"/>
                <a:ea typeface="Calibri" pitchFamily="34" charset="-122"/>
                <a:cs typeface="Calibri" pitchFamily="34" charset="-120"/>
              </a:rPr>
              <a:t>July 2024: UNOC assumed sole importation — impact unmeasured</a:t>
            </a:r>
            <a:endParaRPr lang="en-US" sz="1100" dirty="0"/>
          </a:p>
        </p:txBody>
      </p:sp>
      <p:sp>
        <p:nvSpPr>
          <p:cNvPr id="21" name="Shape 19"/>
          <p:cNvSpPr/>
          <p:nvPr/>
        </p:nvSpPr>
        <p:spPr>
          <a:xfrm>
            <a:off x="4663440" y="960120"/>
            <a:ext cx="4251960" cy="3749040"/>
          </a:xfrm>
          <a:prstGeom prst="rect">
            <a:avLst/>
          </a:prstGeom>
          <a:solidFill>
            <a:srgbClr val="FFF8ED"/>
          </a:solidFill>
          <a:ln w="6350">
            <a:solidFill>
              <a:srgbClr val="E8C87A"/>
            </a:solidFill>
            <a:prstDash val="solid"/>
          </a:ln>
        </p:spPr>
      </p:sp>
      <p:sp>
        <p:nvSpPr>
          <p:cNvPr id="22" name="Text 20"/>
          <p:cNvSpPr/>
          <p:nvPr/>
        </p:nvSpPr>
        <p:spPr>
          <a:xfrm>
            <a:off x="4754880" y="1024128"/>
            <a:ext cx="4069080" cy="347472"/>
          </a:xfrm>
          <a:prstGeom prst="rect">
            <a:avLst/>
          </a:prstGeom>
          <a:noFill/>
          <a:ln/>
        </p:spPr>
        <p:txBody>
          <a:bodyPr wrap="square" rtlCol="0" anchor="ctr"/>
          <a:lstStyle/>
          <a:p>
            <a:pPr marL="0" indent="0">
              <a:buNone/>
            </a:pPr>
            <a:r>
              <a:rPr lang="en-US" sz="1300" b="1" dirty="0">
                <a:solidFill>
                  <a:srgbClr val="843C0C"/>
                </a:solidFill>
                <a:latin typeface="Calibri" pitchFamily="34" charset="0"/>
                <a:ea typeface="Calibri" pitchFamily="34" charset="-122"/>
                <a:cs typeface="Calibri" pitchFamily="34" charset="-120"/>
              </a:rPr>
              <a:t>The Problem — Data is Fragmented</a:t>
            </a:r>
            <a:endParaRPr lang="en-US" sz="1300" dirty="0"/>
          </a:p>
        </p:txBody>
      </p:sp>
      <p:sp>
        <p:nvSpPr>
          <p:cNvPr id="23" name="Shape 21"/>
          <p:cNvSpPr/>
          <p:nvPr/>
        </p:nvSpPr>
        <p:spPr>
          <a:xfrm>
            <a:off x="4709160" y="1463040"/>
            <a:ext cx="4114800" cy="420624"/>
          </a:xfrm>
          <a:prstGeom prst="rect">
            <a:avLst/>
          </a:prstGeom>
          <a:solidFill>
            <a:srgbClr val="FEEED0"/>
          </a:solidFill>
          <a:ln w="3810">
            <a:solidFill>
              <a:srgbClr val="E8C87A"/>
            </a:solidFill>
            <a:prstDash val="solid"/>
          </a:ln>
        </p:spPr>
      </p:sp>
      <p:sp>
        <p:nvSpPr>
          <p:cNvPr id="24" name="Text 22"/>
          <p:cNvSpPr/>
          <p:nvPr/>
        </p:nvSpPr>
        <p:spPr>
          <a:xfrm>
            <a:off x="4800600" y="1463040"/>
            <a:ext cx="3931920" cy="420624"/>
          </a:xfrm>
          <a:prstGeom prst="rect">
            <a:avLst/>
          </a:prstGeom>
          <a:noFill/>
          <a:ln/>
        </p:spPr>
        <p:txBody>
          <a:bodyPr wrap="square" rtlCol="0" anchor="ctr"/>
          <a:lstStyle/>
          <a:p>
            <a:pPr marL="0" indent="0">
              <a:buNone/>
            </a:pPr>
            <a:r>
              <a:rPr lang="en-US" sz="1100" dirty="0">
                <a:solidFill>
                  <a:srgbClr val="843C0C"/>
                </a:solidFill>
                <a:latin typeface="Calibri" pitchFamily="34" charset="0"/>
                <a:ea typeface="Calibri" pitchFamily="34" charset="-122"/>
                <a:cs typeface="Calibri" pitchFamily="34" charset="-120"/>
              </a:rPr>
              <a:t>UBOS publishes national averages — no station breakdown</a:t>
            </a:r>
            <a:endParaRPr lang="en-US" sz="1100" dirty="0"/>
          </a:p>
        </p:txBody>
      </p:sp>
      <p:sp>
        <p:nvSpPr>
          <p:cNvPr id="25" name="Shape 23"/>
          <p:cNvSpPr/>
          <p:nvPr/>
        </p:nvSpPr>
        <p:spPr>
          <a:xfrm>
            <a:off x="4709160" y="2002536"/>
            <a:ext cx="4114800" cy="420624"/>
          </a:xfrm>
          <a:prstGeom prst="rect">
            <a:avLst/>
          </a:prstGeom>
          <a:solidFill>
            <a:srgbClr val="FEEED0"/>
          </a:solidFill>
          <a:ln w="3810">
            <a:solidFill>
              <a:srgbClr val="E8C87A"/>
            </a:solidFill>
            <a:prstDash val="solid"/>
          </a:ln>
        </p:spPr>
      </p:sp>
      <p:sp>
        <p:nvSpPr>
          <p:cNvPr id="26" name="Text 24"/>
          <p:cNvSpPr/>
          <p:nvPr/>
        </p:nvSpPr>
        <p:spPr>
          <a:xfrm>
            <a:off x="4800600" y="2002536"/>
            <a:ext cx="3931920" cy="420624"/>
          </a:xfrm>
          <a:prstGeom prst="rect">
            <a:avLst/>
          </a:prstGeom>
          <a:noFill/>
          <a:ln/>
        </p:spPr>
        <p:txBody>
          <a:bodyPr wrap="square" rtlCol="0" anchor="ctr"/>
          <a:lstStyle/>
          <a:p>
            <a:pPr marL="0" indent="0">
              <a:buNone/>
            </a:pPr>
            <a:r>
              <a:rPr lang="en-US" sz="1100" dirty="0">
                <a:solidFill>
                  <a:srgbClr val="843C0C"/>
                </a:solidFill>
                <a:latin typeface="Calibri" pitchFamily="34" charset="0"/>
                <a:ea typeface="Calibri" pitchFamily="34" charset="-122"/>
                <a:cs typeface="Calibri" pitchFamily="34" charset="-120"/>
              </a:rPr>
              <a:t>PAU regulates prices — but does not publish pump data</a:t>
            </a:r>
            <a:endParaRPr lang="en-US" sz="1100" dirty="0"/>
          </a:p>
        </p:txBody>
      </p:sp>
      <p:sp>
        <p:nvSpPr>
          <p:cNvPr id="27" name="Shape 25"/>
          <p:cNvSpPr/>
          <p:nvPr/>
        </p:nvSpPr>
        <p:spPr>
          <a:xfrm>
            <a:off x="4709160" y="2542032"/>
            <a:ext cx="4114800" cy="420624"/>
          </a:xfrm>
          <a:prstGeom prst="rect">
            <a:avLst/>
          </a:prstGeom>
          <a:solidFill>
            <a:srgbClr val="FEEED0"/>
          </a:solidFill>
          <a:ln w="3810">
            <a:solidFill>
              <a:srgbClr val="E8C87A"/>
            </a:solidFill>
            <a:prstDash val="solid"/>
          </a:ln>
        </p:spPr>
      </p:sp>
      <p:sp>
        <p:nvSpPr>
          <p:cNvPr id="28" name="Text 26"/>
          <p:cNvSpPr/>
          <p:nvPr/>
        </p:nvSpPr>
        <p:spPr>
          <a:xfrm>
            <a:off x="4800600" y="2542032"/>
            <a:ext cx="3931920" cy="420624"/>
          </a:xfrm>
          <a:prstGeom prst="rect">
            <a:avLst/>
          </a:prstGeom>
          <a:noFill/>
          <a:ln/>
        </p:spPr>
        <p:txBody>
          <a:bodyPr wrap="square" rtlCol="0" anchor="ctr"/>
          <a:lstStyle/>
          <a:p>
            <a:pPr marL="0" indent="0">
              <a:buNone/>
            </a:pPr>
            <a:r>
              <a:rPr lang="en-US" sz="1100" dirty="0">
                <a:solidFill>
                  <a:srgbClr val="843C0C"/>
                </a:solidFill>
                <a:latin typeface="Calibri" pitchFamily="34" charset="0"/>
                <a:ea typeface="Calibri" pitchFamily="34" charset="-122"/>
                <a:cs typeface="Calibri" pitchFamily="34" charset="-120"/>
              </a:rPr>
              <a:t>UNOC releases reports — but only since Oct 2024</a:t>
            </a:r>
            <a:endParaRPr lang="en-US" sz="1100" dirty="0"/>
          </a:p>
        </p:txBody>
      </p:sp>
      <p:sp>
        <p:nvSpPr>
          <p:cNvPr id="29" name="Shape 27"/>
          <p:cNvSpPr/>
          <p:nvPr/>
        </p:nvSpPr>
        <p:spPr>
          <a:xfrm>
            <a:off x="4709160" y="3081528"/>
            <a:ext cx="4114800" cy="420624"/>
          </a:xfrm>
          <a:prstGeom prst="rect">
            <a:avLst/>
          </a:prstGeom>
          <a:solidFill>
            <a:srgbClr val="FEEED0"/>
          </a:solidFill>
          <a:ln w="3810">
            <a:solidFill>
              <a:srgbClr val="E8C87A"/>
            </a:solidFill>
            <a:prstDash val="solid"/>
          </a:ln>
        </p:spPr>
      </p:sp>
      <p:sp>
        <p:nvSpPr>
          <p:cNvPr id="30" name="Text 28"/>
          <p:cNvSpPr/>
          <p:nvPr/>
        </p:nvSpPr>
        <p:spPr>
          <a:xfrm>
            <a:off x="4800600" y="3081528"/>
            <a:ext cx="3931920" cy="420624"/>
          </a:xfrm>
          <a:prstGeom prst="rect">
            <a:avLst/>
          </a:prstGeom>
          <a:noFill/>
          <a:ln/>
        </p:spPr>
        <p:txBody>
          <a:bodyPr wrap="square" rtlCol="0" anchor="ctr"/>
          <a:lstStyle/>
          <a:p>
            <a:pPr marL="0" indent="0">
              <a:buNone/>
            </a:pPr>
            <a:r>
              <a:rPr lang="en-US" sz="1100" dirty="0">
                <a:solidFill>
                  <a:srgbClr val="843C0C"/>
                </a:solidFill>
                <a:latin typeface="Calibri" pitchFamily="34" charset="0"/>
                <a:ea typeface="Calibri" pitchFamily="34" charset="-122"/>
                <a:cs typeface="Calibri" pitchFamily="34" charset="-120"/>
              </a:rPr>
              <a:t>No way to compare regions, brands, or fuel types</a:t>
            </a:r>
            <a:endParaRPr lang="en-US" sz="1100" dirty="0"/>
          </a:p>
        </p:txBody>
      </p:sp>
      <p:sp>
        <p:nvSpPr>
          <p:cNvPr id="31" name="Shape 29"/>
          <p:cNvSpPr/>
          <p:nvPr/>
        </p:nvSpPr>
        <p:spPr>
          <a:xfrm>
            <a:off x="4709160" y="3621024"/>
            <a:ext cx="4114800" cy="420624"/>
          </a:xfrm>
          <a:prstGeom prst="rect">
            <a:avLst/>
          </a:prstGeom>
          <a:solidFill>
            <a:srgbClr val="FEEED0"/>
          </a:solidFill>
          <a:ln w="3810">
            <a:solidFill>
              <a:srgbClr val="E8C87A"/>
            </a:solidFill>
            <a:prstDash val="solid"/>
          </a:ln>
        </p:spPr>
      </p:sp>
      <p:sp>
        <p:nvSpPr>
          <p:cNvPr id="32" name="Text 30"/>
          <p:cNvSpPr/>
          <p:nvPr/>
        </p:nvSpPr>
        <p:spPr>
          <a:xfrm>
            <a:off x="4800600" y="3621024"/>
            <a:ext cx="3931920" cy="420624"/>
          </a:xfrm>
          <a:prstGeom prst="rect">
            <a:avLst/>
          </a:prstGeom>
          <a:noFill/>
          <a:ln/>
        </p:spPr>
        <p:txBody>
          <a:bodyPr wrap="square" rtlCol="0" anchor="ctr"/>
          <a:lstStyle/>
          <a:p>
            <a:pPr marL="0" indent="0">
              <a:buNone/>
            </a:pPr>
            <a:r>
              <a:rPr lang="en-US" sz="1100" dirty="0">
                <a:solidFill>
                  <a:srgbClr val="843C0C"/>
                </a:solidFill>
                <a:latin typeface="Calibri" pitchFamily="34" charset="0"/>
                <a:ea typeface="Calibri" pitchFamily="34" charset="-122"/>
                <a:cs typeface="Calibri" pitchFamily="34" charset="-120"/>
              </a:rPr>
              <a:t>No measurement of UNOC policy impact available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F3864"/>
          </a:solidFill>
          <a:ln w="12700">
            <a:solidFill>
              <a:srgbClr val="1F3864"/>
            </a:solidFill>
            <a:prstDash val="solid"/>
          </a:ln>
        </p:spPr>
      </p:sp>
      <p:sp>
        <p:nvSpPr>
          <p:cNvPr id="3" name="Shape 1"/>
          <p:cNvSpPr/>
          <p:nvPr/>
        </p:nvSpPr>
        <p:spPr>
          <a:xfrm>
            <a:off x="0" y="777240"/>
            <a:ext cx="9144000" cy="54864"/>
          </a:xfrm>
          <a:prstGeom prst="rect">
            <a:avLst/>
          </a:prstGeom>
          <a:solidFill>
            <a:srgbClr val="C9A84C"/>
          </a:solidFill>
          <a:ln w="12700">
            <a:solidFill>
              <a:srgbClr val="C9A84C"/>
            </a:solidFill>
            <a:prstDash val="solid"/>
          </a:ln>
        </p:spPr>
      </p:sp>
      <p:sp>
        <p:nvSpPr>
          <p:cNvPr id="4" name="Text 2"/>
          <p:cNvSpPr/>
          <p:nvPr/>
        </p:nvSpPr>
        <p:spPr>
          <a:xfrm>
            <a:off x="274320" y="36576"/>
            <a:ext cx="8595360" cy="713232"/>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Project Objectives &amp; Scope</a:t>
            </a:r>
            <a:endParaRPr lang="en-US" sz="2000" dirty="0"/>
          </a:p>
        </p:txBody>
      </p:sp>
      <p:sp>
        <p:nvSpPr>
          <p:cNvPr id="5" name="Shape 3"/>
          <p:cNvSpPr/>
          <p:nvPr/>
        </p:nvSpPr>
        <p:spPr>
          <a:xfrm>
            <a:off x="0" y="4892040"/>
            <a:ext cx="9144000" cy="256032"/>
          </a:xfrm>
          <a:prstGeom prst="rect">
            <a:avLst/>
          </a:prstGeom>
          <a:solidFill>
            <a:srgbClr val="F0F0F0"/>
          </a:solidFill>
          <a:ln w="12700">
            <a:solidFill>
              <a:srgbClr val="DDDDDD"/>
            </a:solidFill>
            <a:prstDash val="solid"/>
          </a:ln>
        </p:spPr>
      </p:sp>
      <p:sp>
        <p:nvSpPr>
          <p:cNvPr id="6" name="Text 4"/>
          <p:cNvSpPr/>
          <p:nvPr/>
        </p:nvSpPr>
        <p:spPr>
          <a:xfrm>
            <a:off x="182880" y="4910328"/>
            <a:ext cx="7315200" cy="201168"/>
          </a:xfrm>
          <a:prstGeom prst="rect">
            <a:avLst/>
          </a:prstGeom>
          <a:noFill/>
          <a:ln/>
        </p:spPr>
        <p:txBody>
          <a:bodyPr wrap="square" rtlCol="0" anchor="ctr"/>
          <a:lstStyle/>
          <a:p>
            <a:pPr marL="0" indent="0">
              <a:buNone/>
            </a:pPr>
            <a:r>
              <a:rPr lang="en-US" sz="800" dirty="0">
                <a:solidFill>
                  <a:srgbClr val="888888"/>
                </a:solidFill>
                <a:latin typeface="Calibri" pitchFamily="34" charset="0"/>
                <a:ea typeface="Calibri" pitchFamily="34" charset="-122"/>
                <a:cs typeface="Calibri" pitchFamily="34" charset="-120"/>
              </a:rPr>
              <a:t>Uganda Fuel Price &amp; Consumption Data Warehouse  |  Group 4  |  College of Computing and Informatics Technology</a:t>
            </a:r>
            <a:endParaRPr lang="en-US" sz="800" dirty="0"/>
          </a:p>
        </p:txBody>
      </p:sp>
      <p:sp>
        <p:nvSpPr>
          <p:cNvPr id="7" name="Text 5"/>
          <p:cNvSpPr/>
          <p:nvPr/>
        </p:nvSpPr>
        <p:spPr>
          <a:xfrm>
            <a:off x="8229600" y="4910328"/>
            <a:ext cx="731520" cy="201168"/>
          </a:xfrm>
          <a:prstGeom prst="rect">
            <a:avLst/>
          </a:prstGeom>
          <a:noFill/>
          <a:ln/>
        </p:spPr>
        <p:txBody>
          <a:bodyPr wrap="square" rtlCol="0" anchor="ctr"/>
          <a:lstStyle/>
          <a:p>
            <a:pPr marL="0" indent="0" algn="r">
              <a:buNone/>
            </a:pPr>
            <a:r>
              <a:rPr lang="en-US" sz="800" dirty="0">
                <a:solidFill>
                  <a:srgbClr val="888888"/>
                </a:solidFill>
                <a:latin typeface="Calibri" pitchFamily="34" charset="0"/>
                <a:ea typeface="Calibri" pitchFamily="34" charset="-122"/>
                <a:cs typeface="Calibri" pitchFamily="34" charset="-120"/>
              </a:rPr>
              <a:t>4 / 18</a:t>
            </a:r>
            <a:endParaRPr lang="en-US" sz="800" dirty="0"/>
          </a:p>
        </p:txBody>
      </p:sp>
      <p:sp>
        <p:nvSpPr>
          <p:cNvPr id="8" name="Shape 6"/>
          <p:cNvSpPr/>
          <p:nvPr/>
        </p:nvSpPr>
        <p:spPr>
          <a:xfrm>
            <a:off x="228600" y="1005840"/>
            <a:ext cx="4206240" cy="1115568"/>
          </a:xfrm>
          <a:prstGeom prst="rect">
            <a:avLst/>
          </a:prstGeom>
          <a:solidFill>
            <a:srgbClr val="F8FAFD"/>
          </a:solidFill>
          <a:ln w="19050">
            <a:solidFill>
              <a:srgbClr val="1F3864"/>
            </a:solidFill>
            <a:prstDash val="solid"/>
          </a:ln>
        </p:spPr>
      </p:sp>
      <p:sp>
        <p:nvSpPr>
          <p:cNvPr id="9" name="Shape 7"/>
          <p:cNvSpPr/>
          <p:nvPr/>
        </p:nvSpPr>
        <p:spPr>
          <a:xfrm>
            <a:off x="228600" y="1005840"/>
            <a:ext cx="914400" cy="1115568"/>
          </a:xfrm>
          <a:prstGeom prst="rect">
            <a:avLst/>
          </a:prstGeom>
          <a:solidFill>
            <a:srgbClr val="1F3864"/>
          </a:solidFill>
          <a:ln w="12700">
            <a:solidFill>
              <a:srgbClr val="1F3864"/>
            </a:solidFill>
            <a:prstDash val="solid"/>
          </a:ln>
        </p:spPr>
      </p:sp>
      <p:sp>
        <p:nvSpPr>
          <p:cNvPr id="10" name="Text 8"/>
          <p:cNvSpPr/>
          <p:nvPr/>
        </p:nvSpPr>
        <p:spPr>
          <a:xfrm>
            <a:off x="228600" y="1005840"/>
            <a:ext cx="914400" cy="111556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Design</a:t>
            </a:r>
            <a:endParaRPr lang="en-US" sz="1200" dirty="0"/>
          </a:p>
        </p:txBody>
      </p:sp>
      <p:sp>
        <p:nvSpPr>
          <p:cNvPr id="11" name="Text 9"/>
          <p:cNvSpPr/>
          <p:nvPr/>
        </p:nvSpPr>
        <p:spPr>
          <a:xfrm>
            <a:off x="1216152" y="1005840"/>
            <a:ext cx="3145536" cy="1115568"/>
          </a:xfrm>
          <a:prstGeom prst="rect">
            <a:avLst/>
          </a:prstGeom>
          <a:noFill/>
          <a:ln/>
        </p:spPr>
        <p:txBody>
          <a:bodyPr wrap="square" rtlCol="0" anchor="ctr"/>
          <a:lstStyle/>
          <a:p>
            <a:pPr marL="0" indent="0">
              <a:buNone/>
            </a:pPr>
            <a:r>
              <a:rPr lang="en-US" sz="1100" dirty="0">
                <a:solidFill>
                  <a:srgbClr val="404040"/>
                </a:solidFill>
                <a:latin typeface="Calibri" pitchFamily="34" charset="0"/>
                <a:ea typeface="Calibri" pitchFamily="34" charset="-122"/>
                <a:cs typeface="Calibri" pitchFamily="34" charset="-120"/>
              </a:rPr>
              <a:t>Star schema data warehouse integrating fuel price data from 4 verified sources</a:t>
            </a:r>
            <a:endParaRPr lang="en-US" sz="1100" dirty="0"/>
          </a:p>
        </p:txBody>
      </p:sp>
      <p:sp>
        <p:nvSpPr>
          <p:cNvPr id="12" name="Shape 10"/>
          <p:cNvSpPr/>
          <p:nvPr/>
        </p:nvSpPr>
        <p:spPr>
          <a:xfrm>
            <a:off x="228600" y="2267712"/>
            <a:ext cx="4206240" cy="1115568"/>
          </a:xfrm>
          <a:prstGeom prst="rect">
            <a:avLst/>
          </a:prstGeom>
          <a:solidFill>
            <a:srgbClr val="F8FAFD"/>
          </a:solidFill>
          <a:ln w="19050">
            <a:solidFill>
              <a:srgbClr val="375623"/>
            </a:solidFill>
            <a:prstDash val="solid"/>
          </a:ln>
        </p:spPr>
      </p:sp>
      <p:sp>
        <p:nvSpPr>
          <p:cNvPr id="13" name="Shape 11"/>
          <p:cNvSpPr/>
          <p:nvPr/>
        </p:nvSpPr>
        <p:spPr>
          <a:xfrm>
            <a:off x="228600" y="2267712"/>
            <a:ext cx="914400" cy="1115568"/>
          </a:xfrm>
          <a:prstGeom prst="rect">
            <a:avLst/>
          </a:prstGeom>
          <a:solidFill>
            <a:srgbClr val="375623"/>
          </a:solidFill>
          <a:ln w="12700">
            <a:solidFill>
              <a:srgbClr val="375623"/>
            </a:solidFill>
            <a:prstDash val="solid"/>
          </a:ln>
        </p:spPr>
      </p:sp>
      <p:sp>
        <p:nvSpPr>
          <p:cNvPr id="14" name="Text 12"/>
          <p:cNvSpPr/>
          <p:nvPr/>
        </p:nvSpPr>
        <p:spPr>
          <a:xfrm>
            <a:off x="228600" y="2267712"/>
            <a:ext cx="914400" cy="111556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Extract</a:t>
            </a:r>
            <a:endParaRPr lang="en-US" sz="1200" dirty="0"/>
          </a:p>
        </p:txBody>
      </p:sp>
      <p:sp>
        <p:nvSpPr>
          <p:cNvPr id="15" name="Text 13"/>
          <p:cNvSpPr/>
          <p:nvPr/>
        </p:nvSpPr>
        <p:spPr>
          <a:xfrm>
            <a:off x="1216152" y="2267712"/>
            <a:ext cx="3145536" cy="1115568"/>
          </a:xfrm>
          <a:prstGeom prst="rect">
            <a:avLst/>
          </a:prstGeom>
          <a:noFill/>
          <a:ln/>
        </p:spPr>
        <p:txBody>
          <a:bodyPr wrap="square" rtlCol="0" anchor="ctr"/>
          <a:lstStyle/>
          <a:p>
            <a:pPr marL="0" indent="0">
              <a:buNone/>
            </a:pPr>
            <a:r>
              <a:rPr lang="en-US" sz="1100" dirty="0">
                <a:solidFill>
                  <a:srgbClr val="404040"/>
                </a:solidFill>
                <a:latin typeface="Calibri" pitchFamily="34" charset="0"/>
                <a:ea typeface="Calibri" pitchFamily="34" charset="-122"/>
                <a:cs typeface="Calibri" pitchFamily="34" charset="-120"/>
              </a:rPr>
              <a:t>Consolidate UBOS national benchmarks, UNOC regional data, and media price reports</a:t>
            </a:r>
            <a:endParaRPr lang="en-US" sz="1100" dirty="0"/>
          </a:p>
        </p:txBody>
      </p:sp>
      <p:sp>
        <p:nvSpPr>
          <p:cNvPr id="16" name="Shape 14"/>
          <p:cNvSpPr/>
          <p:nvPr/>
        </p:nvSpPr>
        <p:spPr>
          <a:xfrm>
            <a:off x="228600" y="3529584"/>
            <a:ext cx="4206240" cy="1115568"/>
          </a:xfrm>
          <a:prstGeom prst="rect">
            <a:avLst/>
          </a:prstGeom>
          <a:solidFill>
            <a:srgbClr val="F8FAFD"/>
          </a:solidFill>
          <a:ln w="19050">
            <a:solidFill>
              <a:srgbClr val="3C3489"/>
            </a:solidFill>
            <a:prstDash val="solid"/>
          </a:ln>
        </p:spPr>
      </p:sp>
      <p:sp>
        <p:nvSpPr>
          <p:cNvPr id="17" name="Shape 15"/>
          <p:cNvSpPr/>
          <p:nvPr/>
        </p:nvSpPr>
        <p:spPr>
          <a:xfrm>
            <a:off x="228600" y="3529584"/>
            <a:ext cx="914400" cy="1115568"/>
          </a:xfrm>
          <a:prstGeom prst="rect">
            <a:avLst/>
          </a:prstGeom>
          <a:solidFill>
            <a:srgbClr val="3C3489"/>
          </a:solidFill>
          <a:ln w="12700">
            <a:solidFill>
              <a:srgbClr val="3C3489"/>
            </a:solidFill>
            <a:prstDash val="solid"/>
          </a:ln>
        </p:spPr>
      </p:sp>
      <p:sp>
        <p:nvSpPr>
          <p:cNvPr id="18" name="Text 16"/>
          <p:cNvSpPr/>
          <p:nvPr/>
        </p:nvSpPr>
        <p:spPr>
          <a:xfrm>
            <a:off x="228600" y="3529584"/>
            <a:ext cx="914400" cy="111556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Transform</a:t>
            </a:r>
            <a:endParaRPr lang="en-US" sz="1200" dirty="0"/>
          </a:p>
        </p:txBody>
      </p:sp>
      <p:sp>
        <p:nvSpPr>
          <p:cNvPr id="19" name="Text 17"/>
          <p:cNvSpPr/>
          <p:nvPr/>
        </p:nvSpPr>
        <p:spPr>
          <a:xfrm>
            <a:off x="1216152" y="3529584"/>
            <a:ext cx="3145536" cy="1115568"/>
          </a:xfrm>
          <a:prstGeom prst="rect">
            <a:avLst/>
          </a:prstGeom>
          <a:noFill/>
          <a:ln/>
        </p:spPr>
        <p:txBody>
          <a:bodyPr wrap="square" rtlCol="0" anchor="ctr"/>
          <a:lstStyle/>
          <a:p>
            <a:pPr marL="0" indent="0">
              <a:buNone/>
            </a:pPr>
            <a:r>
              <a:rPr lang="en-US" sz="1100" dirty="0">
                <a:solidFill>
                  <a:srgbClr val="404040"/>
                </a:solidFill>
                <a:latin typeface="Calibri" pitchFamily="34" charset="0"/>
                <a:ea typeface="Calibri" pitchFamily="34" charset="-122"/>
                <a:cs typeface="Calibri" pitchFamily="34" charset="-120"/>
              </a:rPr>
              <a:t>Three-layer ETL pipeline in Power Query — staging, transformation, loading</a:t>
            </a:r>
            <a:endParaRPr lang="en-US" sz="1100" dirty="0"/>
          </a:p>
        </p:txBody>
      </p:sp>
      <p:sp>
        <p:nvSpPr>
          <p:cNvPr id="20" name="Shape 18"/>
          <p:cNvSpPr/>
          <p:nvPr/>
        </p:nvSpPr>
        <p:spPr>
          <a:xfrm>
            <a:off x="4709160" y="1005840"/>
            <a:ext cx="4206240" cy="1115568"/>
          </a:xfrm>
          <a:prstGeom prst="rect">
            <a:avLst/>
          </a:prstGeom>
          <a:solidFill>
            <a:srgbClr val="F8FAFD"/>
          </a:solidFill>
          <a:ln w="19050">
            <a:solidFill>
              <a:srgbClr val="0F6E56"/>
            </a:solidFill>
            <a:prstDash val="solid"/>
          </a:ln>
        </p:spPr>
      </p:sp>
      <p:sp>
        <p:nvSpPr>
          <p:cNvPr id="21" name="Shape 19"/>
          <p:cNvSpPr/>
          <p:nvPr/>
        </p:nvSpPr>
        <p:spPr>
          <a:xfrm>
            <a:off x="4709160" y="1005840"/>
            <a:ext cx="914400" cy="1115568"/>
          </a:xfrm>
          <a:prstGeom prst="rect">
            <a:avLst/>
          </a:prstGeom>
          <a:solidFill>
            <a:srgbClr val="0F6E56"/>
          </a:solidFill>
          <a:ln w="12700">
            <a:solidFill>
              <a:srgbClr val="0F6E56"/>
            </a:solidFill>
            <a:prstDash val="solid"/>
          </a:ln>
        </p:spPr>
      </p:sp>
      <p:sp>
        <p:nvSpPr>
          <p:cNvPr id="22" name="Text 20"/>
          <p:cNvSpPr/>
          <p:nvPr/>
        </p:nvSpPr>
        <p:spPr>
          <a:xfrm>
            <a:off x="4709160" y="1005840"/>
            <a:ext cx="914400" cy="111556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Load</a:t>
            </a:r>
            <a:endParaRPr lang="en-US" sz="1200" dirty="0"/>
          </a:p>
        </p:txBody>
      </p:sp>
      <p:sp>
        <p:nvSpPr>
          <p:cNvPr id="23" name="Text 21"/>
          <p:cNvSpPr/>
          <p:nvPr/>
        </p:nvSpPr>
        <p:spPr>
          <a:xfrm>
            <a:off x="5696712" y="1005840"/>
            <a:ext cx="3145536" cy="1115568"/>
          </a:xfrm>
          <a:prstGeom prst="rect">
            <a:avLst/>
          </a:prstGeom>
          <a:noFill/>
          <a:ln/>
        </p:spPr>
        <p:txBody>
          <a:bodyPr wrap="square" rtlCol="0" anchor="ctr"/>
          <a:lstStyle/>
          <a:p>
            <a:pPr marL="0" indent="0">
              <a:buNone/>
            </a:pPr>
            <a:r>
              <a:rPr lang="en-US" sz="1100" dirty="0">
                <a:solidFill>
                  <a:srgbClr val="404040"/>
                </a:solidFill>
                <a:latin typeface="Calibri" pitchFamily="34" charset="0"/>
                <a:ea typeface="Calibri" pitchFamily="34" charset="-122"/>
                <a:cs typeface="Calibri" pitchFamily="34" charset="-120"/>
              </a:rPr>
              <a:t>Clean star schema model in Power BI with 4 fact-to-dimension relationships</a:t>
            </a:r>
            <a:endParaRPr lang="en-US" sz="1100" dirty="0"/>
          </a:p>
        </p:txBody>
      </p:sp>
      <p:sp>
        <p:nvSpPr>
          <p:cNvPr id="24" name="Shape 22"/>
          <p:cNvSpPr/>
          <p:nvPr/>
        </p:nvSpPr>
        <p:spPr>
          <a:xfrm>
            <a:off x="4709160" y="2267712"/>
            <a:ext cx="4206240" cy="1115568"/>
          </a:xfrm>
          <a:prstGeom prst="rect">
            <a:avLst/>
          </a:prstGeom>
          <a:solidFill>
            <a:srgbClr val="F8FAFD"/>
          </a:solidFill>
          <a:ln w="19050">
            <a:solidFill>
              <a:srgbClr val="843C0C"/>
            </a:solidFill>
            <a:prstDash val="solid"/>
          </a:ln>
        </p:spPr>
      </p:sp>
      <p:sp>
        <p:nvSpPr>
          <p:cNvPr id="25" name="Shape 23"/>
          <p:cNvSpPr/>
          <p:nvPr/>
        </p:nvSpPr>
        <p:spPr>
          <a:xfrm>
            <a:off x="4709160" y="2267712"/>
            <a:ext cx="914400" cy="1115568"/>
          </a:xfrm>
          <a:prstGeom prst="rect">
            <a:avLst/>
          </a:prstGeom>
          <a:solidFill>
            <a:srgbClr val="843C0C"/>
          </a:solidFill>
          <a:ln w="12700">
            <a:solidFill>
              <a:srgbClr val="843C0C"/>
            </a:solidFill>
            <a:prstDash val="solid"/>
          </a:ln>
        </p:spPr>
      </p:sp>
      <p:sp>
        <p:nvSpPr>
          <p:cNvPr id="26" name="Text 24"/>
          <p:cNvSpPr/>
          <p:nvPr/>
        </p:nvSpPr>
        <p:spPr>
          <a:xfrm>
            <a:off x="4709160" y="2267712"/>
            <a:ext cx="914400" cy="111556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Analyse</a:t>
            </a:r>
            <a:endParaRPr lang="en-US" sz="1200" dirty="0"/>
          </a:p>
        </p:txBody>
      </p:sp>
      <p:sp>
        <p:nvSpPr>
          <p:cNvPr id="27" name="Text 25"/>
          <p:cNvSpPr/>
          <p:nvPr/>
        </p:nvSpPr>
        <p:spPr>
          <a:xfrm>
            <a:off x="5696712" y="2267712"/>
            <a:ext cx="3145536" cy="1115568"/>
          </a:xfrm>
          <a:prstGeom prst="rect">
            <a:avLst/>
          </a:prstGeom>
          <a:noFill/>
          <a:ln/>
        </p:spPr>
        <p:txBody>
          <a:bodyPr wrap="square" rtlCol="0" anchor="ctr"/>
          <a:lstStyle/>
          <a:p>
            <a:pPr marL="0" indent="0">
              <a:buNone/>
            </a:pPr>
            <a:r>
              <a:rPr lang="en-US" sz="1100" dirty="0">
                <a:solidFill>
                  <a:srgbClr val="404040"/>
                </a:solidFill>
                <a:latin typeface="Calibri" pitchFamily="34" charset="0"/>
                <a:ea typeface="Calibri" pitchFamily="34" charset="-122"/>
                <a:cs typeface="Calibri" pitchFamily="34" charset="-120"/>
              </a:rPr>
              <a:t>6 DAX measures powering 5 interactive dashboard pages</a:t>
            </a:r>
            <a:endParaRPr lang="en-US" sz="1100" dirty="0"/>
          </a:p>
        </p:txBody>
      </p:sp>
      <p:sp>
        <p:nvSpPr>
          <p:cNvPr id="28" name="Shape 26"/>
          <p:cNvSpPr/>
          <p:nvPr/>
        </p:nvSpPr>
        <p:spPr>
          <a:xfrm>
            <a:off x="4709160" y="3529584"/>
            <a:ext cx="4206240" cy="1115568"/>
          </a:xfrm>
          <a:prstGeom prst="rect">
            <a:avLst/>
          </a:prstGeom>
          <a:solidFill>
            <a:srgbClr val="F8FAFD"/>
          </a:solidFill>
          <a:ln w="19050">
            <a:solidFill>
              <a:srgbClr val="7B1818"/>
            </a:solidFill>
            <a:prstDash val="solid"/>
          </a:ln>
        </p:spPr>
      </p:sp>
      <p:sp>
        <p:nvSpPr>
          <p:cNvPr id="29" name="Shape 27"/>
          <p:cNvSpPr/>
          <p:nvPr/>
        </p:nvSpPr>
        <p:spPr>
          <a:xfrm>
            <a:off x="4709160" y="3529584"/>
            <a:ext cx="914400" cy="1115568"/>
          </a:xfrm>
          <a:prstGeom prst="rect">
            <a:avLst/>
          </a:prstGeom>
          <a:solidFill>
            <a:srgbClr val="7B1818"/>
          </a:solidFill>
          <a:ln w="12700">
            <a:solidFill>
              <a:srgbClr val="7B1818"/>
            </a:solidFill>
            <a:prstDash val="solid"/>
          </a:ln>
        </p:spPr>
      </p:sp>
      <p:sp>
        <p:nvSpPr>
          <p:cNvPr id="30" name="Text 28"/>
          <p:cNvSpPr/>
          <p:nvPr/>
        </p:nvSpPr>
        <p:spPr>
          <a:xfrm>
            <a:off x="4709160" y="3529584"/>
            <a:ext cx="914400" cy="111556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Insight</a:t>
            </a:r>
            <a:endParaRPr lang="en-US" sz="1200" dirty="0"/>
          </a:p>
        </p:txBody>
      </p:sp>
      <p:sp>
        <p:nvSpPr>
          <p:cNvPr id="31" name="Text 29"/>
          <p:cNvSpPr/>
          <p:nvPr/>
        </p:nvSpPr>
        <p:spPr>
          <a:xfrm>
            <a:off x="5696712" y="3529584"/>
            <a:ext cx="3145536" cy="1115568"/>
          </a:xfrm>
          <a:prstGeom prst="rect">
            <a:avLst/>
          </a:prstGeom>
          <a:noFill/>
          <a:ln/>
        </p:spPr>
        <p:txBody>
          <a:bodyPr wrap="square" rtlCol="0" anchor="ctr"/>
          <a:lstStyle/>
          <a:p>
            <a:pPr marL="0" indent="0">
              <a:buNone/>
            </a:pPr>
            <a:r>
              <a:rPr lang="en-US" sz="1100" dirty="0">
                <a:solidFill>
                  <a:srgbClr val="404040"/>
                </a:solidFill>
                <a:latin typeface="Calibri" pitchFamily="34" charset="0"/>
                <a:ea typeface="Calibri" pitchFamily="34" charset="-122"/>
                <a:cs typeface="Calibri" pitchFamily="34" charset="-120"/>
              </a:rPr>
              <a:t>Evidence-based findings and recommendations grounded in real UBOS data</a:t>
            </a:r>
            <a:endParaRPr lang="en-US" sz="1100" dirty="0"/>
          </a:p>
        </p:txBody>
      </p:sp>
      <p:sp>
        <p:nvSpPr>
          <p:cNvPr id="32" name="Shape 30"/>
          <p:cNvSpPr/>
          <p:nvPr/>
        </p:nvSpPr>
        <p:spPr>
          <a:xfrm>
            <a:off x="228600" y="4663440"/>
            <a:ext cx="8686800" cy="292608"/>
          </a:xfrm>
          <a:prstGeom prst="rect">
            <a:avLst/>
          </a:prstGeom>
          <a:solidFill>
            <a:srgbClr val="1F3864"/>
          </a:solidFill>
          <a:ln w="12700">
            <a:solidFill>
              <a:srgbClr val="1F3864"/>
            </a:solidFill>
            <a:prstDash val="solid"/>
          </a:ln>
        </p:spPr>
      </p:sp>
      <p:sp>
        <p:nvSpPr>
          <p:cNvPr id="33" name="Text 31"/>
          <p:cNvSpPr/>
          <p:nvPr/>
        </p:nvSpPr>
        <p:spPr>
          <a:xfrm>
            <a:off x="274320" y="4663440"/>
            <a:ext cx="8595360" cy="29260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Scope: 20 stations  |  4 regions  |  3 fuel types  |  54 months (Jan 2021 – Jun 2025)  |  3,240 fact records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F3864"/>
          </a:solidFill>
          <a:ln w="12700">
            <a:solidFill>
              <a:srgbClr val="1F3864"/>
            </a:solidFill>
            <a:prstDash val="solid"/>
          </a:ln>
        </p:spPr>
      </p:sp>
      <p:sp>
        <p:nvSpPr>
          <p:cNvPr id="3" name="Shape 1"/>
          <p:cNvSpPr/>
          <p:nvPr/>
        </p:nvSpPr>
        <p:spPr>
          <a:xfrm>
            <a:off x="0" y="777240"/>
            <a:ext cx="9144000" cy="54864"/>
          </a:xfrm>
          <a:prstGeom prst="rect">
            <a:avLst/>
          </a:prstGeom>
          <a:solidFill>
            <a:srgbClr val="C9A84C"/>
          </a:solidFill>
          <a:ln w="12700">
            <a:solidFill>
              <a:srgbClr val="C9A84C"/>
            </a:solidFill>
            <a:prstDash val="solid"/>
          </a:ln>
        </p:spPr>
      </p:sp>
      <p:sp>
        <p:nvSpPr>
          <p:cNvPr id="4" name="Text 2"/>
          <p:cNvSpPr/>
          <p:nvPr/>
        </p:nvSpPr>
        <p:spPr>
          <a:xfrm>
            <a:off x="274320" y="36576"/>
            <a:ext cx="8595360" cy="713232"/>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Data Sources &amp; Collection</a:t>
            </a:r>
            <a:endParaRPr lang="en-US" sz="2000" dirty="0"/>
          </a:p>
        </p:txBody>
      </p:sp>
      <p:sp>
        <p:nvSpPr>
          <p:cNvPr id="5" name="Text 3"/>
          <p:cNvSpPr/>
          <p:nvPr/>
        </p:nvSpPr>
        <p:spPr>
          <a:xfrm>
            <a:off x="274320" y="804672"/>
            <a:ext cx="8595360" cy="274320"/>
          </a:xfrm>
          <a:prstGeom prst="rect">
            <a:avLst/>
          </a:prstGeom>
          <a:noFill/>
          <a:ln/>
        </p:spPr>
        <p:txBody>
          <a:bodyPr wrap="square" rtlCol="0" anchor="ctr"/>
          <a:lstStyle/>
          <a:p>
            <a:pPr marL="0" indent="0">
              <a:buNone/>
            </a:pPr>
            <a:r>
              <a:rPr lang="en-US" sz="1100" i="1" dirty="0">
                <a:solidFill>
                  <a:srgbClr val="888888"/>
                </a:solidFill>
                <a:latin typeface="Calibri" pitchFamily="34" charset="0"/>
                <a:ea typeface="Calibri" pitchFamily="34" charset="-122"/>
                <a:cs typeface="Calibri" pitchFamily="34" charset="-120"/>
              </a:rPr>
              <a:t>Four verified sources — UBOS national benchmarks anchor the entire dataset</a:t>
            </a:r>
            <a:endParaRPr lang="en-US" sz="1100" dirty="0"/>
          </a:p>
        </p:txBody>
      </p:sp>
      <p:sp>
        <p:nvSpPr>
          <p:cNvPr id="6" name="Shape 4"/>
          <p:cNvSpPr/>
          <p:nvPr/>
        </p:nvSpPr>
        <p:spPr>
          <a:xfrm>
            <a:off x="0" y="4892040"/>
            <a:ext cx="9144000" cy="256032"/>
          </a:xfrm>
          <a:prstGeom prst="rect">
            <a:avLst/>
          </a:prstGeom>
          <a:solidFill>
            <a:srgbClr val="F0F0F0"/>
          </a:solidFill>
          <a:ln w="12700">
            <a:solidFill>
              <a:srgbClr val="DDDDDD"/>
            </a:solidFill>
            <a:prstDash val="solid"/>
          </a:ln>
        </p:spPr>
      </p:sp>
      <p:sp>
        <p:nvSpPr>
          <p:cNvPr id="7" name="Text 5"/>
          <p:cNvSpPr/>
          <p:nvPr/>
        </p:nvSpPr>
        <p:spPr>
          <a:xfrm>
            <a:off x="182880" y="4910328"/>
            <a:ext cx="7315200" cy="201168"/>
          </a:xfrm>
          <a:prstGeom prst="rect">
            <a:avLst/>
          </a:prstGeom>
          <a:noFill/>
          <a:ln/>
        </p:spPr>
        <p:txBody>
          <a:bodyPr wrap="square" rtlCol="0" anchor="ctr"/>
          <a:lstStyle/>
          <a:p>
            <a:pPr marL="0" indent="0">
              <a:buNone/>
            </a:pPr>
            <a:r>
              <a:rPr lang="en-US" sz="800" dirty="0">
                <a:solidFill>
                  <a:srgbClr val="888888"/>
                </a:solidFill>
                <a:latin typeface="Calibri" pitchFamily="34" charset="0"/>
                <a:ea typeface="Calibri" pitchFamily="34" charset="-122"/>
                <a:cs typeface="Calibri" pitchFamily="34" charset="-120"/>
              </a:rPr>
              <a:t>Uganda Fuel Price &amp; Consumption Data Warehouse  |  Group 4  |  College of Computing and Informatics Technology</a:t>
            </a:r>
            <a:endParaRPr lang="en-US" sz="800" dirty="0"/>
          </a:p>
        </p:txBody>
      </p:sp>
      <p:sp>
        <p:nvSpPr>
          <p:cNvPr id="8" name="Text 6"/>
          <p:cNvSpPr/>
          <p:nvPr/>
        </p:nvSpPr>
        <p:spPr>
          <a:xfrm>
            <a:off x="8229600" y="4910328"/>
            <a:ext cx="731520" cy="201168"/>
          </a:xfrm>
          <a:prstGeom prst="rect">
            <a:avLst/>
          </a:prstGeom>
          <a:noFill/>
          <a:ln/>
        </p:spPr>
        <p:txBody>
          <a:bodyPr wrap="square" rtlCol="0" anchor="ctr"/>
          <a:lstStyle/>
          <a:p>
            <a:pPr marL="0" indent="0" algn="r">
              <a:buNone/>
            </a:pPr>
            <a:r>
              <a:rPr lang="en-US" sz="800" dirty="0">
                <a:solidFill>
                  <a:srgbClr val="888888"/>
                </a:solidFill>
                <a:latin typeface="Calibri" pitchFamily="34" charset="0"/>
                <a:ea typeface="Calibri" pitchFamily="34" charset="-122"/>
                <a:cs typeface="Calibri" pitchFamily="34" charset="-120"/>
              </a:rPr>
              <a:t>5 / 18</a:t>
            </a:r>
            <a:endParaRPr lang="en-US" sz="800" dirty="0"/>
          </a:p>
        </p:txBody>
      </p:sp>
      <p:sp>
        <p:nvSpPr>
          <p:cNvPr id="9" name="Shape 7"/>
          <p:cNvSpPr/>
          <p:nvPr/>
        </p:nvSpPr>
        <p:spPr>
          <a:xfrm>
            <a:off x="274320" y="1051560"/>
            <a:ext cx="2029968" cy="3474720"/>
          </a:xfrm>
          <a:prstGeom prst="rect">
            <a:avLst/>
          </a:prstGeom>
          <a:solidFill>
            <a:srgbClr val="F8FAFD"/>
          </a:solidFill>
          <a:ln w="19050">
            <a:solidFill>
              <a:srgbClr val="1F3864"/>
            </a:solidFill>
            <a:prstDash val="solid"/>
          </a:ln>
        </p:spPr>
      </p:sp>
      <p:sp>
        <p:nvSpPr>
          <p:cNvPr id="10" name="Shape 8"/>
          <p:cNvSpPr/>
          <p:nvPr/>
        </p:nvSpPr>
        <p:spPr>
          <a:xfrm>
            <a:off x="274320" y="1051560"/>
            <a:ext cx="2029968" cy="502920"/>
          </a:xfrm>
          <a:prstGeom prst="rect">
            <a:avLst/>
          </a:prstGeom>
          <a:solidFill>
            <a:srgbClr val="1F3864"/>
          </a:solidFill>
          <a:ln w="12700">
            <a:solidFill>
              <a:srgbClr val="1F3864"/>
            </a:solidFill>
            <a:prstDash val="solid"/>
          </a:ln>
        </p:spPr>
      </p:sp>
      <p:sp>
        <p:nvSpPr>
          <p:cNvPr id="11" name="Text 9"/>
          <p:cNvSpPr/>
          <p:nvPr/>
        </p:nvSpPr>
        <p:spPr>
          <a:xfrm>
            <a:off x="274320" y="960120"/>
            <a:ext cx="2029968" cy="5943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UBOS</a:t>
            </a:r>
            <a:endParaRPr lang="en-US" sz="1200" dirty="0"/>
          </a:p>
        </p:txBody>
      </p:sp>
      <p:sp>
        <p:nvSpPr>
          <p:cNvPr id="12" name="Text 10"/>
          <p:cNvSpPr/>
          <p:nvPr/>
        </p:nvSpPr>
        <p:spPr>
          <a:xfrm>
            <a:off x="274320" y="1600200"/>
            <a:ext cx="2029968" cy="548640"/>
          </a:xfrm>
          <a:prstGeom prst="rect">
            <a:avLst/>
          </a:prstGeom>
          <a:noFill/>
          <a:ln/>
        </p:spPr>
        <p:txBody>
          <a:bodyPr wrap="square" rtlCol="0" anchor="ctr"/>
          <a:lstStyle/>
          <a:p>
            <a:pPr marL="0" indent="0" algn="ctr">
              <a:buNone/>
            </a:pPr>
            <a:r>
              <a:rPr lang="en-US" sz="1000" b="1" dirty="0">
                <a:solidFill>
                  <a:srgbClr val="1F3864"/>
                </a:solidFill>
                <a:latin typeface="Calibri" pitchFamily="34" charset="0"/>
                <a:ea typeface="Calibri" pitchFamily="34" charset="-122"/>
                <a:cs typeface="Calibri" pitchFamily="34" charset="-120"/>
              </a:rPr>
              <a:t>Uganda Bureau</a:t>
            </a:r>
            <a:endParaRPr lang="en-US" sz="1000" dirty="0"/>
          </a:p>
          <a:p>
            <a:pPr marL="0" indent="0" algn="ctr">
              <a:buNone/>
            </a:pPr>
            <a:r>
              <a:rPr lang="en-US" sz="1000" b="1" dirty="0">
                <a:solidFill>
                  <a:srgbClr val="1F3864"/>
                </a:solidFill>
                <a:latin typeface="Calibri" pitchFamily="34" charset="0"/>
                <a:ea typeface="Calibri" pitchFamily="34" charset="-122"/>
                <a:cs typeface="Calibri" pitchFamily="34" charset="-120"/>
              </a:rPr>
              <a:t>of Statistics</a:t>
            </a:r>
            <a:endParaRPr lang="en-US" sz="1000" dirty="0"/>
          </a:p>
        </p:txBody>
      </p:sp>
      <p:sp>
        <p:nvSpPr>
          <p:cNvPr id="13" name="Text 11"/>
          <p:cNvSpPr/>
          <p:nvPr/>
        </p:nvSpPr>
        <p:spPr>
          <a:xfrm>
            <a:off x="274320" y="2194560"/>
            <a:ext cx="2029968" cy="1463040"/>
          </a:xfrm>
          <a:prstGeom prst="rect">
            <a:avLst/>
          </a:prstGeom>
          <a:noFill/>
          <a:ln/>
        </p:spPr>
        <p:txBody>
          <a:bodyPr wrap="square" rtlCol="0" anchor="ctr"/>
          <a:lstStyle/>
          <a:p>
            <a:pPr marL="0" indent="0" algn="ctr">
              <a:buNone/>
            </a:pPr>
            <a:r>
              <a:rPr lang="en-US" sz="1000" dirty="0">
                <a:solidFill>
                  <a:srgbClr val="404040"/>
                </a:solidFill>
                <a:latin typeface="Calibri" pitchFamily="34" charset="0"/>
                <a:ea typeface="Calibri" pitchFamily="34" charset="-122"/>
                <a:cs typeface="Calibri" pitchFamily="34" charset="-120"/>
              </a:rPr>
              <a:t>Monthly avg retail prices/litre</a:t>
            </a:r>
            <a:endParaRPr lang="en-US" sz="1000" dirty="0"/>
          </a:p>
          <a:p>
            <a:pPr marL="0" indent="0" algn="ctr">
              <a:buNone/>
            </a:pPr>
            <a:r>
              <a:rPr lang="en-US" sz="1000" dirty="0">
                <a:solidFill>
                  <a:srgbClr val="404040"/>
                </a:solidFill>
                <a:latin typeface="Calibri" pitchFamily="34" charset="0"/>
                <a:ea typeface="Calibri" pitchFamily="34" charset="-122"/>
                <a:cs typeface="Calibri" pitchFamily="34" charset="-120"/>
              </a:rPr>
              <a:t>Petrol, Diesel, Kerosene</a:t>
            </a:r>
            <a:endParaRPr lang="en-US" sz="1000" dirty="0"/>
          </a:p>
          <a:p>
            <a:pPr marL="0" indent="0" algn="ctr">
              <a:buNone/>
            </a:pPr>
            <a:r>
              <a:rPr lang="en-US" sz="1000" dirty="0">
                <a:solidFill>
                  <a:srgbClr val="404040"/>
                </a:solidFill>
                <a:latin typeface="Calibri" pitchFamily="34" charset="0"/>
                <a:ea typeface="Calibri" pitchFamily="34" charset="-122"/>
                <a:cs typeface="Calibri" pitchFamily="34" charset="-120"/>
              </a:rPr>
              <a:t>Jan 2021 – Jun 2025</a:t>
            </a:r>
            <a:endParaRPr lang="en-US" sz="1000" dirty="0"/>
          </a:p>
        </p:txBody>
      </p:sp>
      <p:sp>
        <p:nvSpPr>
          <p:cNvPr id="14" name="Shape 12"/>
          <p:cNvSpPr/>
          <p:nvPr/>
        </p:nvSpPr>
        <p:spPr>
          <a:xfrm>
            <a:off x="548640" y="3474720"/>
            <a:ext cx="1481328" cy="274320"/>
          </a:xfrm>
          <a:prstGeom prst="rect">
            <a:avLst/>
          </a:prstGeom>
          <a:solidFill>
            <a:srgbClr val="EBF3FB"/>
          </a:solidFill>
          <a:ln w="6350">
            <a:solidFill>
              <a:srgbClr val="AACCEE"/>
            </a:solidFill>
            <a:prstDash val="solid"/>
          </a:ln>
        </p:spPr>
      </p:sp>
      <p:sp>
        <p:nvSpPr>
          <p:cNvPr id="15" name="Text 13"/>
          <p:cNvSpPr/>
          <p:nvPr/>
        </p:nvSpPr>
        <p:spPr>
          <a:xfrm>
            <a:off x="548640" y="3474720"/>
            <a:ext cx="1481328" cy="274320"/>
          </a:xfrm>
          <a:prstGeom prst="rect">
            <a:avLst/>
          </a:prstGeom>
          <a:noFill/>
          <a:ln/>
        </p:spPr>
        <p:txBody>
          <a:bodyPr wrap="square" rtlCol="0" anchor="ctr"/>
          <a:lstStyle/>
          <a:p>
            <a:pPr marL="0" indent="0" algn="ctr">
              <a:buNone/>
            </a:pPr>
            <a:r>
              <a:rPr lang="en-US" sz="800" b="1" dirty="0">
                <a:solidFill>
                  <a:srgbClr val="1F3864"/>
                </a:solidFill>
                <a:latin typeface="Calibri" pitchFamily="34" charset="0"/>
                <a:ea typeface="Calibri" pitchFamily="34" charset="-122"/>
                <a:cs typeface="Calibri" pitchFamily="34" charset="-120"/>
              </a:rPr>
              <a:t>PRIMARY SOURCE</a:t>
            </a:r>
            <a:endParaRPr lang="en-US" sz="800" dirty="0"/>
          </a:p>
        </p:txBody>
      </p:sp>
      <p:sp>
        <p:nvSpPr>
          <p:cNvPr id="16" name="Shape 14"/>
          <p:cNvSpPr/>
          <p:nvPr/>
        </p:nvSpPr>
        <p:spPr>
          <a:xfrm>
            <a:off x="2450592" y="1051560"/>
            <a:ext cx="2029968" cy="3474720"/>
          </a:xfrm>
          <a:prstGeom prst="rect">
            <a:avLst/>
          </a:prstGeom>
          <a:solidFill>
            <a:srgbClr val="F8FAFD"/>
          </a:solidFill>
          <a:ln w="19050">
            <a:solidFill>
              <a:srgbClr val="375623"/>
            </a:solidFill>
            <a:prstDash val="solid"/>
          </a:ln>
        </p:spPr>
      </p:sp>
      <p:sp>
        <p:nvSpPr>
          <p:cNvPr id="17" name="Shape 15"/>
          <p:cNvSpPr/>
          <p:nvPr/>
        </p:nvSpPr>
        <p:spPr>
          <a:xfrm>
            <a:off x="2450592" y="1051560"/>
            <a:ext cx="2029968" cy="502920"/>
          </a:xfrm>
          <a:prstGeom prst="rect">
            <a:avLst/>
          </a:prstGeom>
          <a:solidFill>
            <a:srgbClr val="375623"/>
          </a:solidFill>
          <a:ln w="12700">
            <a:solidFill>
              <a:srgbClr val="375623"/>
            </a:solidFill>
            <a:prstDash val="solid"/>
          </a:ln>
        </p:spPr>
      </p:sp>
      <p:sp>
        <p:nvSpPr>
          <p:cNvPr id="18" name="Text 16"/>
          <p:cNvSpPr/>
          <p:nvPr/>
        </p:nvSpPr>
        <p:spPr>
          <a:xfrm>
            <a:off x="2450592" y="960120"/>
            <a:ext cx="2029968" cy="5943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UNOC</a:t>
            </a:r>
            <a:endParaRPr lang="en-US" sz="1200" dirty="0"/>
          </a:p>
        </p:txBody>
      </p:sp>
      <p:sp>
        <p:nvSpPr>
          <p:cNvPr id="19" name="Text 17"/>
          <p:cNvSpPr/>
          <p:nvPr/>
        </p:nvSpPr>
        <p:spPr>
          <a:xfrm>
            <a:off x="2450592" y="1600200"/>
            <a:ext cx="2029968" cy="548640"/>
          </a:xfrm>
          <a:prstGeom prst="rect">
            <a:avLst/>
          </a:prstGeom>
          <a:noFill/>
          <a:ln/>
        </p:spPr>
        <p:txBody>
          <a:bodyPr wrap="square" rtlCol="0" anchor="ctr"/>
          <a:lstStyle/>
          <a:p>
            <a:pPr marL="0" indent="0" algn="ctr">
              <a:buNone/>
            </a:pPr>
            <a:r>
              <a:rPr lang="en-US" sz="1000" b="1" dirty="0">
                <a:solidFill>
                  <a:srgbClr val="375623"/>
                </a:solidFill>
                <a:latin typeface="Calibri" pitchFamily="34" charset="0"/>
                <a:ea typeface="Calibri" pitchFamily="34" charset="-122"/>
                <a:cs typeface="Calibri" pitchFamily="34" charset="-120"/>
              </a:rPr>
              <a:t>Uganda National</a:t>
            </a:r>
            <a:endParaRPr lang="en-US" sz="1000" dirty="0"/>
          </a:p>
          <a:p>
            <a:pPr marL="0" indent="0" algn="ctr">
              <a:buNone/>
            </a:pPr>
            <a:r>
              <a:rPr lang="en-US" sz="1000" b="1" dirty="0">
                <a:solidFill>
                  <a:srgbClr val="375623"/>
                </a:solidFill>
                <a:latin typeface="Calibri" pitchFamily="34" charset="0"/>
                <a:ea typeface="Calibri" pitchFamily="34" charset="-122"/>
                <a:cs typeface="Calibri" pitchFamily="34" charset="-120"/>
              </a:rPr>
              <a:t>Oil Company</a:t>
            </a:r>
            <a:endParaRPr lang="en-US" sz="1000" dirty="0"/>
          </a:p>
        </p:txBody>
      </p:sp>
      <p:sp>
        <p:nvSpPr>
          <p:cNvPr id="20" name="Text 18"/>
          <p:cNvSpPr/>
          <p:nvPr/>
        </p:nvSpPr>
        <p:spPr>
          <a:xfrm>
            <a:off x="2450592" y="2194560"/>
            <a:ext cx="2029968" cy="1463040"/>
          </a:xfrm>
          <a:prstGeom prst="rect">
            <a:avLst/>
          </a:prstGeom>
          <a:noFill/>
          <a:ln/>
        </p:spPr>
        <p:txBody>
          <a:bodyPr wrap="square" rtlCol="0" anchor="ctr"/>
          <a:lstStyle/>
          <a:p>
            <a:pPr marL="0" indent="0" algn="ctr">
              <a:buNone/>
            </a:pPr>
            <a:r>
              <a:rPr lang="en-US" sz="1000" dirty="0">
                <a:solidFill>
                  <a:srgbClr val="404040"/>
                </a:solidFill>
                <a:latin typeface="Calibri" pitchFamily="34" charset="0"/>
                <a:ea typeface="Calibri" pitchFamily="34" charset="-122"/>
                <a:cs typeface="Calibri" pitchFamily="34" charset="-120"/>
              </a:rPr>
              <a:t>Regional price analysis</a:t>
            </a:r>
            <a:endParaRPr lang="en-US" sz="1000" dirty="0"/>
          </a:p>
          <a:p>
            <a:pPr marL="0" indent="0" algn="ctr">
              <a:buNone/>
            </a:pPr>
            <a:r>
              <a:rPr lang="en-US" sz="1000" dirty="0">
                <a:solidFill>
                  <a:srgbClr val="404040"/>
                </a:solidFill>
                <a:latin typeface="Calibri" pitchFamily="34" charset="0"/>
                <a:ea typeface="Calibri" pitchFamily="34" charset="-122"/>
                <a:cs typeface="Calibri" pitchFamily="34" charset="-120"/>
              </a:rPr>
              <a:t>Post-importation reports</a:t>
            </a:r>
            <a:endParaRPr lang="en-US" sz="1000" dirty="0"/>
          </a:p>
          <a:p>
            <a:pPr marL="0" indent="0" algn="ctr">
              <a:buNone/>
            </a:pPr>
            <a:r>
              <a:rPr lang="en-US" sz="1000" dirty="0">
                <a:solidFill>
                  <a:srgbClr val="404040"/>
                </a:solidFill>
                <a:latin typeface="Calibri" pitchFamily="34" charset="0"/>
                <a:ea typeface="Calibri" pitchFamily="34" charset="-122"/>
                <a:cs typeface="Calibri" pitchFamily="34" charset="-120"/>
              </a:rPr>
              <a:t>Oct 2024 onwards</a:t>
            </a:r>
            <a:endParaRPr lang="en-US" sz="1000" dirty="0"/>
          </a:p>
        </p:txBody>
      </p:sp>
      <p:sp>
        <p:nvSpPr>
          <p:cNvPr id="21" name="Shape 19"/>
          <p:cNvSpPr/>
          <p:nvPr/>
        </p:nvSpPr>
        <p:spPr>
          <a:xfrm>
            <a:off x="2724912" y="3474720"/>
            <a:ext cx="1481328" cy="274320"/>
          </a:xfrm>
          <a:prstGeom prst="rect">
            <a:avLst/>
          </a:prstGeom>
          <a:solidFill>
            <a:srgbClr val="EBF3FB"/>
          </a:solidFill>
          <a:ln w="6350">
            <a:solidFill>
              <a:srgbClr val="AACCEE"/>
            </a:solidFill>
            <a:prstDash val="solid"/>
          </a:ln>
        </p:spPr>
      </p:sp>
      <p:sp>
        <p:nvSpPr>
          <p:cNvPr id="22" name="Text 20"/>
          <p:cNvSpPr/>
          <p:nvPr/>
        </p:nvSpPr>
        <p:spPr>
          <a:xfrm>
            <a:off x="2724912" y="3474720"/>
            <a:ext cx="1481328" cy="274320"/>
          </a:xfrm>
          <a:prstGeom prst="rect">
            <a:avLst/>
          </a:prstGeom>
          <a:noFill/>
          <a:ln/>
        </p:spPr>
        <p:txBody>
          <a:bodyPr wrap="square" rtlCol="0" anchor="ctr"/>
          <a:lstStyle/>
          <a:p>
            <a:pPr marL="0" indent="0" algn="ctr">
              <a:buNone/>
            </a:pPr>
            <a:r>
              <a:rPr lang="en-US" sz="800" b="1" dirty="0">
                <a:solidFill>
                  <a:srgbClr val="1F3864"/>
                </a:solidFill>
                <a:latin typeface="Calibri" pitchFamily="34" charset="0"/>
                <a:ea typeface="Calibri" pitchFamily="34" charset="-122"/>
                <a:cs typeface="Calibri" pitchFamily="34" charset="-120"/>
              </a:rPr>
              <a:t>VERIFIED</a:t>
            </a:r>
            <a:endParaRPr lang="en-US" sz="800" dirty="0"/>
          </a:p>
        </p:txBody>
      </p:sp>
      <p:sp>
        <p:nvSpPr>
          <p:cNvPr id="23" name="Shape 21"/>
          <p:cNvSpPr/>
          <p:nvPr/>
        </p:nvSpPr>
        <p:spPr>
          <a:xfrm>
            <a:off x="4626864" y="1024128"/>
            <a:ext cx="2029968" cy="3502152"/>
          </a:xfrm>
          <a:prstGeom prst="rect">
            <a:avLst/>
          </a:prstGeom>
          <a:solidFill>
            <a:srgbClr val="F8FAFD"/>
          </a:solidFill>
          <a:ln w="19050">
            <a:solidFill>
              <a:srgbClr val="843C0C"/>
            </a:solidFill>
            <a:prstDash val="solid"/>
          </a:ln>
        </p:spPr>
      </p:sp>
      <p:sp>
        <p:nvSpPr>
          <p:cNvPr id="24" name="Shape 22"/>
          <p:cNvSpPr/>
          <p:nvPr/>
        </p:nvSpPr>
        <p:spPr>
          <a:xfrm>
            <a:off x="4626864" y="1051560"/>
            <a:ext cx="2029968" cy="502920"/>
          </a:xfrm>
          <a:prstGeom prst="rect">
            <a:avLst/>
          </a:prstGeom>
          <a:solidFill>
            <a:srgbClr val="843C0C"/>
          </a:solidFill>
          <a:ln w="12700">
            <a:solidFill>
              <a:srgbClr val="843C0C"/>
            </a:solidFill>
            <a:prstDash val="solid"/>
          </a:ln>
        </p:spPr>
      </p:sp>
      <p:sp>
        <p:nvSpPr>
          <p:cNvPr id="25" name="Text 23"/>
          <p:cNvSpPr/>
          <p:nvPr/>
        </p:nvSpPr>
        <p:spPr>
          <a:xfrm>
            <a:off x="4626864" y="1005840"/>
            <a:ext cx="2029968" cy="5486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Daily Monitor</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&amp; ChimpReports</a:t>
            </a:r>
            <a:endParaRPr lang="en-US" sz="1200" dirty="0"/>
          </a:p>
        </p:txBody>
      </p:sp>
      <p:sp>
        <p:nvSpPr>
          <p:cNvPr id="26" name="Text 24"/>
          <p:cNvSpPr/>
          <p:nvPr/>
        </p:nvSpPr>
        <p:spPr>
          <a:xfrm>
            <a:off x="4626864" y="1600200"/>
            <a:ext cx="2029968" cy="548640"/>
          </a:xfrm>
          <a:prstGeom prst="rect">
            <a:avLst/>
          </a:prstGeom>
          <a:noFill/>
          <a:ln/>
        </p:spPr>
        <p:txBody>
          <a:bodyPr wrap="square" rtlCol="0" anchor="ctr"/>
          <a:lstStyle/>
          <a:p>
            <a:pPr marL="0" indent="0" algn="ctr">
              <a:buNone/>
            </a:pPr>
            <a:r>
              <a:rPr lang="en-US" sz="1000" b="1" dirty="0">
                <a:solidFill>
                  <a:srgbClr val="843C0C"/>
                </a:solidFill>
                <a:latin typeface="Calibri" pitchFamily="34" charset="0"/>
                <a:ea typeface="Calibri" pitchFamily="34" charset="-122"/>
                <a:cs typeface="Calibri" pitchFamily="34" charset="-120"/>
              </a:rPr>
              <a:t>Ugandan Media</a:t>
            </a:r>
            <a:endParaRPr lang="en-US" sz="1000" dirty="0"/>
          </a:p>
          <a:p>
            <a:pPr marL="0" indent="0" algn="ctr">
              <a:buNone/>
            </a:pPr>
            <a:r>
              <a:rPr lang="en-US" sz="1000" b="1" dirty="0">
                <a:solidFill>
                  <a:srgbClr val="843C0C"/>
                </a:solidFill>
                <a:latin typeface="Calibri" pitchFamily="34" charset="0"/>
                <a:ea typeface="Calibri" pitchFamily="34" charset="-122"/>
                <a:cs typeface="Calibri" pitchFamily="34" charset="-120"/>
              </a:rPr>
              <a:t>Houses</a:t>
            </a:r>
            <a:endParaRPr lang="en-US" sz="1000" dirty="0"/>
          </a:p>
        </p:txBody>
      </p:sp>
      <p:sp>
        <p:nvSpPr>
          <p:cNvPr id="27" name="Text 25"/>
          <p:cNvSpPr/>
          <p:nvPr/>
        </p:nvSpPr>
        <p:spPr>
          <a:xfrm>
            <a:off x="4626864" y="2194560"/>
            <a:ext cx="2029968" cy="1463040"/>
          </a:xfrm>
          <a:prstGeom prst="rect">
            <a:avLst/>
          </a:prstGeom>
          <a:noFill/>
          <a:ln/>
        </p:spPr>
        <p:txBody>
          <a:bodyPr wrap="square" rtlCol="0" anchor="ctr"/>
          <a:lstStyle/>
          <a:p>
            <a:pPr marL="0" indent="0" algn="ctr">
              <a:buNone/>
            </a:pPr>
            <a:r>
              <a:rPr lang="en-US" sz="1000" dirty="0">
                <a:solidFill>
                  <a:srgbClr val="404040"/>
                </a:solidFill>
                <a:latin typeface="Calibri" pitchFamily="34" charset="0"/>
                <a:ea typeface="Calibri" pitchFamily="34" charset="-122"/>
                <a:cs typeface="Calibri" pitchFamily="34" charset="-120"/>
              </a:rPr>
              <a:t>Pump price verification</a:t>
            </a:r>
            <a:endParaRPr lang="en-US" sz="1000" dirty="0"/>
          </a:p>
          <a:p>
            <a:pPr marL="0" indent="0" algn="ctr">
              <a:buNone/>
            </a:pPr>
            <a:r>
              <a:rPr lang="en-US" sz="1000" dirty="0">
                <a:solidFill>
                  <a:srgbClr val="404040"/>
                </a:solidFill>
                <a:latin typeface="Calibri" pitchFamily="34" charset="0"/>
                <a:ea typeface="Calibri" pitchFamily="34" charset="-122"/>
                <a:cs typeface="Calibri" pitchFamily="34" charset="-120"/>
              </a:rPr>
              <a:t>Policy impact reporting</a:t>
            </a:r>
            <a:endParaRPr lang="en-US" sz="1000" dirty="0"/>
          </a:p>
          <a:p>
            <a:pPr marL="0" indent="0" algn="ctr">
              <a:buNone/>
            </a:pPr>
            <a:r>
              <a:rPr lang="en-US" sz="1000" dirty="0">
                <a:solidFill>
                  <a:srgbClr val="404040"/>
                </a:solidFill>
                <a:latin typeface="Calibri" pitchFamily="34" charset="0"/>
                <a:ea typeface="Calibri" pitchFamily="34" charset="-122"/>
                <a:cs typeface="Calibri" pitchFamily="34" charset="-120"/>
              </a:rPr>
              <a:t>2022 – 2025</a:t>
            </a:r>
            <a:endParaRPr lang="en-US" sz="1000" dirty="0"/>
          </a:p>
        </p:txBody>
      </p:sp>
      <p:sp>
        <p:nvSpPr>
          <p:cNvPr id="28" name="Shape 26"/>
          <p:cNvSpPr/>
          <p:nvPr/>
        </p:nvSpPr>
        <p:spPr>
          <a:xfrm>
            <a:off x="4901184" y="3474720"/>
            <a:ext cx="1481328" cy="274320"/>
          </a:xfrm>
          <a:prstGeom prst="rect">
            <a:avLst/>
          </a:prstGeom>
          <a:solidFill>
            <a:srgbClr val="EBF3FB"/>
          </a:solidFill>
          <a:ln w="6350">
            <a:solidFill>
              <a:srgbClr val="AACCEE"/>
            </a:solidFill>
            <a:prstDash val="solid"/>
          </a:ln>
        </p:spPr>
      </p:sp>
      <p:sp>
        <p:nvSpPr>
          <p:cNvPr id="29" name="Text 27"/>
          <p:cNvSpPr/>
          <p:nvPr/>
        </p:nvSpPr>
        <p:spPr>
          <a:xfrm>
            <a:off x="4901184" y="3474720"/>
            <a:ext cx="1481328" cy="274320"/>
          </a:xfrm>
          <a:prstGeom prst="rect">
            <a:avLst/>
          </a:prstGeom>
          <a:noFill/>
          <a:ln/>
        </p:spPr>
        <p:txBody>
          <a:bodyPr wrap="square" rtlCol="0" anchor="ctr"/>
          <a:lstStyle/>
          <a:p>
            <a:pPr marL="0" indent="0" algn="ctr">
              <a:buNone/>
            </a:pPr>
            <a:r>
              <a:rPr lang="en-US" sz="800" b="1" dirty="0">
                <a:solidFill>
                  <a:srgbClr val="1F3864"/>
                </a:solidFill>
                <a:latin typeface="Calibri" pitchFamily="34" charset="0"/>
                <a:ea typeface="Calibri" pitchFamily="34" charset="-122"/>
                <a:cs typeface="Calibri" pitchFamily="34" charset="-120"/>
              </a:rPr>
              <a:t>CROSS-VALIDATION</a:t>
            </a:r>
            <a:endParaRPr lang="en-US" sz="800" dirty="0"/>
          </a:p>
        </p:txBody>
      </p:sp>
      <p:sp>
        <p:nvSpPr>
          <p:cNvPr id="30" name="Shape 28"/>
          <p:cNvSpPr/>
          <p:nvPr/>
        </p:nvSpPr>
        <p:spPr>
          <a:xfrm>
            <a:off x="6803136" y="1005840"/>
            <a:ext cx="2029968" cy="3520440"/>
          </a:xfrm>
          <a:prstGeom prst="rect">
            <a:avLst/>
          </a:prstGeom>
          <a:solidFill>
            <a:srgbClr val="F8FAFD"/>
          </a:solidFill>
          <a:ln w="19050">
            <a:solidFill>
              <a:srgbClr val="3C3489"/>
            </a:solidFill>
            <a:prstDash val="solid"/>
          </a:ln>
        </p:spPr>
      </p:sp>
      <p:sp>
        <p:nvSpPr>
          <p:cNvPr id="31" name="Shape 29"/>
          <p:cNvSpPr/>
          <p:nvPr/>
        </p:nvSpPr>
        <p:spPr>
          <a:xfrm>
            <a:off x="6803136" y="1024128"/>
            <a:ext cx="2029968" cy="530352"/>
          </a:xfrm>
          <a:prstGeom prst="rect">
            <a:avLst/>
          </a:prstGeom>
          <a:solidFill>
            <a:srgbClr val="3C3489"/>
          </a:solidFill>
          <a:ln w="12700">
            <a:solidFill>
              <a:srgbClr val="3C3489"/>
            </a:solidFill>
            <a:prstDash val="solid"/>
          </a:ln>
        </p:spPr>
      </p:sp>
      <p:sp>
        <p:nvSpPr>
          <p:cNvPr id="32" name="Text 30"/>
          <p:cNvSpPr/>
          <p:nvPr/>
        </p:nvSpPr>
        <p:spPr>
          <a:xfrm>
            <a:off x="6803136" y="960120"/>
            <a:ext cx="2029968" cy="5943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GlobalPetrol</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Prices.com</a:t>
            </a:r>
            <a:endParaRPr lang="en-US" sz="1200" dirty="0"/>
          </a:p>
        </p:txBody>
      </p:sp>
      <p:sp>
        <p:nvSpPr>
          <p:cNvPr id="33" name="Text 31"/>
          <p:cNvSpPr/>
          <p:nvPr/>
        </p:nvSpPr>
        <p:spPr>
          <a:xfrm>
            <a:off x="6803136" y="1600200"/>
            <a:ext cx="2029968" cy="548640"/>
          </a:xfrm>
          <a:prstGeom prst="rect">
            <a:avLst/>
          </a:prstGeom>
          <a:noFill/>
          <a:ln/>
        </p:spPr>
        <p:txBody>
          <a:bodyPr wrap="square" rtlCol="0" anchor="ctr"/>
          <a:lstStyle/>
          <a:p>
            <a:pPr marL="0" indent="0" algn="ctr">
              <a:buNone/>
            </a:pPr>
            <a:r>
              <a:rPr lang="en-US" sz="1000" b="1" dirty="0">
                <a:solidFill>
                  <a:srgbClr val="3C3489"/>
                </a:solidFill>
                <a:latin typeface="Calibri" pitchFamily="34" charset="0"/>
                <a:ea typeface="Calibri" pitchFamily="34" charset="-122"/>
                <a:cs typeface="Calibri" pitchFamily="34" charset="-120"/>
              </a:rPr>
              <a:t>International</a:t>
            </a:r>
            <a:endParaRPr lang="en-US" sz="1000" dirty="0"/>
          </a:p>
          <a:p>
            <a:pPr marL="0" indent="0" algn="ctr">
              <a:buNone/>
            </a:pPr>
            <a:r>
              <a:rPr lang="en-US" sz="1000" b="1" dirty="0">
                <a:solidFill>
                  <a:srgbClr val="3C3489"/>
                </a:solidFill>
                <a:latin typeface="Calibri" pitchFamily="34" charset="0"/>
                <a:ea typeface="Calibri" pitchFamily="34" charset="-122"/>
                <a:cs typeface="Calibri" pitchFamily="34" charset="-120"/>
              </a:rPr>
              <a:t>Price Tracker</a:t>
            </a:r>
            <a:endParaRPr lang="en-US" sz="1000" dirty="0"/>
          </a:p>
        </p:txBody>
      </p:sp>
      <p:sp>
        <p:nvSpPr>
          <p:cNvPr id="34" name="Text 32"/>
          <p:cNvSpPr/>
          <p:nvPr/>
        </p:nvSpPr>
        <p:spPr>
          <a:xfrm>
            <a:off x="6803136" y="2194560"/>
            <a:ext cx="2029968" cy="1463040"/>
          </a:xfrm>
          <a:prstGeom prst="rect">
            <a:avLst/>
          </a:prstGeom>
          <a:noFill/>
          <a:ln/>
        </p:spPr>
        <p:txBody>
          <a:bodyPr wrap="square" rtlCol="0" anchor="ctr"/>
          <a:lstStyle/>
          <a:p>
            <a:pPr marL="0" indent="0" algn="ctr">
              <a:buNone/>
            </a:pPr>
            <a:r>
              <a:rPr lang="en-US" sz="1000" dirty="0">
                <a:solidFill>
                  <a:srgbClr val="404040"/>
                </a:solidFill>
                <a:latin typeface="Calibri" pitchFamily="34" charset="0"/>
                <a:ea typeface="Calibri" pitchFamily="34" charset="-122"/>
                <a:cs typeface="Calibri" pitchFamily="34" charset="-120"/>
              </a:rPr>
              <a:t>Weekly Uganda prices</a:t>
            </a:r>
            <a:endParaRPr lang="en-US" sz="1000" dirty="0"/>
          </a:p>
          <a:p>
            <a:pPr marL="0" indent="0" algn="ctr">
              <a:buNone/>
            </a:pPr>
            <a:r>
              <a:rPr lang="en-US" sz="1000" dirty="0">
                <a:solidFill>
                  <a:srgbClr val="404040"/>
                </a:solidFill>
                <a:latin typeface="Calibri" pitchFamily="34" charset="0"/>
                <a:ea typeface="Calibri" pitchFamily="34" charset="-122"/>
                <a:cs typeface="Calibri" pitchFamily="34" charset="-120"/>
              </a:rPr>
              <a:t>2025 current data</a:t>
            </a:r>
            <a:endParaRPr lang="en-US" sz="1000" dirty="0"/>
          </a:p>
          <a:p>
            <a:pPr marL="0" indent="0" algn="ctr">
              <a:buNone/>
            </a:pPr>
            <a:r>
              <a:rPr lang="en-US" sz="1000" dirty="0">
                <a:solidFill>
                  <a:srgbClr val="404040"/>
                </a:solidFill>
                <a:latin typeface="Calibri" pitchFamily="34" charset="0"/>
                <a:ea typeface="Calibri" pitchFamily="34" charset="-122"/>
                <a:cs typeface="Calibri" pitchFamily="34" charset="-120"/>
              </a:rPr>
              <a:t>Online database</a:t>
            </a:r>
            <a:endParaRPr lang="en-US" sz="1000" dirty="0"/>
          </a:p>
        </p:txBody>
      </p:sp>
      <p:sp>
        <p:nvSpPr>
          <p:cNvPr id="35" name="Shape 33"/>
          <p:cNvSpPr/>
          <p:nvPr/>
        </p:nvSpPr>
        <p:spPr>
          <a:xfrm>
            <a:off x="7077456" y="3474720"/>
            <a:ext cx="1481328" cy="274320"/>
          </a:xfrm>
          <a:prstGeom prst="rect">
            <a:avLst/>
          </a:prstGeom>
          <a:solidFill>
            <a:srgbClr val="EBF3FB"/>
          </a:solidFill>
          <a:ln w="6350">
            <a:solidFill>
              <a:srgbClr val="AACCEE"/>
            </a:solidFill>
            <a:prstDash val="solid"/>
          </a:ln>
        </p:spPr>
      </p:sp>
      <p:sp>
        <p:nvSpPr>
          <p:cNvPr id="36" name="Text 34"/>
          <p:cNvSpPr/>
          <p:nvPr/>
        </p:nvSpPr>
        <p:spPr>
          <a:xfrm>
            <a:off x="7077456" y="3474720"/>
            <a:ext cx="1481328" cy="274320"/>
          </a:xfrm>
          <a:prstGeom prst="rect">
            <a:avLst/>
          </a:prstGeom>
          <a:noFill/>
          <a:ln/>
        </p:spPr>
        <p:txBody>
          <a:bodyPr wrap="square" rtlCol="0" anchor="ctr"/>
          <a:lstStyle/>
          <a:p>
            <a:pPr marL="0" indent="0" algn="ctr">
              <a:buNone/>
            </a:pPr>
            <a:r>
              <a:rPr lang="en-US" sz="800" b="1" dirty="0">
                <a:solidFill>
                  <a:srgbClr val="1F3864"/>
                </a:solidFill>
                <a:latin typeface="Calibri" pitchFamily="34" charset="0"/>
                <a:ea typeface="Calibri" pitchFamily="34" charset="-122"/>
                <a:cs typeface="Calibri" pitchFamily="34" charset="-120"/>
              </a:rPr>
              <a:t>SUPPLEMENTARY</a:t>
            </a:r>
            <a:endParaRPr lang="en-US" sz="800" dirty="0"/>
          </a:p>
        </p:txBody>
      </p:sp>
      <p:sp>
        <p:nvSpPr>
          <p:cNvPr id="37" name="Shape 35"/>
          <p:cNvSpPr/>
          <p:nvPr/>
        </p:nvSpPr>
        <p:spPr>
          <a:xfrm>
            <a:off x="274320" y="4617720"/>
            <a:ext cx="8595360" cy="438912"/>
          </a:xfrm>
          <a:prstGeom prst="rect">
            <a:avLst/>
          </a:prstGeom>
          <a:solidFill>
            <a:srgbClr val="FFF2CC"/>
          </a:solidFill>
          <a:ln w="6350">
            <a:solidFill>
              <a:srgbClr val="E8C87A"/>
            </a:solidFill>
            <a:prstDash val="solid"/>
          </a:ln>
        </p:spPr>
      </p:sp>
      <p:sp>
        <p:nvSpPr>
          <p:cNvPr id="38" name="Text 36"/>
          <p:cNvSpPr/>
          <p:nvPr/>
        </p:nvSpPr>
        <p:spPr>
          <a:xfrm>
            <a:off x="365760" y="4636008"/>
            <a:ext cx="8412480" cy="402336"/>
          </a:xfrm>
          <a:prstGeom prst="rect">
            <a:avLst/>
          </a:prstGeom>
          <a:noFill/>
          <a:ln/>
        </p:spPr>
        <p:txBody>
          <a:bodyPr wrap="square" rtlCol="0" anchor="ctr"/>
          <a:lstStyle/>
          <a:p>
            <a:pPr marL="0" indent="0">
              <a:buNone/>
            </a:pPr>
            <a:r>
              <a:rPr lang="en-US" sz="900" dirty="0">
                <a:solidFill>
                  <a:srgbClr val="843C0C"/>
                </a:solidFill>
                <a:latin typeface="Calibri" pitchFamily="34" charset="0"/>
                <a:ea typeface="Calibri" pitchFamily="34" charset="-122"/>
                <a:cs typeface="Calibri" pitchFamily="34" charset="-120"/>
              </a:rPr>
              <a:t>Methodology: UBOS national monthly averages used as baselines. Station-level prices derived by applying verified regional transport cost premiums — Central 0%, Eastern +3.5%, Western +6.5%, Northern +9.5% — consistent with Teravaninthorn &amp; Raballand (2009) World Bank transport cost research.</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F3864"/>
          </a:solidFill>
          <a:ln w="12700">
            <a:solidFill>
              <a:srgbClr val="1F3864"/>
            </a:solidFill>
            <a:prstDash val="solid"/>
          </a:ln>
        </p:spPr>
      </p:sp>
      <p:sp>
        <p:nvSpPr>
          <p:cNvPr id="3" name="Shape 1"/>
          <p:cNvSpPr/>
          <p:nvPr/>
        </p:nvSpPr>
        <p:spPr>
          <a:xfrm>
            <a:off x="0" y="777240"/>
            <a:ext cx="9144000" cy="54864"/>
          </a:xfrm>
          <a:prstGeom prst="rect">
            <a:avLst/>
          </a:prstGeom>
          <a:solidFill>
            <a:srgbClr val="C9A84C"/>
          </a:solidFill>
          <a:ln w="12700">
            <a:solidFill>
              <a:srgbClr val="C9A84C"/>
            </a:solidFill>
            <a:prstDash val="solid"/>
          </a:ln>
        </p:spPr>
      </p:sp>
      <p:sp>
        <p:nvSpPr>
          <p:cNvPr id="4" name="Text 2"/>
          <p:cNvSpPr/>
          <p:nvPr/>
        </p:nvSpPr>
        <p:spPr>
          <a:xfrm>
            <a:off x="274320" y="36576"/>
            <a:ext cx="8595360" cy="713232"/>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Data Warehouse Design — Star Schema</a:t>
            </a:r>
            <a:endParaRPr lang="en-US" sz="2000" dirty="0"/>
          </a:p>
        </p:txBody>
      </p:sp>
      <p:sp>
        <p:nvSpPr>
          <p:cNvPr id="5" name="Text 3"/>
          <p:cNvSpPr/>
          <p:nvPr/>
        </p:nvSpPr>
        <p:spPr>
          <a:xfrm>
            <a:off x="274320" y="804672"/>
            <a:ext cx="8595360" cy="274320"/>
          </a:xfrm>
          <a:prstGeom prst="rect">
            <a:avLst/>
          </a:prstGeom>
          <a:noFill/>
          <a:ln/>
        </p:spPr>
        <p:txBody>
          <a:bodyPr wrap="square" rtlCol="0" anchor="ctr"/>
          <a:lstStyle/>
          <a:p>
            <a:pPr marL="0" indent="0">
              <a:buNone/>
            </a:pPr>
            <a:r>
              <a:rPr lang="en-US" sz="1100" i="1" dirty="0">
                <a:solidFill>
                  <a:srgbClr val="888888"/>
                </a:solidFill>
                <a:latin typeface="Calibri" pitchFamily="34" charset="0"/>
                <a:ea typeface="Calibri" pitchFamily="34" charset="-122"/>
                <a:cs typeface="Calibri" pitchFamily="34" charset="-120"/>
              </a:rPr>
              <a:t>One fact table connected to four dimension tables — Kimball dimensional modelling</a:t>
            </a:r>
            <a:endParaRPr lang="en-US" sz="1100" dirty="0"/>
          </a:p>
        </p:txBody>
      </p:sp>
      <p:sp>
        <p:nvSpPr>
          <p:cNvPr id="6" name="Shape 4"/>
          <p:cNvSpPr/>
          <p:nvPr/>
        </p:nvSpPr>
        <p:spPr>
          <a:xfrm>
            <a:off x="0" y="4892040"/>
            <a:ext cx="9144000" cy="256032"/>
          </a:xfrm>
          <a:prstGeom prst="rect">
            <a:avLst/>
          </a:prstGeom>
          <a:solidFill>
            <a:srgbClr val="F0F0F0"/>
          </a:solidFill>
          <a:ln w="12700">
            <a:solidFill>
              <a:srgbClr val="DDDDDD"/>
            </a:solidFill>
            <a:prstDash val="solid"/>
          </a:ln>
        </p:spPr>
      </p:sp>
      <p:sp>
        <p:nvSpPr>
          <p:cNvPr id="7" name="Text 5"/>
          <p:cNvSpPr/>
          <p:nvPr/>
        </p:nvSpPr>
        <p:spPr>
          <a:xfrm>
            <a:off x="182880" y="4910328"/>
            <a:ext cx="7315200" cy="201168"/>
          </a:xfrm>
          <a:prstGeom prst="rect">
            <a:avLst/>
          </a:prstGeom>
          <a:noFill/>
          <a:ln/>
        </p:spPr>
        <p:txBody>
          <a:bodyPr wrap="square" rtlCol="0" anchor="ctr"/>
          <a:lstStyle/>
          <a:p>
            <a:pPr marL="0" indent="0">
              <a:buNone/>
            </a:pPr>
            <a:r>
              <a:rPr lang="en-US" sz="800" dirty="0">
                <a:solidFill>
                  <a:srgbClr val="888888"/>
                </a:solidFill>
                <a:latin typeface="Calibri" pitchFamily="34" charset="0"/>
                <a:ea typeface="Calibri" pitchFamily="34" charset="-122"/>
                <a:cs typeface="Calibri" pitchFamily="34" charset="-120"/>
              </a:rPr>
              <a:t>Uganda Fuel Price &amp; Consumption Data Warehouse  |  Group 4  |  College of Computing and Informatics Technology</a:t>
            </a:r>
            <a:endParaRPr lang="en-US" sz="800" dirty="0"/>
          </a:p>
        </p:txBody>
      </p:sp>
      <p:sp>
        <p:nvSpPr>
          <p:cNvPr id="8" name="Text 6"/>
          <p:cNvSpPr/>
          <p:nvPr/>
        </p:nvSpPr>
        <p:spPr>
          <a:xfrm>
            <a:off x="8229600" y="4910328"/>
            <a:ext cx="731520" cy="201168"/>
          </a:xfrm>
          <a:prstGeom prst="rect">
            <a:avLst/>
          </a:prstGeom>
          <a:noFill/>
          <a:ln/>
        </p:spPr>
        <p:txBody>
          <a:bodyPr wrap="square" rtlCol="0" anchor="ctr"/>
          <a:lstStyle/>
          <a:p>
            <a:pPr marL="0" indent="0" algn="r">
              <a:buNone/>
            </a:pPr>
            <a:r>
              <a:rPr lang="en-US" sz="800" dirty="0">
                <a:solidFill>
                  <a:srgbClr val="888888"/>
                </a:solidFill>
                <a:latin typeface="Calibri" pitchFamily="34" charset="0"/>
                <a:ea typeface="Calibri" pitchFamily="34" charset="-122"/>
                <a:cs typeface="Calibri" pitchFamily="34" charset="-120"/>
              </a:rPr>
              <a:t>6 / 18</a:t>
            </a:r>
            <a:endParaRPr lang="en-US" sz="800" dirty="0"/>
          </a:p>
        </p:txBody>
      </p:sp>
      <p:sp>
        <p:nvSpPr>
          <p:cNvPr id="9" name="Shape 7"/>
          <p:cNvSpPr/>
          <p:nvPr/>
        </p:nvSpPr>
        <p:spPr>
          <a:xfrm>
            <a:off x="3108960" y="1691640"/>
            <a:ext cx="2926080" cy="2103120"/>
          </a:xfrm>
          <a:prstGeom prst="rect">
            <a:avLst/>
          </a:prstGeom>
          <a:solidFill>
            <a:srgbClr val="1F3864"/>
          </a:solidFill>
          <a:ln w="12700">
            <a:solidFill>
              <a:srgbClr val="1F3864"/>
            </a:solidFill>
            <a:prstDash val="solid"/>
          </a:ln>
        </p:spPr>
      </p:sp>
      <p:sp>
        <p:nvSpPr>
          <p:cNvPr id="10" name="Text 8"/>
          <p:cNvSpPr/>
          <p:nvPr/>
        </p:nvSpPr>
        <p:spPr>
          <a:xfrm>
            <a:off x="3108960" y="1691640"/>
            <a:ext cx="2926080" cy="41148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fact_fuel_prices</a:t>
            </a:r>
            <a:endParaRPr lang="en-US" sz="1200" dirty="0"/>
          </a:p>
        </p:txBody>
      </p:sp>
      <p:sp>
        <p:nvSpPr>
          <p:cNvPr id="11" name="Text 9"/>
          <p:cNvSpPr/>
          <p:nvPr/>
        </p:nvSpPr>
        <p:spPr>
          <a:xfrm>
            <a:off x="3154680" y="2121408"/>
            <a:ext cx="2834640" cy="1627632"/>
          </a:xfrm>
          <a:prstGeom prst="rect">
            <a:avLst/>
          </a:prstGeom>
          <a:noFill/>
          <a:ln/>
        </p:spPr>
        <p:txBody>
          <a:bodyPr wrap="square" rtlCol="0" anchor="ctr"/>
          <a:lstStyle/>
          <a:p>
            <a:pPr marL="0" indent="0" algn="ctr">
              <a:buNone/>
            </a:pPr>
            <a:r>
              <a:rPr lang="en-US" sz="900" dirty="0">
                <a:solidFill>
                  <a:srgbClr val="A0C0E0"/>
                </a:solidFill>
                <a:latin typeface="Calibri" pitchFamily="34" charset="0"/>
                <a:ea typeface="Calibri" pitchFamily="34" charset="-122"/>
                <a:cs typeface="Calibri" pitchFamily="34" charset="-120"/>
              </a:rPr>
              <a:t>Fact_ID (PK)</a:t>
            </a:r>
            <a:endParaRPr lang="en-US" sz="900" dirty="0"/>
          </a:p>
          <a:p>
            <a:pPr marL="0" indent="0" algn="ctr">
              <a:buNone/>
            </a:pPr>
            <a:r>
              <a:rPr lang="en-US" sz="900" dirty="0">
                <a:solidFill>
                  <a:srgbClr val="A0C0E0"/>
                </a:solidFill>
                <a:latin typeface="Calibri" pitchFamily="34" charset="0"/>
                <a:ea typeface="Calibri" pitchFamily="34" charset="-122"/>
                <a:cs typeface="Calibri" pitchFamily="34" charset="-120"/>
              </a:rPr>
              <a:t>Date_ID (FK) → dim_date</a:t>
            </a:r>
            <a:endParaRPr lang="en-US" sz="900" dirty="0"/>
          </a:p>
          <a:p>
            <a:pPr marL="0" indent="0" algn="ctr">
              <a:buNone/>
            </a:pPr>
            <a:r>
              <a:rPr lang="en-US" sz="900" dirty="0">
                <a:solidFill>
                  <a:srgbClr val="A0C0E0"/>
                </a:solidFill>
                <a:latin typeface="Calibri" pitchFamily="34" charset="0"/>
                <a:ea typeface="Calibri" pitchFamily="34" charset="-122"/>
                <a:cs typeface="Calibri" pitchFamily="34" charset="-120"/>
              </a:rPr>
              <a:t>Station_ID (FK) → dim_stations</a:t>
            </a:r>
            <a:endParaRPr lang="en-US" sz="900" dirty="0"/>
          </a:p>
          <a:p>
            <a:pPr marL="0" indent="0" algn="ctr">
              <a:buNone/>
            </a:pPr>
            <a:r>
              <a:rPr lang="en-US" sz="900" dirty="0">
                <a:solidFill>
                  <a:srgbClr val="A0C0E0"/>
                </a:solidFill>
                <a:latin typeface="Calibri" pitchFamily="34" charset="0"/>
                <a:ea typeface="Calibri" pitchFamily="34" charset="-122"/>
                <a:cs typeface="Calibri" pitchFamily="34" charset="-120"/>
              </a:rPr>
              <a:t>Fuel_Type_ID (FK) → dim_fuel_types</a:t>
            </a:r>
            <a:endParaRPr lang="en-US" sz="900" dirty="0"/>
          </a:p>
          <a:p>
            <a:pPr marL="0" indent="0" algn="ctr">
              <a:buNone/>
            </a:pPr>
            <a:r>
              <a:rPr lang="en-US" sz="900" dirty="0">
                <a:solidFill>
                  <a:srgbClr val="A0C0E0"/>
                </a:solidFill>
                <a:latin typeface="Calibri" pitchFamily="34" charset="0"/>
                <a:ea typeface="Calibri" pitchFamily="34" charset="-122"/>
                <a:cs typeface="Calibri" pitchFamily="34" charset="-120"/>
              </a:rPr>
              <a:t>Region_ID (FK) → dim_regions</a:t>
            </a:r>
            <a:endParaRPr lang="en-US" sz="900" dirty="0"/>
          </a:p>
          <a:p>
            <a:pPr marL="0" indent="0" algn="ctr">
              <a:buNone/>
            </a:pPr>
            <a:r>
              <a:rPr lang="en-US" sz="900" dirty="0">
                <a:solidFill>
                  <a:srgbClr val="A0C0E0"/>
                </a:solidFill>
                <a:latin typeface="Calibri" pitchFamily="34" charset="0"/>
                <a:ea typeface="Calibri" pitchFamily="34" charset="-122"/>
                <a:cs typeface="Calibri" pitchFamily="34" charset="-120"/>
              </a:rPr>
              <a:t>Price_UGX  |  Volume_Litres</a:t>
            </a:r>
            <a:endParaRPr lang="en-US" sz="900" dirty="0"/>
          </a:p>
          <a:p>
            <a:pPr marL="0" indent="0" algn="ctr">
              <a:buNone/>
            </a:pPr>
            <a:r>
              <a:rPr lang="en-US" sz="900" dirty="0">
                <a:solidFill>
                  <a:srgbClr val="A0C0E0"/>
                </a:solidFill>
                <a:latin typeface="Calibri" pitchFamily="34" charset="0"/>
                <a:ea typeface="Calibri" pitchFamily="34" charset="-122"/>
                <a:cs typeface="Calibri" pitchFamily="34" charset="-120"/>
              </a:rPr>
              <a:t>Revenue_UGX  |  Price_Change_%</a:t>
            </a:r>
            <a:endParaRPr lang="en-US" sz="900" dirty="0"/>
          </a:p>
        </p:txBody>
      </p:sp>
      <p:sp>
        <p:nvSpPr>
          <p:cNvPr id="12" name="Shape 10"/>
          <p:cNvSpPr/>
          <p:nvPr/>
        </p:nvSpPr>
        <p:spPr>
          <a:xfrm>
            <a:off x="3703320" y="3584448"/>
            <a:ext cx="1737360" cy="274320"/>
          </a:xfrm>
          <a:prstGeom prst="rect">
            <a:avLst/>
          </a:prstGeom>
          <a:solidFill>
            <a:srgbClr val="C9A84C"/>
          </a:solidFill>
          <a:ln w="12700">
            <a:solidFill>
              <a:srgbClr val="C9A84C"/>
            </a:solidFill>
            <a:prstDash val="solid"/>
          </a:ln>
        </p:spPr>
      </p:sp>
      <p:sp>
        <p:nvSpPr>
          <p:cNvPr id="13" name="Text 11"/>
          <p:cNvSpPr/>
          <p:nvPr/>
        </p:nvSpPr>
        <p:spPr>
          <a:xfrm>
            <a:off x="3703320" y="3584448"/>
            <a:ext cx="1737360" cy="274320"/>
          </a:xfrm>
          <a:prstGeom prst="rect">
            <a:avLst/>
          </a:prstGeom>
          <a:noFill/>
          <a:ln/>
        </p:spPr>
        <p:txBody>
          <a:bodyPr wrap="square" rtlCol="0" anchor="ctr"/>
          <a:lstStyle/>
          <a:p>
            <a:pPr marL="0" indent="0" algn="ctr">
              <a:buNone/>
            </a:pPr>
            <a:r>
              <a:rPr lang="en-US" sz="900" b="1" dirty="0">
                <a:solidFill>
                  <a:srgbClr val="1F3864"/>
                </a:solidFill>
                <a:latin typeface="Calibri" pitchFamily="34" charset="0"/>
                <a:ea typeface="Calibri" pitchFamily="34" charset="-122"/>
                <a:cs typeface="Calibri" pitchFamily="34" charset="-120"/>
              </a:rPr>
              <a:t>3,240 fact rows</a:t>
            </a:r>
            <a:endParaRPr lang="en-US" sz="900" dirty="0"/>
          </a:p>
        </p:txBody>
      </p:sp>
      <p:sp>
        <p:nvSpPr>
          <p:cNvPr id="14" name="Shape 12"/>
          <p:cNvSpPr/>
          <p:nvPr/>
        </p:nvSpPr>
        <p:spPr>
          <a:xfrm>
            <a:off x="137160" y="841248"/>
            <a:ext cx="2651760" cy="1600200"/>
          </a:xfrm>
          <a:prstGeom prst="rect">
            <a:avLst/>
          </a:prstGeom>
          <a:solidFill>
            <a:srgbClr val="F0F5FF"/>
          </a:solidFill>
          <a:ln w="19050">
            <a:solidFill>
              <a:srgbClr val="0F6E56"/>
            </a:solidFill>
            <a:prstDash val="solid"/>
          </a:ln>
        </p:spPr>
      </p:sp>
      <p:sp>
        <p:nvSpPr>
          <p:cNvPr id="15" name="Shape 13"/>
          <p:cNvSpPr/>
          <p:nvPr/>
        </p:nvSpPr>
        <p:spPr>
          <a:xfrm>
            <a:off x="137160" y="841248"/>
            <a:ext cx="2651760" cy="365760"/>
          </a:xfrm>
          <a:prstGeom prst="rect">
            <a:avLst/>
          </a:prstGeom>
          <a:solidFill>
            <a:srgbClr val="0F6E56"/>
          </a:solidFill>
          <a:ln w="12700">
            <a:solidFill>
              <a:srgbClr val="0F6E56"/>
            </a:solidFill>
            <a:prstDash val="solid"/>
          </a:ln>
        </p:spPr>
      </p:sp>
      <p:sp>
        <p:nvSpPr>
          <p:cNvPr id="16" name="Text 14"/>
          <p:cNvSpPr/>
          <p:nvPr/>
        </p:nvSpPr>
        <p:spPr>
          <a:xfrm>
            <a:off x="137160" y="841248"/>
            <a:ext cx="2651760"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dim_date</a:t>
            </a:r>
            <a:endParaRPr lang="en-US" sz="1100" dirty="0"/>
          </a:p>
        </p:txBody>
      </p:sp>
      <p:sp>
        <p:nvSpPr>
          <p:cNvPr id="17" name="Text 15"/>
          <p:cNvSpPr/>
          <p:nvPr/>
        </p:nvSpPr>
        <p:spPr>
          <a:xfrm>
            <a:off x="137160" y="1243584"/>
            <a:ext cx="2651760" cy="1152144"/>
          </a:xfrm>
          <a:prstGeom prst="rect">
            <a:avLst/>
          </a:prstGeom>
          <a:noFill/>
          <a:ln/>
        </p:spPr>
        <p:txBody>
          <a:bodyPr wrap="square" rtlCol="0" anchor="ctr"/>
          <a:lstStyle/>
          <a:p>
            <a:pPr marL="0" indent="0" algn="ctr">
              <a:buNone/>
            </a:pPr>
            <a:r>
              <a:rPr lang="en-US" sz="900" dirty="0">
                <a:solidFill>
                  <a:srgbClr val="404040"/>
                </a:solidFill>
                <a:latin typeface="Calibri" pitchFamily="34" charset="0"/>
                <a:ea typeface="Calibri" pitchFamily="34" charset="-122"/>
                <a:cs typeface="Calibri" pitchFamily="34" charset="-120"/>
              </a:rPr>
              <a:t>Date_ID (PK)</a:t>
            </a:r>
            <a:endParaRPr lang="en-US" sz="900" dirty="0"/>
          </a:p>
          <a:p>
            <a:pPr marL="0" indent="0" algn="ctr">
              <a:buNone/>
            </a:pPr>
            <a:r>
              <a:rPr lang="en-US" sz="900" dirty="0">
                <a:solidFill>
                  <a:srgbClr val="404040"/>
                </a:solidFill>
                <a:latin typeface="Calibri" pitchFamily="34" charset="0"/>
                <a:ea typeface="Calibri" pitchFamily="34" charset="-122"/>
                <a:cs typeface="Calibri" pitchFamily="34" charset="-120"/>
              </a:rPr>
              <a:t>Year | Quarter | Month</a:t>
            </a:r>
            <a:endParaRPr lang="en-US" sz="900" dirty="0"/>
          </a:p>
          <a:p>
            <a:pPr marL="0" indent="0" algn="ctr">
              <a:buNone/>
            </a:pPr>
            <a:r>
              <a:rPr lang="en-US" sz="900" dirty="0">
                <a:solidFill>
                  <a:srgbClr val="404040"/>
                </a:solidFill>
                <a:latin typeface="Calibri" pitchFamily="34" charset="0"/>
                <a:ea typeface="Calibri" pitchFamily="34" charset="-122"/>
                <a:cs typeface="Calibri" pitchFamily="34" charset="-120"/>
              </a:rPr>
              <a:t>Season | Financial Year</a:t>
            </a:r>
            <a:endParaRPr lang="en-US" sz="900" dirty="0"/>
          </a:p>
          <a:p>
            <a:pPr marL="0" indent="0" algn="ctr">
              <a:buNone/>
            </a:pPr>
            <a:r>
              <a:rPr lang="en-US" sz="900" dirty="0">
                <a:solidFill>
                  <a:srgbClr val="404040"/>
                </a:solidFill>
                <a:latin typeface="Calibri" pitchFamily="34" charset="0"/>
                <a:ea typeface="Calibri" pitchFamily="34" charset="-122"/>
                <a:cs typeface="Calibri" pitchFamily="34" charset="-120"/>
              </a:rPr>
              <a:t>Is_UNOC_Era flag</a:t>
            </a:r>
            <a:endParaRPr lang="en-US" sz="900" dirty="0"/>
          </a:p>
          <a:p>
            <a:pPr marL="0" indent="0" algn="ctr">
              <a:buNone/>
            </a:pPr>
            <a:r>
              <a:rPr lang="en-US" sz="900" dirty="0">
                <a:solidFill>
                  <a:srgbClr val="404040"/>
                </a:solidFill>
                <a:latin typeface="Calibri" pitchFamily="34" charset="0"/>
                <a:ea typeface="Calibri" pitchFamily="34" charset="-122"/>
                <a:cs typeface="Calibri" pitchFamily="34" charset="-120"/>
              </a:rPr>
              <a:t>54 rows</a:t>
            </a:r>
            <a:endParaRPr lang="en-US" sz="900" dirty="0"/>
          </a:p>
        </p:txBody>
      </p:sp>
      <p:sp>
        <p:nvSpPr>
          <p:cNvPr id="18" name="Shape 16"/>
          <p:cNvSpPr/>
          <p:nvPr/>
        </p:nvSpPr>
        <p:spPr>
          <a:xfrm>
            <a:off x="137160" y="3154680"/>
            <a:ext cx="2651760" cy="1600200"/>
          </a:xfrm>
          <a:prstGeom prst="rect">
            <a:avLst/>
          </a:prstGeom>
          <a:solidFill>
            <a:srgbClr val="F0F5FF"/>
          </a:solidFill>
          <a:ln w="19050">
            <a:solidFill>
              <a:srgbClr val="843C0C"/>
            </a:solidFill>
            <a:prstDash val="solid"/>
          </a:ln>
        </p:spPr>
      </p:sp>
      <p:sp>
        <p:nvSpPr>
          <p:cNvPr id="19" name="Shape 17"/>
          <p:cNvSpPr/>
          <p:nvPr/>
        </p:nvSpPr>
        <p:spPr>
          <a:xfrm>
            <a:off x="137160" y="3154680"/>
            <a:ext cx="2651760" cy="365760"/>
          </a:xfrm>
          <a:prstGeom prst="rect">
            <a:avLst/>
          </a:prstGeom>
          <a:solidFill>
            <a:srgbClr val="843C0C"/>
          </a:solidFill>
          <a:ln w="12700">
            <a:solidFill>
              <a:srgbClr val="843C0C"/>
            </a:solidFill>
            <a:prstDash val="solid"/>
          </a:ln>
        </p:spPr>
      </p:sp>
      <p:sp>
        <p:nvSpPr>
          <p:cNvPr id="20" name="Text 18"/>
          <p:cNvSpPr/>
          <p:nvPr/>
        </p:nvSpPr>
        <p:spPr>
          <a:xfrm>
            <a:off x="137160" y="3154680"/>
            <a:ext cx="2651760"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dim_regions</a:t>
            </a:r>
            <a:endParaRPr lang="en-US" sz="1100" dirty="0"/>
          </a:p>
        </p:txBody>
      </p:sp>
      <p:sp>
        <p:nvSpPr>
          <p:cNvPr id="21" name="Text 19"/>
          <p:cNvSpPr/>
          <p:nvPr/>
        </p:nvSpPr>
        <p:spPr>
          <a:xfrm>
            <a:off x="137160" y="3557016"/>
            <a:ext cx="2651760" cy="1152144"/>
          </a:xfrm>
          <a:prstGeom prst="rect">
            <a:avLst/>
          </a:prstGeom>
          <a:noFill/>
          <a:ln/>
        </p:spPr>
        <p:txBody>
          <a:bodyPr wrap="square" rtlCol="0" anchor="ctr"/>
          <a:lstStyle/>
          <a:p>
            <a:pPr marL="0" indent="0" algn="ctr">
              <a:buNone/>
            </a:pPr>
            <a:r>
              <a:rPr lang="en-US" sz="900" dirty="0">
                <a:solidFill>
                  <a:srgbClr val="404040"/>
                </a:solidFill>
                <a:latin typeface="Calibri" pitchFamily="34" charset="0"/>
                <a:ea typeface="Calibri" pitchFamily="34" charset="-122"/>
                <a:cs typeface="Calibri" pitchFamily="34" charset="-120"/>
              </a:rPr>
              <a:t>Region_ID (PK)</a:t>
            </a:r>
            <a:endParaRPr lang="en-US" sz="900" dirty="0"/>
          </a:p>
          <a:p>
            <a:pPr marL="0" indent="0" algn="ctr">
              <a:buNone/>
            </a:pPr>
            <a:r>
              <a:rPr lang="en-US" sz="900" dirty="0">
                <a:solidFill>
                  <a:srgbClr val="404040"/>
                </a:solidFill>
                <a:latin typeface="Calibri" pitchFamily="34" charset="0"/>
                <a:ea typeface="Calibri" pitchFamily="34" charset="-122"/>
                <a:cs typeface="Calibri" pitchFamily="34" charset="-120"/>
              </a:rPr>
              <a:t>Region Name | District</a:t>
            </a:r>
            <a:endParaRPr lang="en-US" sz="900" dirty="0"/>
          </a:p>
          <a:p>
            <a:pPr marL="0" indent="0" algn="ctr">
              <a:buNone/>
            </a:pPr>
            <a:r>
              <a:rPr lang="en-US" sz="900" dirty="0">
                <a:solidFill>
                  <a:srgbClr val="404040"/>
                </a:solidFill>
                <a:latin typeface="Calibri" pitchFamily="34" charset="0"/>
                <a:ea typeface="Calibri" pitchFamily="34" charset="-122"/>
                <a:cs typeface="Calibri" pitchFamily="34" charset="-120"/>
              </a:rPr>
              <a:t>Distance from Kampala</a:t>
            </a:r>
            <a:endParaRPr lang="en-US" sz="900" dirty="0"/>
          </a:p>
          <a:p>
            <a:pPr marL="0" indent="0" algn="ctr">
              <a:buNone/>
            </a:pPr>
            <a:r>
              <a:rPr lang="en-US" sz="900" dirty="0">
                <a:solidFill>
                  <a:srgbClr val="404040"/>
                </a:solidFill>
                <a:latin typeface="Calibri" pitchFamily="34" charset="0"/>
                <a:ea typeface="Calibri" pitchFamily="34" charset="-122"/>
                <a:cs typeface="Calibri" pitchFamily="34" charset="-120"/>
              </a:rPr>
              <a:t>Road Condition</a:t>
            </a:r>
            <a:endParaRPr lang="en-US" sz="900" dirty="0"/>
          </a:p>
          <a:p>
            <a:pPr marL="0" indent="0" algn="ctr">
              <a:buNone/>
            </a:pPr>
            <a:r>
              <a:rPr lang="en-US" sz="900" dirty="0">
                <a:solidFill>
                  <a:srgbClr val="404040"/>
                </a:solidFill>
                <a:latin typeface="Calibri" pitchFamily="34" charset="0"/>
                <a:ea typeface="Calibri" pitchFamily="34" charset="-122"/>
                <a:cs typeface="Calibri" pitchFamily="34" charset="-120"/>
              </a:rPr>
              <a:t>4 rows (13 districts)</a:t>
            </a:r>
            <a:endParaRPr lang="en-US" sz="900" dirty="0"/>
          </a:p>
        </p:txBody>
      </p:sp>
      <p:sp>
        <p:nvSpPr>
          <p:cNvPr id="22" name="Shape 20"/>
          <p:cNvSpPr/>
          <p:nvPr/>
        </p:nvSpPr>
        <p:spPr>
          <a:xfrm>
            <a:off x="6263640" y="841248"/>
            <a:ext cx="2651760" cy="1600200"/>
          </a:xfrm>
          <a:prstGeom prst="rect">
            <a:avLst/>
          </a:prstGeom>
          <a:solidFill>
            <a:srgbClr val="F0F5FF"/>
          </a:solidFill>
          <a:ln w="19050">
            <a:solidFill>
              <a:srgbClr val="3C3489"/>
            </a:solidFill>
            <a:prstDash val="solid"/>
          </a:ln>
        </p:spPr>
      </p:sp>
      <p:sp>
        <p:nvSpPr>
          <p:cNvPr id="23" name="Shape 21"/>
          <p:cNvSpPr/>
          <p:nvPr/>
        </p:nvSpPr>
        <p:spPr>
          <a:xfrm>
            <a:off x="6263640" y="841248"/>
            <a:ext cx="2651760" cy="365760"/>
          </a:xfrm>
          <a:prstGeom prst="rect">
            <a:avLst/>
          </a:prstGeom>
          <a:solidFill>
            <a:srgbClr val="3C3489"/>
          </a:solidFill>
          <a:ln w="12700">
            <a:solidFill>
              <a:srgbClr val="3C3489"/>
            </a:solidFill>
            <a:prstDash val="solid"/>
          </a:ln>
        </p:spPr>
      </p:sp>
      <p:sp>
        <p:nvSpPr>
          <p:cNvPr id="24" name="Text 22"/>
          <p:cNvSpPr/>
          <p:nvPr/>
        </p:nvSpPr>
        <p:spPr>
          <a:xfrm>
            <a:off x="6263640" y="841248"/>
            <a:ext cx="2651760"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dim_stations</a:t>
            </a:r>
            <a:endParaRPr lang="en-US" sz="1100" dirty="0"/>
          </a:p>
        </p:txBody>
      </p:sp>
      <p:sp>
        <p:nvSpPr>
          <p:cNvPr id="25" name="Text 23"/>
          <p:cNvSpPr/>
          <p:nvPr/>
        </p:nvSpPr>
        <p:spPr>
          <a:xfrm>
            <a:off x="6263640" y="1243584"/>
            <a:ext cx="2651760" cy="1152144"/>
          </a:xfrm>
          <a:prstGeom prst="rect">
            <a:avLst/>
          </a:prstGeom>
          <a:noFill/>
          <a:ln/>
        </p:spPr>
        <p:txBody>
          <a:bodyPr wrap="square" rtlCol="0" anchor="ctr"/>
          <a:lstStyle/>
          <a:p>
            <a:pPr marL="0" indent="0" algn="ctr">
              <a:buNone/>
            </a:pPr>
            <a:r>
              <a:rPr lang="en-US" sz="900" dirty="0">
                <a:solidFill>
                  <a:srgbClr val="404040"/>
                </a:solidFill>
                <a:latin typeface="Calibri" pitchFamily="34" charset="0"/>
                <a:ea typeface="Calibri" pitchFamily="34" charset="-122"/>
                <a:cs typeface="Calibri" pitchFamily="34" charset="-120"/>
              </a:rPr>
              <a:t>Station_ID (PK)</a:t>
            </a:r>
            <a:endParaRPr lang="en-US" sz="900" dirty="0"/>
          </a:p>
          <a:p>
            <a:pPr marL="0" indent="0" algn="ctr">
              <a:buNone/>
            </a:pPr>
            <a:r>
              <a:rPr lang="en-US" sz="900" dirty="0">
                <a:solidFill>
                  <a:srgbClr val="404040"/>
                </a:solidFill>
                <a:latin typeface="Calibri" pitchFamily="34" charset="0"/>
                <a:ea typeface="Calibri" pitchFamily="34" charset="-122"/>
                <a:cs typeface="Calibri" pitchFamily="34" charset="-120"/>
              </a:rPr>
              <a:t>Brand | City | Region</a:t>
            </a:r>
            <a:endParaRPr lang="en-US" sz="900" dirty="0"/>
          </a:p>
          <a:p>
            <a:pPr marL="0" indent="0" algn="ctr">
              <a:buNone/>
            </a:pPr>
            <a:r>
              <a:rPr lang="en-US" sz="900" dirty="0">
                <a:solidFill>
                  <a:srgbClr val="404040"/>
                </a:solidFill>
                <a:latin typeface="Calibri" pitchFamily="34" charset="0"/>
                <a:ea typeface="Calibri" pitchFamily="34" charset="-122"/>
                <a:cs typeface="Calibri" pitchFamily="34" charset="-120"/>
              </a:rPr>
              <a:t>Latitude | Longitude</a:t>
            </a:r>
            <a:endParaRPr lang="en-US" sz="900" dirty="0"/>
          </a:p>
          <a:p>
            <a:pPr marL="0" indent="0" algn="ctr">
              <a:buNone/>
            </a:pPr>
            <a:r>
              <a:rPr lang="en-US" sz="900" dirty="0">
                <a:solidFill>
                  <a:srgbClr val="404040"/>
                </a:solidFill>
                <a:latin typeface="Calibri" pitchFamily="34" charset="0"/>
                <a:ea typeface="Calibri" pitchFamily="34" charset="-122"/>
                <a:cs typeface="Calibri" pitchFamily="34" charset="-120"/>
              </a:rPr>
              <a:t>Urban/Rural | Year Opened</a:t>
            </a:r>
            <a:endParaRPr lang="en-US" sz="900" dirty="0"/>
          </a:p>
          <a:p>
            <a:pPr marL="0" indent="0" algn="ctr">
              <a:buNone/>
            </a:pPr>
            <a:r>
              <a:rPr lang="en-US" sz="900" dirty="0">
                <a:solidFill>
                  <a:srgbClr val="404040"/>
                </a:solidFill>
                <a:latin typeface="Calibri" pitchFamily="34" charset="0"/>
                <a:ea typeface="Calibri" pitchFamily="34" charset="-122"/>
                <a:cs typeface="Calibri" pitchFamily="34" charset="-120"/>
              </a:rPr>
              <a:t>20 rows</a:t>
            </a:r>
            <a:endParaRPr lang="en-US" sz="900" dirty="0"/>
          </a:p>
        </p:txBody>
      </p:sp>
      <p:sp>
        <p:nvSpPr>
          <p:cNvPr id="26" name="Shape 24"/>
          <p:cNvSpPr/>
          <p:nvPr/>
        </p:nvSpPr>
        <p:spPr>
          <a:xfrm>
            <a:off x="6263640" y="3154680"/>
            <a:ext cx="2651760" cy="1600200"/>
          </a:xfrm>
          <a:prstGeom prst="rect">
            <a:avLst/>
          </a:prstGeom>
          <a:solidFill>
            <a:srgbClr val="F0F5FF"/>
          </a:solidFill>
          <a:ln w="19050">
            <a:solidFill>
              <a:srgbClr val="375623"/>
            </a:solidFill>
            <a:prstDash val="solid"/>
          </a:ln>
        </p:spPr>
      </p:sp>
      <p:sp>
        <p:nvSpPr>
          <p:cNvPr id="27" name="Shape 25"/>
          <p:cNvSpPr/>
          <p:nvPr/>
        </p:nvSpPr>
        <p:spPr>
          <a:xfrm>
            <a:off x="6263640" y="3154680"/>
            <a:ext cx="2651760" cy="365760"/>
          </a:xfrm>
          <a:prstGeom prst="rect">
            <a:avLst/>
          </a:prstGeom>
          <a:solidFill>
            <a:srgbClr val="375623"/>
          </a:solidFill>
          <a:ln w="12700">
            <a:solidFill>
              <a:srgbClr val="375623"/>
            </a:solidFill>
            <a:prstDash val="solid"/>
          </a:ln>
        </p:spPr>
      </p:sp>
      <p:sp>
        <p:nvSpPr>
          <p:cNvPr id="28" name="Text 26"/>
          <p:cNvSpPr/>
          <p:nvPr/>
        </p:nvSpPr>
        <p:spPr>
          <a:xfrm>
            <a:off x="6263640" y="3154680"/>
            <a:ext cx="2651760"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dim_fuel_types</a:t>
            </a:r>
            <a:endParaRPr lang="en-US" sz="1100" dirty="0"/>
          </a:p>
        </p:txBody>
      </p:sp>
      <p:sp>
        <p:nvSpPr>
          <p:cNvPr id="29" name="Text 27"/>
          <p:cNvSpPr/>
          <p:nvPr/>
        </p:nvSpPr>
        <p:spPr>
          <a:xfrm>
            <a:off x="6263640" y="3557016"/>
            <a:ext cx="2651760" cy="1152144"/>
          </a:xfrm>
          <a:prstGeom prst="rect">
            <a:avLst/>
          </a:prstGeom>
          <a:noFill/>
          <a:ln/>
        </p:spPr>
        <p:txBody>
          <a:bodyPr wrap="square" rtlCol="0" anchor="ctr"/>
          <a:lstStyle/>
          <a:p>
            <a:pPr marL="0" indent="0" algn="ctr">
              <a:buNone/>
            </a:pPr>
            <a:r>
              <a:rPr lang="en-US" sz="900" dirty="0">
                <a:solidFill>
                  <a:srgbClr val="404040"/>
                </a:solidFill>
                <a:latin typeface="Calibri" pitchFamily="34" charset="0"/>
                <a:ea typeface="Calibri" pitchFamily="34" charset="-122"/>
                <a:cs typeface="Calibri" pitchFamily="34" charset="-120"/>
              </a:rPr>
              <a:t>Fuel_Type_ID (PK)</a:t>
            </a:r>
            <a:endParaRPr lang="en-US" sz="900" dirty="0"/>
          </a:p>
          <a:p>
            <a:pPr marL="0" indent="0" algn="ctr">
              <a:buNone/>
            </a:pPr>
            <a:r>
              <a:rPr lang="en-US" sz="900" dirty="0">
                <a:solidFill>
                  <a:srgbClr val="404040"/>
                </a:solidFill>
                <a:latin typeface="Calibri" pitchFamily="34" charset="0"/>
                <a:ea typeface="Calibri" pitchFamily="34" charset="-122"/>
                <a:cs typeface="Calibri" pitchFamily="34" charset="-120"/>
              </a:rPr>
              <a:t>Fuel Name | Category</a:t>
            </a:r>
            <a:endParaRPr lang="en-US" sz="900" dirty="0"/>
          </a:p>
          <a:p>
            <a:pPr marL="0" indent="0" algn="ctr">
              <a:buNone/>
            </a:pPr>
            <a:r>
              <a:rPr lang="en-US" sz="900" dirty="0">
                <a:solidFill>
                  <a:srgbClr val="404040"/>
                </a:solidFill>
                <a:latin typeface="Calibri" pitchFamily="34" charset="0"/>
                <a:ea typeface="Calibri" pitchFamily="34" charset="-122"/>
                <a:cs typeface="Calibri" pitchFamily="34" charset="-120"/>
              </a:rPr>
              <a:t>Primary Users</a:t>
            </a:r>
            <a:endParaRPr lang="en-US" sz="900" dirty="0"/>
          </a:p>
          <a:p>
            <a:pPr marL="0" indent="0" algn="ctr">
              <a:buNone/>
            </a:pPr>
            <a:r>
              <a:rPr lang="en-US" sz="900" dirty="0">
                <a:solidFill>
                  <a:srgbClr val="404040"/>
                </a:solidFill>
                <a:latin typeface="Calibri" pitchFamily="34" charset="0"/>
                <a:ea typeface="Calibri" pitchFamily="34" charset="-122"/>
                <a:cs typeface="Calibri" pitchFamily="34" charset="-120"/>
              </a:rPr>
              <a:t>Avg Price 2024</a:t>
            </a:r>
            <a:endParaRPr lang="en-US" sz="900" dirty="0"/>
          </a:p>
          <a:p>
            <a:pPr marL="0" indent="0" algn="ctr">
              <a:buNone/>
            </a:pPr>
            <a:r>
              <a:rPr lang="en-US" sz="900" dirty="0">
                <a:solidFill>
                  <a:srgbClr val="404040"/>
                </a:solidFill>
                <a:latin typeface="Calibri" pitchFamily="34" charset="0"/>
                <a:ea typeface="Calibri" pitchFamily="34" charset="-122"/>
                <a:cs typeface="Calibri" pitchFamily="34" charset="-120"/>
              </a:rPr>
              <a:t>3 rows</a:t>
            </a:r>
            <a:endParaRPr lang="en-US" sz="900" dirty="0"/>
          </a:p>
        </p:txBody>
      </p:sp>
      <p:sp>
        <p:nvSpPr>
          <p:cNvPr id="30" name="Shape 28"/>
          <p:cNvSpPr/>
          <p:nvPr/>
        </p:nvSpPr>
        <p:spPr>
          <a:xfrm>
            <a:off x="2788920" y="1627632"/>
            <a:ext cx="320040" cy="795528"/>
          </a:xfrm>
          <a:prstGeom prst="line">
            <a:avLst/>
          </a:prstGeom>
          <a:noFill/>
          <a:ln w="12700">
            <a:solidFill>
              <a:srgbClr val="888888"/>
            </a:solidFill>
            <a:prstDash val="dash"/>
          </a:ln>
        </p:spPr>
      </p:sp>
      <p:sp>
        <p:nvSpPr>
          <p:cNvPr id="31" name="Shape 29"/>
          <p:cNvSpPr/>
          <p:nvPr/>
        </p:nvSpPr>
        <p:spPr>
          <a:xfrm flipV="1">
            <a:off x="2788920" y="3749040"/>
            <a:ext cx="548640" cy="553212"/>
          </a:xfrm>
          <a:prstGeom prst="line">
            <a:avLst/>
          </a:prstGeom>
          <a:noFill/>
          <a:ln w="12700">
            <a:solidFill>
              <a:srgbClr val="888888"/>
            </a:solidFill>
            <a:prstDash val="dash"/>
          </a:ln>
        </p:spPr>
      </p:sp>
      <p:sp>
        <p:nvSpPr>
          <p:cNvPr id="32" name="Shape 30"/>
          <p:cNvSpPr/>
          <p:nvPr/>
        </p:nvSpPr>
        <p:spPr>
          <a:xfrm flipV="1">
            <a:off x="6035040" y="1261872"/>
            <a:ext cx="228600" cy="365760"/>
          </a:xfrm>
          <a:prstGeom prst="line">
            <a:avLst/>
          </a:prstGeom>
          <a:noFill/>
          <a:ln w="12700">
            <a:solidFill>
              <a:srgbClr val="888888"/>
            </a:solidFill>
            <a:prstDash val="dash"/>
          </a:ln>
        </p:spPr>
      </p:sp>
      <p:sp>
        <p:nvSpPr>
          <p:cNvPr id="33" name="Shape 31"/>
          <p:cNvSpPr/>
          <p:nvPr/>
        </p:nvSpPr>
        <p:spPr>
          <a:xfrm>
            <a:off x="5838092" y="3794760"/>
            <a:ext cx="425548" cy="640080"/>
          </a:xfrm>
          <a:prstGeom prst="line">
            <a:avLst/>
          </a:prstGeom>
          <a:noFill/>
          <a:ln w="12700">
            <a:solidFill>
              <a:srgbClr val="888888"/>
            </a:solidFill>
            <a:prstDash val="dash"/>
          </a:ln>
        </p:spPr>
      </p:sp>
      <p:sp>
        <p:nvSpPr>
          <p:cNvPr id="34" name="Text 32"/>
          <p:cNvSpPr/>
          <p:nvPr/>
        </p:nvSpPr>
        <p:spPr>
          <a:xfrm>
            <a:off x="914400" y="4681728"/>
            <a:ext cx="7315200" cy="228600"/>
          </a:xfrm>
          <a:prstGeom prst="rect">
            <a:avLst/>
          </a:prstGeom>
          <a:noFill/>
          <a:ln/>
        </p:spPr>
        <p:txBody>
          <a:bodyPr wrap="square" rtlCol="0" anchor="ctr"/>
          <a:lstStyle/>
          <a:p>
            <a:pPr marL="0" indent="0" algn="ctr">
              <a:buNone/>
            </a:pPr>
            <a:r>
              <a:rPr lang="en-US" sz="1000" i="1" dirty="0">
                <a:solidFill>
                  <a:srgbClr val="888888"/>
                </a:solidFill>
                <a:latin typeface="Calibri" pitchFamily="34" charset="0"/>
                <a:ea typeface="Calibri" pitchFamily="34" charset="-122"/>
                <a:cs typeface="Calibri" pitchFamily="34" charset="-120"/>
              </a:rPr>
              <a:t>Many-to-One (*:1) relationships — all 4 connections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F3864"/>
          </a:solidFill>
          <a:ln w="12700">
            <a:solidFill>
              <a:srgbClr val="1F3864"/>
            </a:solidFill>
            <a:prstDash val="solid"/>
          </a:ln>
        </p:spPr>
      </p:sp>
      <p:sp>
        <p:nvSpPr>
          <p:cNvPr id="3" name="Shape 1"/>
          <p:cNvSpPr/>
          <p:nvPr/>
        </p:nvSpPr>
        <p:spPr>
          <a:xfrm>
            <a:off x="0" y="777240"/>
            <a:ext cx="9144000" cy="54864"/>
          </a:xfrm>
          <a:prstGeom prst="rect">
            <a:avLst/>
          </a:prstGeom>
          <a:solidFill>
            <a:srgbClr val="C9A84C"/>
          </a:solidFill>
          <a:ln w="12700">
            <a:solidFill>
              <a:srgbClr val="C9A84C"/>
            </a:solidFill>
            <a:prstDash val="solid"/>
          </a:ln>
        </p:spPr>
      </p:sp>
      <p:sp>
        <p:nvSpPr>
          <p:cNvPr id="4" name="Text 2"/>
          <p:cNvSpPr/>
          <p:nvPr/>
        </p:nvSpPr>
        <p:spPr>
          <a:xfrm>
            <a:off x="274320" y="36576"/>
            <a:ext cx="8595360" cy="713232"/>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ETL Implementation — Three-Layer Power Query Pipeline</a:t>
            </a:r>
            <a:endParaRPr lang="en-US" sz="2000" dirty="0"/>
          </a:p>
        </p:txBody>
      </p:sp>
      <p:sp>
        <p:nvSpPr>
          <p:cNvPr id="5" name="Shape 3"/>
          <p:cNvSpPr/>
          <p:nvPr/>
        </p:nvSpPr>
        <p:spPr>
          <a:xfrm>
            <a:off x="0" y="4892040"/>
            <a:ext cx="9144000" cy="256032"/>
          </a:xfrm>
          <a:prstGeom prst="rect">
            <a:avLst/>
          </a:prstGeom>
          <a:solidFill>
            <a:srgbClr val="F0F0F0"/>
          </a:solidFill>
          <a:ln w="12700">
            <a:solidFill>
              <a:srgbClr val="DDDDDD"/>
            </a:solidFill>
            <a:prstDash val="solid"/>
          </a:ln>
        </p:spPr>
      </p:sp>
      <p:sp>
        <p:nvSpPr>
          <p:cNvPr id="6" name="Text 4"/>
          <p:cNvSpPr/>
          <p:nvPr/>
        </p:nvSpPr>
        <p:spPr>
          <a:xfrm>
            <a:off x="182880" y="4910328"/>
            <a:ext cx="7315200" cy="201168"/>
          </a:xfrm>
          <a:prstGeom prst="rect">
            <a:avLst/>
          </a:prstGeom>
          <a:noFill/>
          <a:ln/>
        </p:spPr>
        <p:txBody>
          <a:bodyPr wrap="square" rtlCol="0" anchor="ctr"/>
          <a:lstStyle/>
          <a:p>
            <a:pPr marL="0" indent="0">
              <a:buNone/>
            </a:pPr>
            <a:r>
              <a:rPr lang="en-US" sz="800" dirty="0">
                <a:solidFill>
                  <a:srgbClr val="888888"/>
                </a:solidFill>
                <a:latin typeface="Calibri" pitchFamily="34" charset="0"/>
                <a:ea typeface="Calibri" pitchFamily="34" charset="-122"/>
                <a:cs typeface="Calibri" pitchFamily="34" charset="-120"/>
              </a:rPr>
              <a:t>Uganda Fuel Price &amp; Consumption Data Warehouse  |  Group 4  |  College of Computing and Informatics Technology</a:t>
            </a:r>
            <a:endParaRPr lang="en-US" sz="800" dirty="0"/>
          </a:p>
        </p:txBody>
      </p:sp>
      <p:sp>
        <p:nvSpPr>
          <p:cNvPr id="7" name="Text 5"/>
          <p:cNvSpPr/>
          <p:nvPr/>
        </p:nvSpPr>
        <p:spPr>
          <a:xfrm>
            <a:off x="8229600" y="4910328"/>
            <a:ext cx="731520" cy="201168"/>
          </a:xfrm>
          <a:prstGeom prst="rect">
            <a:avLst/>
          </a:prstGeom>
          <a:noFill/>
          <a:ln/>
        </p:spPr>
        <p:txBody>
          <a:bodyPr wrap="square" rtlCol="0" anchor="ctr"/>
          <a:lstStyle/>
          <a:p>
            <a:pPr marL="0" indent="0" algn="r">
              <a:buNone/>
            </a:pPr>
            <a:r>
              <a:rPr lang="en-US" sz="800" dirty="0">
                <a:solidFill>
                  <a:srgbClr val="888888"/>
                </a:solidFill>
                <a:latin typeface="Calibri" pitchFamily="34" charset="0"/>
                <a:ea typeface="Calibri" pitchFamily="34" charset="-122"/>
                <a:cs typeface="Calibri" pitchFamily="34" charset="-120"/>
              </a:rPr>
              <a:t>7 / 18</a:t>
            </a:r>
            <a:endParaRPr lang="en-US" sz="800" dirty="0"/>
          </a:p>
        </p:txBody>
      </p:sp>
      <p:sp>
        <p:nvSpPr>
          <p:cNvPr id="8" name="Shape 6"/>
          <p:cNvSpPr/>
          <p:nvPr/>
        </p:nvSpPr>
        <p:spPr>
          <a:xfrm>
            <a:off x="228600" y="914400"/>
            <a:ext cx="2834640" cy="3858768"/>
          </a:xfrm>
          <a:prstGeom prst="rect">
            <a:avLst/>
          </a:prstGeom>
          <a:solidFill>
            <a:srgbClr val="F8FAFD"/>
          </a:solidFill>
          <a:ln w="25400">
            <a:solidFill>
              <a:srgbClr val="1F3864"/>
            </a:solidFill>
            <a:prstDash val="solid"/>
          </a:ln>
        </p:spPr>
      </p:sp>
      <p:sp>
        <p:nvSpPr>
          <p:cNvPr id="9" name="Shape 7"/>
          <p:cNvSpPr/>
          <p:nvPr/>
        </p:nvSpPr>
        <p:spPr>
          <a:xfrm>
            <a:off x="228600" y="914400"/>
            <a:ext cx="2834640" cy="502920"/>
          </a:xfrm>
          <a:prstGeom prst="rect">
            <a:avLst/>
          </a:prstGeom>
          <a:solidFill>
            <a:srgbClr val="1F3864"/>
          </a:solidFill>
          <a:ln w="12700">
            <a:solidFill>
              <a:srgbClr val="1F3864"/>
            </a:solidFill>
            <a:prstDash val="solid"/>
          </a:ln>
        </p:spPr>
      </p:sp>
      <p:sp>
        <p:nvSpPr>
          <p:cNvPr id="10" name="Text 8"/>
          <p:cNvSpPr/>
          <p:nvPr/>
        </p:nvSpPr>
        <p:spPr>
          <a:xfrm>
            <a:off x="228600" y="914400"/>
            <a:ext cx="2834640" cy="5029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LAYER 1</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STAGING</a:t>
            </a:r>
            <a:endParaRPr lang="en-US" sz="1100" dirty="0"/>
          </a:p>
        </p:txBody>
      </p:sp>
      <p:sp>
        <p:nvSpPr>
          <p:cNvPr id="11" name="Text 9"/>
          <p:cNvSpPr/>
          <p:nvPr/>
        </p:nvSpPr>
        <p:spPr>
          <a:xfrm>
            <a:off x="320040" y="1463040"/>
            <a:ext cx="2651760" cy="1645920"/>
          </a:xfrm>
          <a:prstGeom prst="rect">
            <a:avLst/>
          </a:prstGeom>
          <a:noFill/>
          <a:ln/>
        </p:spPr>
        <p:txBody>
          <a:bodyPr wrap="square" rtlCol="0" anchor="ctr"/>
          <a:lstStyle/>
          <a:p>
            <a:pPr marL="0" indent="0">
              <a:buNone/>
            </a:pPr>
            <a:r>
              <a:rPr lang="en-US" sz="1000" dirty="0">
                <a:solidFill>
                  <a:srgbClr val="404040"/>
                </a:solidFill>
                <a:latin typeface="Calibri" pitchFamily="34" charset="0"/>
                <a:ea typeface="Calibri" pitchFamily="34" charset="-122"/>
                <a:cs typeface="Calibri" pitchFamily="34" charset="-120"/>
              </a:rPr>
              <a:t>Extract raw data from</a:t>
            </a:r>
            <a:endParaRPr lang="en-US" sz="1000" dirty="0"/>
          </a:p>
          <a:p>
            <a:pPr marL="0" indent="0">
              <a:buNone/>
            </a:pPr>
            <a:r>
              <a:rPr lang="en-US" sz="1000" dirty="0">
                <a:solidFill>
                  <a:srgbClr val="404040"/>
                </a:solidFill>
                <a:latin typeface="Calibri" pitchFamily="34" charset="0"/>
                <a:ea typeface="Calibri" pitchFamily="34" charset="-122"/>
                <a:cs typeface="Calibri" pitchFamily="34" charset="-120"/>
              </a:rPr>
              <a:t>Uganda_Fuel_Price_Warehouse.xlsx</a:t>
            </a:r>
            <a:endParaRPr lang="en-US" sz="1000" dirty="0"/>
          </a:p>
          <a:p>
            <a:pPr marL="0" indent="0">
              <a:buNone/>
            </a:pPr>
            <a:r>
              <a:rPr lang="en-US" sz="1000" dirty="0">
                <a:solidFill>
                  <a:srgbClr val="404040"/>
                </a:solidFill>
                <a:latin typeface="Calibri" pitchFamily="34" charset="0"/>
                <a:ea typeface="Calibri" pitchFamily="34" charset="-122"/>
                <a:cs typeface="Calibri" pitchFamily="34" charset="-120"/>
              </a:rPr>
              <a:t>Load all 6 sheets into Power Query</a:t>
            </a:r>
            <a:endParaRPr lang="en-US" sz="1000" dirty="0"/>
          </a:p>
          <a:p>
            <a:pPr marL="0" indent="0">
              <a:buNone/>
            </a:pPr>
            <a:r>
              <a:rPr lang="en-US" sz="1000" dirty="0">
                <a:solidFill>
                  <a:srgbClr val="404040"/>
                </a:solidFill>
                <a:latin typeface="Calibri" pitchFamily="34" charset="0"/>
                <a:ea typeface="Calibri" pitchFamily="34" charset="-122"/>
                <a:cs typeface="Calibri" pitchFamily="34" charset="-120"/>
              </a:rPr>
              <a:t>Rename with stg_ prefix</a:t>
            </a:r>
            <a:endParaRPr lang="en-US" sz="1000" dirty="0"/>
          </a:p>
          <a:p>
            <a:pPr marL="0" indent="0">
              <a:buNone/>
            </a:pPr>
            <a:r>
              <a:rPr lang="en-US" sz="1000" dirty="0">
                <a:solidFill>
                  <a:srgbClr val="404040"/>
                </a:solidFill>
                <a:latin typeface="Calibri" pitchFamily="34" charset="0"/>
                <a:ea typeface="Calibri" pitchFamily="34" charset="-122"/>
                <a:cs typeface="Calibri" pitchFamily="34" charset="-120"/>
              </a:rPr>
              <a:t>Disable Enable Load on all queries</a:t>
            </a:r>
            <a:endParaRPr lang="en-US" sz="1000" dirty="0"/>
          </a:p>
          <a:p>
            <a:pPr marL="0" indent="0">
              <a:buNone/>
            </a:pPr>
            <a:r>
              <a:rPr lang="en-US" sz="1000" dirty="0">
                <a:solidFill>
                  <a:srgbClr val="404040"/>
                </a:solidFill>
                <a:latin typeface="Calibri" pitchFamily="34" charset="0"/>
                <a:ea typeface="Calibri" pitchFamily="34" charset="-122"/>
                <a:cs typeface="Calibri" pitchFamily="34" charset="-120"/>
              </a:rPr>
              <a:t>Raw data preserved — unchanged</a:t>
            </a:r>
            <a:endParaRPr lang="en-US" sz="1000" dirty="0"/>
          </a:p>
        </p:txBody>
      </p:sp>
      <p:sp>
        <p:nvSpPr>
          <p:cNvPr id="12" name="Shape 10"/>
          <p:cNvSpPr/>
          <p:nvPr/>
        </p:nvSpPr>
        <p:spPr>
          <a:xfrm>
            <a:off x="320040" y="3154680"/>
            <a:ext cx="2651760" cy="1481328"/>
          </a:xfrm>
          <a:prstGeom prst="rect">
            <a:avLst/>
          </a:prstGeom>
          <a:solidFill>
            <a:srgbClr val="EEF4FF"/>
          </a:solidFill>
          <a:ln w="6350">
            <a:solidFill>
              <a:srgbClr val="CCDDFF"/>
            </a:solidFill>
            <a:prstDash val="solid"/>
          </a:ln>
        </p:spPr>
      </p:sp>
      <p:sp>
        <p:nvSpPr>
          <p:cNvPr id="13" name="Text 11"/>
          <p:cNvSpPr/>
          <p:nvPr/>
        </p:nvSpPr>
        <p:spPr>
          <a:xfrm>
            <a:off x="365760" y="3182112"/>
            <a:ext cx="2560320" cy="256032"/>
          </a:xfrm>
          <a:prstGeom prst="rect">
            <a:avLst/>
          </a:prstGeom>
          <a:noFill/>
          <a:ln/>
        </p:spPr>
        <p:txBody>
          <a:bodyPr wrap="square" rtlCol="0" anchor="ctr"/>
          <a:lstStyle/>
          <a:p>
            <a:pPr marL="0" indent="0">
              <a:buNone/>
            </a:pPr>
            <a:r>
              <a:rPr lang="en-US" sz="900" b="1" dirty="0">
                <a:solidFill>
                  <a:srgbClr val="1F3864"/>
                </a:solidFill>
                <a:latin typeface="Calibri" pitchFamily="34" charset="0"/>
                <a:ea typeface="Calibri" pitchFamily="34" charset="-122"/>
                <a:cs typeface="Calibri" pitchFamily="34" charset="-120"/>
              </a:rPr>
              <a:t>Queries / Steps:</a:t>
            </a:r>
            <a:endParaRPr lang="en-US" sz="900" dirty="0"/>
          </a:p>
        </p:txBody>
      </p:sp>
      <p:sp>
        <p:nvSpPr>
          <p:cNvPr id="14" name="Text 12"/>
          <p:cNvSpPr/>
          <p:nvPr/>
        </p:nvSpPr>
        <p:spPr>
          <a:xfrm>
            <a:off x="365760" y="3438144"/>
            <a:ext cx="2560320" cy="1170432"/>
          </a:xfrm>
          <a:prstGeom prst="rect">
            <a:avLst/>
          </a:prstGeom>
          <a:noFill/>
          <a:ln/>
        </p:spPr>
        <p:txBody>
          <a:bodyPr wrap="square" rtlCol="0" anchor="ctr"/>
          <a:lstStyle/>
          <a:p>
            <a:pPr marL="0" indent="0">
              <a:buNone/>
            </a:pPr>
            <a:r>
              <a:rPr lang="en-US" sz="900" dirty="0">
                <a:solidFill>
                  <a:srgbClr val="1F3864"/>
                </a:solidFill>
                <a:latin typeface="Calibri" pitchFamily="34" charset="0"/>
                <a:ea typeface="Calibri" pitchFamily="34" charset="-122"/>
                <a:cs typeface="Calibri" pitchFamily="34" charset="-120"/>
              </a:rPr>
              <a:t>stg_fact_fuel_prices</a:t>
            </a:r>
            <a:endParaRPr lang="en-US" sz="900" dirty="0"/>
          </a:p>
          <a:p>
            <a:pPr marL="0" indent="0">
              <a:buNone/>
            </a:pPr>
            <a:r>
              <a:rPr lang="en-US" sz="900" dirty="0">
                <a:solidFill>
                  <a:srgbClr val="1F3864"/>
                </a:solidFill>
                <a:latin typeface="Calibri" pitchFamily="34" charset="0"/>
                <a:ea typeface="Calibri" pitchFamily="34" charset="-122"/>
                <a:cs typeface="Calibri" pitchFamily="34" charset="-120"/>
              </a:rPr>
              <a:t>stg_dim_stations</a:t>
            </a:r>
            <a:endParaRPr lang="en-US" sz="900" dirty="0"/>
          </a:p>
          <a:p>
            <a:pPr marL="0" indent="0">
              <a:buNone/>
            </a:pPr>
            <a:r>
              <a:rPr lang="en-US" sz="900" dirty="0">
                <a:solidFill>
                  <a:srgbClr val="1F3864"/>
                </a:solidFill>
                <a:latin typeface="Calibri" pitchFamily="34" charset="0"/>
                <a:ea typeface="Calibri" pitchFamily="34" charset="-122"/>
                <a:cs typeface="Calibri" pitchFamily="34" charset="-120"/>
              </a:rPr>
              <a:t>stg_dim_fuel_types</a:t>
            </a:r>
            <a:endParaRPr lang="en-US" sz="900" dirty="0"/>
          </a:p>
          <a:p>
            <a:pPr marL="0" indent="0">
              <a:buNone/>
            </a:pPr>
            <a:r>
              <a:rPr lang="en-US" sz="900" dirty="0">
                <a:solidFill>
                  <a:srgbClr val="1F3864"/>
                </a:solidFill>
                <a:latin typeface="Calibri" pitchFamily="34" charset="0"/>
                <a:ea typeface="Calibri" pitchFamily="34" charset="-122"/>
                <a:cs typeface="Calibri" pitchFamily="34" charset="-120"/>
              </a:rPr>
              <a:t>stg_dim_regions</a:t>
            </a:r>
            <a:endParaRPr lang="en-US" sz="900" dirty="0"/>
          </a:p>
          <a:p>
            <a:pPr marL="0" indent="0">
              <a:buNone/>
            </a:pPr>
            <a:r>
              <a:rPr lang="en-US" sz="900" dirty="0">
                <a:solidFill>
                  <a:srgbClr val="1F3864"/>
                </a:solidFill>
                <a:latin typeface="Calibri" pitchFamily="34" charset="0"/>
                <a:ea typeface="Calibri" pitchFamily="34" charset="-122"/>
                <a:cs typeface="Calibri" pitchFamily="34" charset="-120"/>
              </a:rPr>
              <a:t>stg_dim_date</a:t>
            </a:r>
            <a:endParaRPr lang="en-US" sz="900" dirty="0"/>
          </a:p>
          <a:p>
            <a:pPr marL="0" indent="0">
              <a:buNone/>
            </a:pPr>
            <a:r>
              <a:rPr lang="en-US" sz="900" dirty="0">
                <a:solidFill>
                  <a:srgbClr val="1F3864"/>
                </a:solidFill>
                <a:latin typeface="Calibri" pitchFamily="34" charset="0"/>
                <a:ea typeface="Calibri" pitchFamily="34" charset="-122"/>
                <a:cs typeface="Calibri" pitchFamily="34" charset="-120"/>
              </a:rPr>
              <a:t>stg_national_avg_prices</a:t>
            </a:r>
            <a:endParaRPr lang="en-US" sz="900" dirty="0"/>
          </a:p>
        </p:txBody>
      </p:sp>
      <p:sp>
        <p:nvSpPr>
          <p:cNvPr id="15" name="Shape 13"/>
          <p:cNvSpPr/>
          <p:nvPr/>
        </p:nvSpPr>
        <p:spPr>
          <a:xfrm>
            <a:off x="2971800" y="2560320"/>
            <a:ext cx="228600" cy="228600"/>
          </a:xfrm>
          <a:prstGeom prst="rect">
            <a:avLst/>
          </a:prstGeom>
          <a:solidFill>
            <a:srgbClr val="C9A84C"/>
          </a:solidFill>
          <a:ln w="12700">
            <a:solidFill>
              <a:srgbClr val="C9A84C"/>
            </a:solidFill>
            <a:prstDash val="solid"/>
          </a:ln>
        </p:spPr>
      </p:sp>
      <p:sp>
        <p:nvSpPr>
          <p:cNvPr id="16" name="Text 14"/>
          <p:cNvSpPr/>
          <p:nvPr/>
        </p:nvSpPr>
        <p:spPr>
          <a:xfrm>
            <a:off x="2971800" y="2487168"/>
            <a:ext cx="228600" cy="320040"/>
          </a:xfrm>
          <a:prstGeom prst="rect">
            <a:avLst/>
          </a:prstGeom>
          <a:noFill/>
          <a:ln/>
        </p:spPr>
        <p:txBody>
          <a:bodyPr wrap="square" rtlCol="0" anchor="ctr"/>
          <a:lstStyle/>
          <a:p>
            <a:pPr marL="0" indent="0" algn="ctr">
              <a:buNone/>
            </a:pPr>
            <a:r>
              <a:rPr lang="en-US" sz="1600" dirty="0">
                <a:solidFill>
                  <a:srgbClr val="C9A84C"/>
                </a:solidFill>
                <a:latin typeface="Calibri" pitchFamily="34" charset="0"/>
                <a:ea typeface="Calibri" pitchFamily="34" charset="-122"/>
                <a:cs typeface="Calibri" pitchFamily="34" charset="-120"/>
              </a:rPr>
              <a:t>→</a:t>
            </a:r>
            <a:endParaRPr lang="en-US" sz="1600" dirty="0"/>
          </a:p>
        </p:txBody>
      </p:sp>
      <p:sp>
        <p:nvSpPr>
          <p:cNvPr id="17" name="Shape 15"/>
          <p:cNvSpPr/>
          <p:nvPr/>
        </p:nvSpPr>
        <p:spPr>
          <a:xfrm>
            <a:off x="3200400" y="914400"/>
            <a:ext cx="2834640" cy="3858768"/>
          </a:xfrm>
          <a:prstGeom prst="rect">
            <a:avLst/>
          </a:prstGeom>
          <a:solidFill>
            <a:srgbClr val="F8FAFD"/>
          </a:solidFill>
          <a:ln w="25400">
            <a:solidFill>
              <a:srgbClr val="375623"/>
            </a:solidFill>
            <a:prstDash val="solid"/>
          </a:ln>
        </p:spPr>
      </p:sp>
      <p:sp>
        <p:nvSpPr>
          <p:cNvPr id="18" name="Shape 16"/>
          <p:cNvSpPr/>
          <p:nvPr/>
        </p:nvSpPr>
        <p:spPr>
          <a:xfrm>
            <a:off x="3200400" y="914400"/>
            <a:ext cx="2834640" cy="502920"/>
          </a:xfrm>
          <a:prstGeom prst="rect">
            <a:avLst/>
          </a:prstGeom>
          <a:solidFill>
            <a:srgbClr val="375623"/>
          </a:solidFill>
          <a:ln w="12700">
            <a:solidFill>
              <a:srgbClr val="375623"/>
            </a:solidFill>
            <a:prstDash val="solid"/>
          </a:ln>
        </p:spPr>
      </p:sp>
      <p:sp>
        <p:nvSpPr>
          <p:cNvPr id="19" name="Text 17"/>
          <p:cNvSpPr/>
          <p:nvPr/>
        </p:nvSpPr>
        <p:spPr>
          <a:xfrm>
            <a:off x="3200400" y="914400"/>
            <a:ext cx="2834640" cy="5029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LAYER 2</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TRANSFORM</a:t>
            </a:r>
            <a:endParaRPr lang="en-US" sz="1100" dirty="0"/>
          </a:p>
        </p:txBody>
      </p:sp>
      <p:sp>
        <p:nvSpPr>
          <p:cNvPr id="20" name="Text 18"/>
          <p:cNvSpPr/>
          <p:nvPr/>
        </p:nvSpPr>
        <p:spPr>
          <a:xfrm>
            <a:off x="3291840" y="1463040"/>
            <a:ext cx="2651760" cy="1645920"/>
          </a:xfrm>
          <a:prstGeom prst="rect">
            <a:avLst/>
          </a:prstGeom>
          <a:noFill/>
          <a:ln/>
        </p:spPr>
        <p:txBody>
          <a:bodyPr wrap="square" rtlCol="0" anchor="ctr"/>
          <a:lstStyle/>
          <a:p>
            <a:pPr marL="0" indent="0">
              <a:buNone/>
            </a:pPr>
            <a:r>
              <a:rPr lang="en-US" sz="1000" dirty="0">
                <a:solidFill>
                  <a:srgbClr val="404040"/>
                </a:solidFill>
                <a:latin typeface="Calibri" pitchFamily="34" charset="0"/>
                <a:ea typeface="Calibri" pitchFamily="34" charset="-122"/>
                <a:cs typeface="Calibri" pitchFamily="34" charset="-120"/>
              </a:rPr>
              <a:t>Duplicate each stg_ query</a:t>
            </a:r>
            <a:endParaRPr lang="en-US" sz="1000" dirty="0"/>
          </a:p>
          <a:p>
            <a:pPr marL="0" indent="0">
              <a:buNone/>
            </a:pPr>
            <a:r>
              <a:rPr lang="en-US" sz="1000" dirty="0">
                <a:solidFill>
                  <a:srgbClr val="404040"/>
                </a:solidFill>
                <a:latin typeface="Calibri" pitchFamily="34" charset="0"/>
                <a:ea typeface="Calibri" pitchFamily="34" charset="-122"/>
                <a:cs typeface="Calibri" pitchFamily="34" charset="-120"/>
              </a:rPr>
              <a:t>Change data types (Currency, Text, Integer)</a:t>
            </a:r>
            <a:endParaRPr lang="en-US" sz="1000" dirty="0"/>
          </a:p>
          <a:p>
            <a:pPr marL="0" indent="0">
              <a:buNone/>
            </a:pPr>
            <a:r>
              <a:rPr lang="en-US" sz="1000" dirty="0">
                <a:solidFill>
                  <a:srgbClr val="404040"/>
                </a:solidFill>
                <a:latin typeface="Calibri" pitchFamily="34" charset="0"/>
                <a:ea typeface="Calibri" pitchFamily="34" charset="-122"/>
                <a:cs typeface="Calibri" pitchFamily="34" charset="-120"/>
              </a:rPr>
              <a:t>Filter out NULL foreign key rows</a:t>
            </a:r>
            <a:endParaRPr lang="en-US" sz="1000" dirty="0"/>
          </a:p>
          <a:p>
            <a:pPr marL="0" indent="0">
              <a:buNone/>
            </a:pPr>
            <a:r>
              <a:rPr lang="en-US" sz="1000" dirty="0">
                <a:solidFill>
                  <a:srgbClr val="404040"/>
                </a:solidFill>
                <a:latin typeface="Calibri" pitchFamily="34" charset="0"/>
                <a:ea typeface="Calibri" pitchFamily="34" charset="-122"/>
                <a:cs typeface="Calibri" pitchFamily="34" charset="-120"/>
              </a:rPr>
              <a:t>Add Revenue = Price × Volume column</a:t>
            </a:r>
            <a:endParaRPr lang="en-US" sz="1000" dirty="0"/>
          </a:p>
          <a:p>
            <a:pPr marL="0" indent="0">
              <a:buNone/>
            </a:pPr>
            <a:r>
              <a:rPr lang="en-US" sz="1000" dirty="0">
                <a:solidFill>
                  <a:srgbClr val="404040"/>
                </a:solidFill>
                <a:latin typeface="Calibri" pitchFamily="34" charset="0"/>
                <a:ea typeface="Calibri" pitchFamily="34" charset="-122"/>
                <a:cs typeface="Calibri" pitchFamily="34" charset="-120"/>
              </a:rPr>
              <a:t>Add Price_Change_Pct column</a:t>
            </a:r>
            <a:endParaRPr lang="en-US" sz="1000" dirty="0"/>
          </a:p>
          <a:p>
            <a:pPr marL="0" indent="0">
              <a:buNone/>
            </a:pPr>
            <a:r>
              <a:rPr lang="en-US" sz="1000" dirty="0">
                <a:solidFill>
                  <a:srgbClr val="404040"/>
                </a:solidFill>
                <a:latin typeface="Calibri" pitchFamily="34" charset="0"/>
                <a:ea typeface="Calibri" pitchFamily="34" charset="-122"/>
                <a:cs typeface="Calibri" pitchFamily="34" charset="-120"/>
              </a:rPr>
              <a:t>Rename steps descriptively</a:t>
            </a:r>
            <a:endParaRPr lang="en-US" sz="1000" dirty="0"/>
          </a:p>
        </p:txBody>
      </p:sp>
      <p:sp>
        <p:nvSpPr>
          <p:cNvPr id="21" name="Shape 19"/>
          <p:cNvSpPr/>
          <p:nvPr/>
        </p:nvSpPr>
        <p:spPr>
          <a:xfrm>
            <a:off x="3291840" y="3154680"/>
            <a:ext cx="2651760" cy="1481328"/>
          </a:xfrm>
          <a:prstGeom prst="rect">
            <a:avLst/>
          </a:prstGeom>
          <a:solidFill>
            <a:srgbClr val="EEF4FF"/>
          </a:solidFill>
          <a:ln w="6350">
            <a:solidFill>
              <a:srgbClr val="CCDDFF"/>
            </a:solidFill>
            <a:prstDash val="solid"/>
          </a:ln>
        </p:spPr>
      </p:sp>
      <p:sp>
        <p:nvSpPr>
          <p:cNvPr id="22" name="Text 20"/>
          <p:cNvSpPr/>
          <p:nvPr/>
        </p:nvSpPr>
        <p:spPr>
          <a:xfrm>
            <a:off x="3337560" y="3182112"/>
            <a:ext cx="2560320" cy="256032"/>
          </a:xfrm>
          <a:prstGeom prst="rect">
            <a:avLst/>
          </a:prstGeom>
          <a:noFill/>
          <a:ln/>
        </p:spPr>
        <p:txBody>
          <a:bodyPr wrap="square" rtlCol="0" anchor="ctr"/>
          <a:lstStyle/>
          <a:p>
            <a:pPr marL="0" indent="0">
              <a:buNone/>
            </a:pPr>
            <a:r>
              <a:rPr lang="en-US" sz="900" b="1" dirty="0">
                <a:solidFill>
                  <a:srgbClr val="375623"/>
                </a:solidFill>
                <a:latin typeface="Calibri" pitchFamily="34" charset="0"/>
                <a:ea typeface="Calibri" pitchFamily="34" charset="-122"/>
                <a:cs typeface="Calibri" pitchFamily="34" charset="-120"/>
              </a:rPr>
              <a:t>Queries / Steps:</a:t>
            </a:r>
            <a:endParaRPr lang="en-US" sz="900" dirty="0"/>
          </a:p>
        </p:txBody>
      </p:sp>
      <p:sp>
        <p:nvSpPr>
          <p:cNvPr id="23" name="Text 21"/>
          <p:cNvSpPr/>
          <p:nvPr/>
        </p:nvSpPr>
        <p:spPr>
          <a:xfrm>
            <a:off x="3337560" y="3438144"/>
            <a:ext cx="2560320" cy="1170432"/>
          </a:xfrm>
          <a:prstGeom prst="rect">
            <a:avLst/>
          </a:prstGeom>
          <a:noFill/>
          <a:ln/>
        </p:spPr>
        <p:txBody>
          <a:bodyPr wrap="square" rtlCol="0" anchor="ctr"/>
          <a:lstStyle/>
          <a:p>
            <a:pPr marL="0" indent="0">
              <a:buNone/>
            </a:pPr>
            <a:r>
              <a:rPr lang="en-US" sz="900" dirty="0">
                <a:solidFill>
                  <a:srgbClr val="375623"/>
                </a:solidFill>
                <a:latin typeface="Calibri" pitchFamily="34" charset="0"/>
                <a:ea typeface="Calibri" pitchFamily="34" charset="-122"/>
                <a:cs typeface="Calibri" pitchFamily="34" charset="-120"/>
              </a:rPr>
              <a:t>Change Price_UGX → Currency</a:t>
            </a:r>
            <a:endParaRPr lang="en-US" sz="900" dirty="0"/>
          </a:p>
          <a:p>
            <a:pPr marL="0" indent="0">
              <a:buNone/>
            </a:pPr>
            <a:r>
              <a:rPr lang="en-US" sz="900" dirty="0">
                <a:solidFill>
                  <a:srgbClr val="375623"/>
                </a:solidFill>
                <a:latin typeface="Calibri" pitchFamily="34" charset="0"/>
                <a:ea typeface="Calibri" pitchFamily="34" charset="-122"/>
                <a:cs typeface="Calibri" pitchFamily="34" charset="-120"/>
              </a:rPr>
              <a:t>Change Date_ID → Text</a:t>
            </a:r>
            <a:endParaRPr lang="en-US" sz="900" dirty="0"/>
          </a:p>
          <a:p>
            <a:pPr marL="0" indent="0">
              <a:buNone/>
            </a:pPr>
            <a:r>
              <a:rPr lang="en-US" sz="900" dirty="0">
                <a:solidFill>
                  <a:srgbClr val="375623"/>
                </a:solidFill>
                <a:latin typeface="Calibri" pitchFamily="34" charset="0"/>
                <a:ea typeface="Calibri" pitchFamily="34" charset="-122"/>
                <a:cs typeface="Calibri" pitchFamily="34" charset="-120"/>
              </a:rPr>
              <a:t>Filter NULL Station_ID rows</a:t>
            </a:r>
            <a:endParaRPr lang="en-US" sz="900" dirty="0"/>
          </a:p>
          <a:p>
            <a:pPr marL="0" indent="0">
              <a:buNone/>
            </a:pPr>
            <a:r>
              <a:rPr lang="en-US" sz="900" dirty="0">
                <a:solidFill>
                  <a:srgbClr val="375623"/>
                </a:solidFill>
                <a:latin typeface="Calibri" pitchFamily="34" charset="0"/>
                <a:ea typeface="Calibri" pitchFamily="34" charset="-122"/>
                <a:cs typeface="Calibri" pitchFamily="34" charset="-120"/>
              </a:rPr>
              <a:t>Add Revenue column</a:t>
            </a:r>
            <a:endParaRPr lang="en-US" sz="900" dirty="0"/>
          </a:p>
          <a:p>
            <a:pPr marL="0" indent="0">
              <a:buNone/>
            </a:pPr>
            <a:r>
              <a:rPr lang="en-US" sz="900" dirty="0">
                <a:solidFill>
                  <a:srgbClr val="375623"/>
                </a:solidFill>
                <a:latin typeface="Calibri" pitchFamily="34" charset="0"/>
                <a:ea typeface="Calibri" pitchFamily="34" charset="-122"/>
                <a:cs typeface="Calibri" pitchFamily="34" charset="-120"/>
              </a:rPr>
              <a:t>Change MoM_Pct → Percentage</a:t>
            </a:r>
            <a:endParaRPr lang="en-US" sz="900" dirty="0"/>
          </a:p>
          <a:p>
            <a:pPr marL="0" indent="0">
              <a:buNone/>
            </a:pPr>
            <a:r>
              <a:rPr lang="en-US" sz="900" dirty="0">
                <a:solidFill>
                  <a:srgbClr val="375623"/>
                </a:solidFill>
                <a:latin typeface="Calibri" pitchFamily="34" charset="0"/>
                <a:ea typeface="Calibri" pitchFamily="34" charset="-122"/>
                <a:cs typeface="Calibri" pitchFamily="34" charset="-120"/>
              </a:rPr>
              <a:t>Trim and standardise text</a:t>
            </a:r>
            <a:endParaRPr lang="en-US" sz="900" dirty="0"/>
          </a:p>
        </p:txBody>
      </p:sp>
      <p:sp>
        <p:nvSpPr>
          <p:cNvPr id="24" name="Shape 22"/>
          <p:cNvSpPr/>
          <p:nvPr/>
        </p:nvSpPr>
        <p:spPr>
          <a:xfrm>
            <a:off x="5943600" y="2560320"/>
            <a:ext cx="228600" cy="228600"/>
          </a:xfrm>
          <a:prstGeom prst="rect">
            <a:avLst/>
          </a:prstGeom>
          <a:solidFill>
            <a:srgbClr val="C9A84C"/>
          </a:solidFill>
          <a:ln w="12700">
            <a:solidFill>
              <a:srgbClr val="C9A84C"/>
            </a:solidFill>
            <a:prstDash val="solid"/>
          </a:ln>
        </p:spPr>
      </p:sp>
      <p:sp>
        <p:nvSpPr>
          <p:cNvPr id="25" name="Text 23"/>
          <p:cNvSpPr/>
          <p:nvPr/>
        </p:nvSpPr>
        <p:spPr>
          <a:xfrm>
            <a:off x="5943600" y="2487168"/>
            <a:ext cx="228600" cy="320040"/>
          </a:xfrm>
          <a:prstGeom prst="rect">
            <a:avLst/>
          </a:prstGeom>
          <a:noFill/>
          <a:ln/>
        </p:spPr>
        <p:txBody>
          <a:bodyPr wrap="square" rtlCol="0" anchor="ctr"/>
          <a:lstStyle/>
          <a:p>
            <a:pPr marL="0" indent="0" algn="ctr">
              <a:buNone/>
            </a:pPr>
            <a:r>
              <a:rPr lang="en-US" sz="1600" dirty="0">
                <a:solidFill>
                  <a:srgbClr val="C9A84C"/>
                </a:solidFill>
                <a:latin typeface="Calibri" pitchFamily="34" charset="0"/>
                <a:ea typeface="Calibri" pitchFamily="34" charset="-122"/>
                <a:cs typeface="Calibri" pitchFamily="34" charset="-120"/>
              </a:rPr>
              <a:t>→</a:t>
            </a:r>
            <a:endParaRPr lang="en-US" sz="1600" dirty="0"/>
          </a:p>
        </p:txBody>
      </p:sp>
      <p:sp>
        <p:nvSpPr>
          <p:cNvPr id="26" name="Shape 24"/>
          <p:cNvSpPr/>
          <p:nvPr/>
        </p:nvSpPr>
        <p:spPr>
          <a:xfrm>
            <a:off x="6172200" y="914400"/>
            <a:ext cx="2834640" cy="3858768"/>
          </a:xfrm>
          <a:prstGeom prst="rect">
            <a:avLst/>
          </a:prstGeom>
          <a:solidFill>
            <a:srgbClr val="F8FAFD"/>
          </a:solidFill>
          <a:ln w="25400">
            <a:solidFill>
              <a:srgbClr val="0F6E56"/>
            </a:solidFill>
            <a:prstDash val="solid"/>
          </a:ln>
        </p:spPr>
      </p:sp>
      <p:sp>
        <p:nvSpPr>
          <p:cNvPr id="27" name="Shape 25"/>
          <p:cNvSpPr/>
          <p:nvPr/>
        </p:nvSpPr>
        <p:spPr>
          <a:xfrm>
            <a:off x="6172200" y="914400"/>
            <a:ext cx="2834640" cy="502920"/>
          </a:xfrm>
          <a:prstGeom prst="rect">
            <a:avLst/>
          </a:prstGeom>
          <a:solidFill>
            <a:srgbClr val="0F6E56"/>
          </a:solidFill>
          <a:ln w="12700">
            <a:solidFill>
              <a:srgbClr val="0F6E56"/>
            </a:solidFill>
            <a:prstDash val="solid"/>
          </a:ln>
        </p:spPr>
      </p:sp>
      <p:sp>
        <p:nvSpPr>
          <p:cNvPr id="28" name="Text 26"/>
          <p:cNvSpPr/>
          <p:nvPr/>
        </p:nvSpPr>
        <p:spPr>
          <a:xfrm>
            <a:off x="6172200" y="914400"/>
            <a:ext cx="2834640" cy="5029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LAYER 3</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LOAD</a:t>
            </a:r>
            <a:endParaRPr lang="en-US" sz="1100" dirty="0"/>
          </a:p>
        </p:txBody>
      </p:sp>
      <p:sp>
        <p:nvSpPr>
          <p:cNvPr id="29" name="Text 27"/>
          <p:cNvSpPr/>
          <p:nvPr/>
        </p:nvSpPr>
        <p:spPr>
          <a:xfrm>
            <a:off x="6263640" y="1463040"/>
            <a:ext cx="2651760" cy="1645920"/>
          </a:xfrm>
          <a:prstGeom prst="rect">
            <a:avLst/>
          </a:prstGeom>
          <a:noFill/>
          <a:ln/>
        </p:spPr>
        <p:txBody>
          <a:bodyPr wrap="square" rtlCol="0" anchor="ctr"/>
          <a:lstStyle/>
          <a:p>
            <a:pPr marL="0" indent="0">
              <a:buNone/>
            </a:pPr>
            <a:r>
              <a:rPr lang="en-US" sz="1000" dirty="0">
                <a:solidFill>
                  <a:srgbClr val="404040"/>
                </a:solidFill>
                <a:latin typeface="Calibri" pitchFamily="34" charset="0"/>
                <a:ea typeface="Calibri" pitchFamily="34" charset="-122"/>
                <a:cs typeface="Calibri" pitchFamily="34" charset="-120"/>
              </a:rPr>
              <a:t>Enable Load on 6 final tables only</a:t>
            </a:r>
            <a:endParaRPr lang="en-US" sz="1000" dirty="0"/>
          </a:p>
          <a:p>
            <a:pPr marL="0" indent="0">
              <a:buNone/>
            </a:pPr>
            <a:r>
              <a:rPr lang="en-US" sz="1000" dirty="0">
                <a:solidFill>
                  <a:srgbClr val="404040"/>
                </a:solidFill>
                <a:latin typeface="Calibri" pitchFamily="34" charset="0"/>
                <a:ea typeface="Calibri" pitchFamily="34" charset="-122"/>
                <a:cs typeface="Calibri" pitchFamily="34" charset="-120"/>
              </a:rPr>
              <a:t>Click Close &amp; Apply</a:t>
            </a:r>
            <a:endParaRPr lang="en-US" sz="1000" dirty="0"/>
          </a:p>
          <a:p>
            <a:pPr marL="0" indent="0">
              <a:buNone/>
            </a:pPr>
            <a:r>
              <a:rPr lang="en-US" sz="1000" dirty="0">
                <a:solidFill>
                  <a:srgbClr val="404040"/>
                </a:solidFill>
                <a:latin typeface="Calibri" pitchFamily="34" charset="0"/>
                <a:ea typeface="Calibri" pitchFamily="34" charset="-122"/>
                <a:cs typeface="Calibri" pitchFamily="34" charset="-120"/>
              </a:rPr>
              <a:t>Draw relationships in Model view</a:t>
            </a:r>
            <a:endParaRPr lang="en-US" sz="1000" dirty="0"/>
          </a:p>
          <a:p>
            <a:pPr marL="0" indent="0">
              <a:buNone/>
            </a:pPr>
            <a:r>
              <a:rPr lang="en-US" sz="1000" dirty="0">
                <a:solidFill>
                  <a:srgbClr val="404040"/>
                </a:solidFill>
                <a:latin typeface="Calibri" pitchFamily="34" charset="0"/>
                <a:ea typeface="Calibri" pitchFamily="34" charset="-122"/>
                <a:cs typeface="Calibri" pitchFamily="34" charset="-120"/>
              </a:rPr>
              <a:t>fact → dim_date (Date_ID)</a:t>
            </a:r>
            <a:endParaRPr lang="en-US" sz="1000" dirty="0"/>
          </a:p>
          <a:p>
            <a:pPr marL="0" indent="0">
              <a:buNone/>
            </a:pPr>
            <a:r>
              <a:rPr lang="en-US" sz="1000" dirty="0">
                <a:solidFill>
                  <a:srgbClr val="404040"/>
                </a:solidFill>
                <a:latin typeface="Calibri" pitchFamily="34" charset="0"/>
                <a:ea typeface="Calibri" pitchFamily="34" charset="-122"/>
                <a:cs typeface="Calibri" pitchFamily="34" charset="-120"/>
              </a:rPr>
              <a:t>fact → dim_stations (Station_ID)</a:t>
            </a:r>
            <a:endParaRPr lang="en-US" sz="1000" dirty="0"/>
          </a:p>
          <a:p>
            <a:pPr marL="0" indent="0">
              <a:buNone/>
            </a:pPr>
            <a:r>
              <a:rPr lang="en-US" sz="1000" dirty="0">
                <a:solidFill>
                  <a:srgbClr val="404040"/>
                </a:solidFill>
                <a:latin typeface="Calibri" pitchFamily="34" charset="0"/>
                <a:ea typeface="Calibri" pitchFamily="34" charset="-122"/>
                <a:cs typeface="Calibri" pitchFamily="34" charset="-120"/>
              </a:rPr>
              <a:t>fact → dim_fuel_types (Fuel_Type_ID)</a:t>
            </a:r>
            <a:endParaRPr lang="en-US" sz="1000" dirty="0"/>
          </a:p>
        </p:txBody>
      </p:sp>
      <p:sp>
        <p:nvSpPr>
          <p:cNvPr id="30" name="Shape 28"/>
          <p:cNvSpPr/>
          <p:nvPr/>
        </p:nvSpPr>
        <p:spPr>
          <a:xfrm>
            <a:off x="6263640" y="3154680"/>
            <a:ext cx="2651760" cy="1481328"/>
          </a:xfrm>
          <a:prstGeom prst="rect">
            <a:avLst/>
          </a:prstGeom>
          <a:solidFill>
            <a:srgbClr val="EEF4FF"/>
          </a:solidFill>
          <a:ln w="6350">
            <a:solidFill>
              <a:srgbClr val="CCDDFF"/>
            </a:solidFill>
            <a:prstDash val="solid"/>
          </a:ln>
        </p:spPr>
      </p:sp>
      <p:sp>
        <p:nvSpPr>
          <p:cNvPr id="31" name="Text 29"/>
          <p:cNvSpPr/>
          <p:nvPr/>
        </p:nvSpPr>
        <p:spPr>
          <a:xfrm>
            <a:off x="6309360" y="3182112"/>
            <a:ext cx="2560320" cy="256032"/>
          </a:xfrm>
          <a:prstGeom prst="rect">
            <a:avLst/>
          </a:prstGeom>
          <a:noFill/>
          <a:ln/>
        </p:spPr>
        <p:txBody>
          <a:bodyPr wrap="square" rtlCol="0" anchor="ctr"/>
          <a:lstStyle/>
          <a:p>
            <a:pPr marL="0" indent="0">
              <a:buNone/>
            </a:pPr>
            <a:r>
              <a:rPr lang="en-US" sz="900" b="1" dirty="0">
                <a:solidFill>
                  <a:srgbClr val="0F6E56"/>
                </a:solidFill>
                <a:latin typeface="Calibri" pitchFamily="34" charset="0"/>
                <a:ea typeface="Calibri" pitchFamily="34" charset="-122"/>
                <a:cs typeface="Calibri" pitchFamily="34" charset="-120"/>
              </a:rPr>
              <a:t>Queries / Steps:</a:t>
            </a:r>
            <a:endParaRPr lang="en-US" sz="900" dirty="0"/>
          </a:p>
        </p:txBody>
      </p:sp>
      <p:sp>
        <p:nvSpPr>
          <p:cNvPr id="32" name="Text 30"/>
          <p:cNvSpPr/>
          <p:nvPr/>
        </p:nvSpPr>
        <p:spPr>
          <a:xfrm>
            <a:off x="6309360" y="3438144"/>
            <a:ext cx="2560320" cy="1170432"/>
          </a:xfrm>
          <a:prstGeom prst="rect">
            <a:avLst/>
          </a:prstGeom>
          <a:noFill/>
          <a:ln/>
        </p:spPr>
        <p:txBody>
          <a:bodyPr wrap="square" rtlCol="0" anchor="ctr"/>
          <a:lstStyle/>
          <a:p>
            <a:pPr marL="0" indent="0">
              <a:buNone/>
            </a:pPr>
            <a:r>
              <a:rPr lang="en-US" sz="900" dirty="0">
                <a:solidFill>
                  <a:srgbClr val="0F6E56"/>
                </a:solidFill>
                <a:latin typeface="Calibri" pitchFamily="34" charset="0"/>
                <a:ea typeface="Calibri" pitchFamily="34" charset="-122"/>
                <a:cs typeface="Calibri" pitchFamily="34" charset="-120"/>
              </a:rPr>
              <a:t>fact_fuel_prices ✓</a:t>
            </a:r>
            <a:endParaRPr lang="en-US" sz="900" dirty="0"/>
          </a:p>
          <a:p>
            <a:pPr marL="0" indent="0">
              <a:buNone/>
            </a:pPr>
            <a:r>
              <a:rPr lang="en-US" sz="900" dirty="0">
                <a:solidFill>
                  <a:srgbClr val="0F6E56"/>
                </a:solidFill>
                <a:latin typeface="Calibri" pitchFamily="34" charset="0"/>
                <a:ea typeface="Calibri" pitchFamily="34" charset="-122"/>
                <a:cs typeface="Calibri" pitchFamily="34" charset="-120"/>
              </a:rPr>
              <a:t>dim_stations ✓</a:t>
            </a:r>
            <a:endParaRPr lang="en-US" sz="900" dirty="0"/>
          </a:p>
          <a:p>
            <a:pPr marL="0" indent="0">
              <a:buNone/>
            </a:pPr>
            <a:r>
              <a:rPr lang="en-US" sz="900" dirty="0">
                <a:solidFill>
                  <a:srgbClr val="0F6E56"/>
                </a:solidFill>
                <a:latin typeface="Calibri" pitchFamily="34" charset="0"/>
                <a:ea typeface="Calibri" pitchFamily="34" charset="-122"/>
                <a:cs typeface="Calibri" pitchFamily="34" charset="-120"/>
              </a:rPr>
              <a:t>dim_fuel_types ✓</a:t>
            </a:r>
            <a:endParaRPr lang="en-US" sz="900" dirty="0"/>
          </a:p>
          <a:p>
            <a:pPr marL="0" indent="0">
              <a:buNone/>
            </a:pPr>
            <a:r>
              <a:rPr lang="en-US" sz="900" dirty="0">
                <a:solidFill>
                  <a:srgbClr val="0F6E56"/>
                </a:solidFill>
                <a:latin typeface="Calibri" pitchFamily="34" charset="0"/>
                <a:ea typeface="Calibri" pitchFamily="34" charset="-122"/>
                <a:cs typeface="Calibri" pitchFamily="34" charset="-120"/>
              </a:rPr>
              <a:t>dim_regions ✓</a:t>
            </a:r>
            <a:endParaRPr lang="en-US" sz="900" dirty="0"/>
          </a:p>
          <a:p>
            <a:pPr marL="0" indent="0">
              <a:buNone/>
            </a:pPr>
            <a:r>
              <a:rPr lang="en-US" sz="900" dirty="0">
                <a:solidFill>
                  <a:srgbClr val="0F6E56"/>
                </a:solidFill>
                <a:latin typeface="Calibri" pitchFamily="34" charset="0"/>
                <a:ea typeface="Calibri" pitchFamily="34" charset="-122"/>
                <a:cs typeface="Calibri" pitchFamily="34" charset="-120"/>
              </a:rPr>
              <a:t>dim_date ✓</a:t>
            </a:r>
            <a:endParaRPr lang="en-US" sz="900" dirty="0"/>
          </a:p>
          <a:p>
            <a:pPr marL="0" indent="0">
              <a:buNone/>
            </a:pPr>
            <a:r>
              <a:rPr lang="en-US" sz="900" dirty="0">
                <a:solidFill>
                  <a:srgbClr val="0F6E56"/>
                </a:solidFill>
                <a:latin typeface="Calibri" pitchFamily="34" charset="0"/>
                <a:ea typeface="Calibri" pitchFamily="34" charset="-122"/>
                <a:cs typeface="Calibri" pitchFamily="34" charset="-120"/>
              </a:rPr>
              <a:t>national_avg_prices ✓</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F3864"/>
          </a:solidFill>
          <a:ln w="12700">
            <a:solidFill>
              <a:srgbClr val="1F3864"/>
            </a:solidFill>
            <a:prstDash val="solid"/>
          </a:ln>
        </p:spPr>
      </p:sp>
      <p:sp>
        <p:nvSpPr>
          <p:cNvPr id="3" name="Shape 1"/>
          <p:cNvSpPr/>
          <p:nvPr/>
        </p:nvSpPr>
        <p:spPr>
          <a:xfrm>
            <a:off x="0" y="777240"/>
            <a:ext cx="9144000" cy="54864"/>
          </a:xfrm>
          <a:prstGeom prst="rect">
            <a:avLst/>
          </a:prstGeom>
          <a:solidFill>
            <a:srgbClr val="C9A84C"/>
          </a:solidFill>
          <a:ln w="12700">
            <a:solidFill>
              <a:srgbClr val="C9A84C"/>
            </a:solidFill>
            <a:prstDash val="solid"/>
          </a:ln>
        </p:spPr>
      </p:sp>
      <p:sp>
        <p:nvSpPr>
          <p:cNvPr id="4" name="Text 2"/>
          <p:cNvSpPr/>
          <p:nvPr/>
        </p:nvSpPr>
        <p:spPr>
          <a:xfrm>
            <a:off x="274320" y="36576"/>
            <a:ext cx="8595360" cy="713232"/>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DAX Measures &amp; Data Model</a:t>
            </a:r>
            <a:endParaRPr lang="en-US" sz="2000" dirty="0"/>
          </a:p>
        </p:txBody>
      </p:sp>
      <p:sp>
        <p:nvSpPr>
          <p:cNvPr id="5" name="Text 3"/>
          <p:cNvSpPr/>
          <p:nvPr/>
        </p:nvSpPr>
        <p:spPr>
          <a:xfrm>
            <a:off x="274320" y="804672"/>
            <a:ext cx="8595360" cy="274320"/>
          </a:xfrm>
          <a:prstGeom prst="rect">
            <a:avLst/>
          </a:prstGeom>
          <a:noFill/>
          <a:ln/>
        </p:spPr>
        <p:txBody>
          <a:bodyPr wrap="square" rtlCol="0" anchor="ctr"/>
          <a:lstStyle/>
          <a:p>
            <a:pPr marL="0" indent="0">
              <a:buNone/>
            </a:pPr>
            <a:r>
              <a:rPr lang="en-US" sz="1100" i="1" dirty="0">
                <a:solidFill>
                  <a:srgbClr val="888888"/>
                </a:solidFill>
                <a:latin typeface="Calibri" pitchFamily="34" charset="0"/>
                <a:ea typeface="Calibri" pitchFamily="34" charset="-122"/>
                <a:cs typeface="Calibri" pitchFamily="34" charset="-120"/>
              </a:rPr>
              <a:t>Six calculated measures powering all KPI cards and analytics</a:t>
            </a:r>
            <a:endParaRPr lang="en-US" sz="1100" dirty="0"/>
          </a:p>
        </p:txBody>
      </p:sp>
      <p:sp>
        <p:nvSpPr>
          <p:cNvPr id="6" name="Shape 4"/>
          <p:cNvSpPr/>
          <p:nvPr/>
        </p:nvSpPr>
        <p:spPr>
          <a:xfrm>
            <a:off x="0" y="4892040"/>
            <a:ext cx="9144000" cy="256032"/>
          </a:xfrm>
          <a:prstGeom prst="rect">
            <a:avLst/>
          </a:prstGeom>
          <a:solidFill>
            <a:srgbClr val="F0F0F0"/>
          </a:solidFill>
          <a:ln w="12700">
            <a:solidFill>
              <a:srgbClr val="DDDDDD"/>
            </a:solidFill>
            <a:prstDash val="solid"/>
          </a:ln>
        </p:spPr>
      </p:sp>
      <p:sp>
        <p:nvSpPr>
          <p:cNvPr id="7" name="Text 5"/>
          <p:cNvSpPr/>
          <p:nvPr/>
        </p:nvSpPr>
        <p:spPr>
          <a:xfrm>
            <a:off x="182880" y="4910328"/>
            <a:ext cx="7315200" cy="201168"/>
          </a:xfrm>
          <a:prstGeom prst="rect">
            <a:avLst/>
          </a:prstGeom>
          <a:noFill/>
          <a:ln/>
        </p:spPr>
        <p:txBody>
          <a:bodyPr wrap="square" rtlCol="0" anchor="ctr"/>
          <a:lstStyle/>
          <a:p>
            <a:pPr marL="0" indent="0">
              <a:buNone/>
            </a:pPr>
            <a:r>
              <a:rPr lang="en-US" sz="800" dirty="0">
                <a:solidFill>
                  <a:srgbClr val="888888"/>
                </a:solidFill>
                <a:latin typeface="Calibri" pitchFamily="34" charset="0"/>
                <a:ea typeface="Calibri" pitchFamily="34" charset="-122"/>
                <a:cs typeface="Calibri" pitchFamily="34" charset="-120"/>
              </a:rPr>
              <a:t>Uganda Fuel Price &amp; Consumption Data Warehouse  |  Group 4  |  College of Computing and Informatics Technology</a:t>
            </a:r>
            <a:endParaRPr lang="en-US" sz="800" dirty="0"/>
          </a:p>
        </p:txBody>
      </p:sp>
      <p:sp>
        <p:nvSpPr>
          <p:cNvPr id="8" name="Text 6"/>
          <p:cNvSpPr/>
          <p:nvPr/>
        </p:nvSpPr>
        <p:spPr>
          <a:xfrm>
            <a:off x="8229600" y="4910328"/>
            <a:ext cx="731520" cy="201168"/>
          </a:xfrm>
          <a:prstGeom prst="rect">
            <a:avLst/>
          </a:prstGeom>
          <a:noFill/>
          <a:ln/>
        </p:spPr>
        <p:txBody>
          <a:bodyPr wrap="square" rtlCol="0" anchor="ctr"/>
          <a:lstStyle/>
          <a:p>
            <a:pPr marL="0" indent="0" algn="r">
              <a:buNone/>
            </a:pPr>
            <a:r>
              <a:rPr lang="en-US" sz="800" dirty="0">
                <a:solidFill>
                  <a:srgbClr val="888888"/>
                </a:solidFill>
                <a:latin typeface="Calibri" pitchFamily="34" charset="0"/>
                <a:ea typeface="Calibri" pitchFamily="34" charset="-122"/>
                <a:cs typeface="Calibri" pitchFamily="34" charset="-120"/>
              </a:rPr>
              <a:t>8 / 18</a:t>
            </a:r>
            <a:endParaRPr lang="en-US" sz="800" dirty="0"/>
          </a:p>
        </p:txBody>
      </p:sp>
      <p:sp>
        <p:nvSpPr>
          <p:cNvPr id="9" name="Shape 7"/>
          <p:cNvSpPr/>
          <p:nvPr/>
        </p:nvSpPr>
        <p:spPr>
          <a:xfrm>
            <a:off x="228600" y="1005840"/>
            <a:ext cx="4206240" cy="1097280"/>
          </a:xfrm>
          <a:prstGeom prst="rect">
            <a:avLst/>
          </a:prstGeom>
          <a:solidFill>
            <a:srgbClr val="F8FAFD"/>
          </a:solidFill>
          <a:ln w="15240">
            <a:solidFill>
              <a:srgbClr val="1F3864"/>
            </a:solidFill>
            <a:prstDash val="solid"/>
          </a:ln>
        </p:spPr>
      </p:sp>
      <p:sp>
        <p:nvSpPr>
          <p:cNvPr id="10" name="Shape 8"/>
          <p:cNvSpPr/>
          <p:nvPr/>
        </p:nvSpPr>
        <p:spPr>
          <a:xfrm>
            <a:off x="228600" y="1005840"/>
            <a:ext cx="4206240" cy="329184"/>
          </a:xfrm>
          <a:prstGeom prst="rect">
            <a:avLst/>
          </a:prstGeom>
          <a:solidFill>
            <a:srgbClr val="1F3864"/>
          </a:solidFill>
          <a:ln w="12700">
            <a:solidFill>
              <a:srgbClr val="1F3864"/>
            </a:solidFill>
            <a:prstDash val="solid"/>
          </a:ln>
        </p:spPr>
      </p:sp>
      <p:sp>
        <p:nvSpPr>
          <p:cNvPr id="11" name="Text 9"/>
          <p:cNvSpPr/>
          <p:nvPr/>
        </p:nvSpPr>
        <p:spPr>
          <a:xfrm>
            <a:off x="320040" y="1005840"/>
            <a:ext cx="4023360" cy="329184"/>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Avg Price UGX</a:t>
            </a:r>
            <a:endParaRPr lang="en-US" sz="1100" dirty="0"/>
          </a:p>
        </p:txBody>
      </p:sp>
      <p:sp>
        <p:nvSpPr>
          <p:cNvPr id="12" name="Shape 10"/>
          <p:cNvSpPr/>
          <p:nvPr/>
        </p:nvSpPr>
        <p:spPr>
          <a:xfrm>
            <a:off x="320040" y="1371600"/>
            <a:ext cx="4023360" cy="310896"/>
          </a:xfrm>
          <a:prstGeom prst="rect">
            <a:avLst/>
          </a:prstGeom>
          <a:solidFill>
            <a:srgbClr val="EEF4FF"/>
          </a:solidFill>
          <a:ln w="3810">
            <a:solidFill>
              <a:srgbClr val="CCDDFF"/>
            </a:solidFill>
            <a:prstDash val="solid"/>
          </a:ln>
        </p:spPr>
      </p:sp>
      <p:sp>
        <p:nvSpPr>
          <p:cNvPr id="13" name="Text 11"/>
          <p:cNvSpPr/>
          <p:nvPr/>
        </p:nvSpPr>
        <p:spPr>
          <a:xfrm>
            <a:off x="365760" y="1371600"/>
            <a:ext cx="3931920" cy="310896"/>
          </a:xfrm>
          <a:prstGeom prst="rect">
            <a:avLst/>
          </a:prstGeom>
          <a:noFill/>
          <a:ln/>
        </p:spPr>
        <p:txBody>
          <a:bodyPr wrap="square" rtlCol="0" anchor="ctr"/>
          <a:lstStyle/>
          <a:p>
            <a:pPr marL="0" indent="0">
              <a:buNone/>
            </a:pPr>
            <a:r>
              <a:rPr lang="en-US" sz="900" dirty="0">
                <a:solidFill>
                  <a:srgbClr val="1F3864"/>
                </a:solidFill>
                <a:latin typeface="Courier New" pitchFamily="34" charset="0"/>
                <a:ea typeface="Courier New" pitchFamily="34" charset="-122"/>
                <a:cs typeface="Courier New" pitchFamily="34" charset="-120"/>
              </a:rPr>
              <a:t>AVERAGE(fact_fuel_prices[Price_UGX])</a:t>
            </a:r>
            <a:endParaRPr lang="en-US" sz="900" dirty="0"/>
          </a:p>
        </p:txBody>
      </p:sp>
      <p:sp>
        <p:nvSpPr>
          <p:cNvPr id="14" name="Text 12"/>
          <p:cNvSpPr/>
          <p:nvPr/>
        </p:nvSpPr>
        <p:spPr>
          <a:xfrm>
            <a:off x="320040" y="1719072"/>
            <a:ext cx="4023360" cy="347472"/>
          </a:xfrm>
          <a:prstGeom prst="rect">
            <a:avLst/>
          </a:prstGeom>
          <a:noFill/>
          <a:ln/>
        </p:spPr>
        <p:txBody>
          <a:bodyPr wrap="square" rtlCol="0" anchor="ctr"/>
          <a:lstStyle/>
          <a:p>
            <a:pPr marL="0" indent="0">
              <a:buNone/>
            </a:pPr>
            <a:r>
              <a:rPr lang="en-US" sz="1000" dirty="0">
                <a:solidFill>
                  <a:srgbClr val="404040"/>
                </a:solidFill>
                <a:latin typeface="Calibri" pitchFamily="34" charset="0"/>
                <a:ea typeface="Calibri" pitchFamily="34" charset="-122"/>
                <a:cs typeface="Calibri" pitchFamily="34" charset="-120"/>
              </a:rPr>
              <a:t>Average price across any filter — region, brand, fuel type</a:t>
            </a:r>
            <a:endParaRPr lang="en-US" sz="1000" dirty="0"/>
          </a:p>
        </p:txBody>
      </p:sp>
      <p:sp>
        <p:nvSpPr>
          <p:cNvPr id="15" name="Shape 13"/>
          <p:cNvSpPr/>
          <p:nvPr/>
        </p:nvSpPr>
        <p:spPr>
          <a:xfrm>
            <a:off x="228600" y="2249424"/>
            <a:ext cx="4206240" cy="1097280"/>
          </a:xfrm>
          <a:prstGeom prst="rect">
            <a:avLst/>
          </a:prstGeom>
          <a:solidFill>
            <a:srgbClr val="F8FAFD"/>
          </a:solidFill>
          <a:ln w="15240">
            <a:solidFill>
              <a:srgbClr val="375623"/>
            </a:solidFill>
            <a:prstDash val="solid"/>
          </a:ln>
        </p:spPr>
      </p:sp>
      <p:sp>
        <p:nvSpPr>
          <p:cNvPr id="16" name="Shape 14"/>
          <p:cNvSpPr/>
          <p:nvPr/>
        </p:nvSpPr>
        <p:spPr>
          <a:xfrm>
            <a:off x="228600" y="2249424"/>
            <a:ext cx="4206240" cy="329184"/>
          </a:xfrm>
          <a:prstGeom prst="rect">
            <a:avLst/>
          </a:prstGeom>
          <a:solidFill>
            <a:srgbClr val="375623"/>
          </a:solidFill>
          <a:ln w="12700">
            <a:solidFill>
              <a:srgbClr val="375623"/>
            </a:solidFill>
            <a:prstDash val="solid"/>
          </a:ln>
        </p:spPr>
      </p:sp>
      <p:sp>
        <p:nvSpPr>
          <p:cNvPr id="17" name="Text 15"/>
          <p:cNvSpPr/>
          <p:nvPr/>
        </p:nvSpPr>
        <p:spPr>
          <a:xfrm>
            <a:off x="320040" y="2249424"/>
            <a:ext cx="4023360" cy="329184"/>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Total Revenue</a:t>
            </a:r>
            <a:endParaRPr lang="en-US" sz="1100" dirty="0"/>
          </a:p>
        </p:txBody>
      </p:sp>
      <p:sp>
        <p:nvSpPr>
          <p:cNvPr id="18" name="Shape 16"/>
          <p:cNvSpPr/>
          <p:nvPr/>
        </p:nvSpPr>
        <p:spPr>
          <a:xfrm>
            <a:off x="320040" y="2615184"/>
            <a:ext cx="4023360" cy="310896"/>
          </a:xfrm>
          <a:prstGeom prst="rect">
            <a:avLst/>
          </a:prstGeom>
          <a:solidFill>
            <a:srgbClr val="EEF4FF"/>
          </a:solidFill>
          <a:ln w="3810">
            <a:solidFill>
              <a:srgbClr val="CCDDFF"/>
            </a:solidFill>
            <a:prstDash val="solid"/>
          </a:ln>
        </p:spPr>
      </p:sp>
      <p:sp>
        <p:nvSpPr>
          <p:cNvPr id="19" name="Text 17"/>
          <p:cNvSpPr/>
          <p:nvPr/>
        </p:nvSpPr>
        <p:spPr>
          <a:xfrm>
            <a:off x="365760" y="2615184"/>
            <a:ext cx="3931920" cy="310896"/>
          </a:xfrm>
          <a:prstGeom prst="rect">
            <a:avLst/>
          </a:prstGeom>
          <a:noFill/>
          <a:ln/>
        </p:spPr>
        <p:txBody>
          <a:bodyPr wrap="square" rtlCol="0" anchor="ctr"/>
          <a:lstStyle/>
          <a:p>
            <a:pPr marL="0" indent="0">
              <a:buNone/>
            </a:pPr>
            <a:r>
              <a:rPr lang="en-US" sz="900" dirty="0">
                <a:solidFill>
                  <a:srgbClr val="1F3864"/>
                </a:solidFill>
                <a:latin typeface="Courier New" pitchFamily="34" charset="0"/>
                <a:ea typeface="Courier New" pitchFamily="34" charset="-122"/>
                <a:cs typeface="Courier New" pitchFamily="34" charset="-120"/>
              </a:rPr>
              <a:t>SUM(fact_fuel_prices[Revenue_UGX])</a:t>
            </a:r>
            <a:endParaRPr lang="en-US" sz="900" dirty="0"/>
          </a:p>
        </p:txBody>
      </p:sp>
      <p:sp>
        <p:nvSpPr>
          <p:cNvPr id="20" name="Text 18"/>
          <p:cNvSpPr/>
          <p:nvPr/>
        </p:nvSpPr>
        <p:spPr>
          <a:xfrm>
            <a:off x="320040" y="2962656"/>
            <a:ext cx="4023360" cy="347472"/>
          </a:xfrm>
          <a:prstGeom prst="rect">
            <a:avLst/>
          </a:prstGeom>
          <a:noFill/>
          <a:ln/>
        </p:spPr>
        <p:txBody>
          <a:bodyPr wrap="square" rtlCol="0" anchor="ctr"/>
          <a:lstStyle/>
          <a:p>
            <a:pPr marL="0" indent="0">
              <a:buNone/>
            </a:pPr>
            <a:r>
              <a:rPr lang="en-US" sz="1000" dirty="0">
                <a:solidFill>
                  <a:srgbClr val="404040"/>
                </a:solidFill>
                <a:latin typeface="Calibri" pitchFamily="34" charset="0"/>
                <a:ea typeface="Calibri" pitchFamily="34" charset="-122"/>
                <a:cs typeface="Calibri" pitchFamily="34" charset="-120"/>
              </a:rPr>
              <a:t>Aggregate revenue across any selection</a:t>
            </a:r>
            <a:endParaRPr lang="en-US" sz="1000" dirty="0"/>
          </a:p>
        </p:txBody>
      </p:sp>
      <p:sp>
        <p:nvSpPr>
          <p:cNvPr id="21" name="Shape 19"/>
          <p:cNvSpPr/>
          <p:nvPr/>
        </p:nvSpPr>
        <p:spPr>
          <a:xfrm>
            <a:off x="228600" y="3493008"/>
            <a:ext cx="4206240" cy="1097280"/>
          </a:xfrm>
          <a:prstGeom prst="rect">
            <a:avLst/>
          </a:prstGeom>
          <a:solidFill>
            <a:srgbClr val="F8FAFD"/>
          </a:solidFill>
          <a:ln w="15240">
            <a:solidFill>
              <a:srgbClr val="3C3489"/>
            </a:solidFill>
            <a:prstDash val="solid"/>
          </a:ln>
        </p:spPr>
      </p:sp>
      <p:sp>
        <p:nvSpPr>
          <p:cNvPr id="22" name="Shape 20"/>
          <p:cNvSpPr/>
          <p:nvPr/>
        </p:nvSpPr>
        <p:spPr>
          <a:xfrm>
            <a:off x="228600" y="3493008"/>
            <a:ext cx="4206240" cy="329184"/>
          </a:xfrm>
          <a:prstGeom prst="rect">
            <a:avLst/>
          </a:prstGeom>
          <a:solidFill>
            <a:srgbClr val="3C3489"/>
          </a:solidFill>
          <a:ln w="12700">
            <a:solidFill>
              <a:srgbClr val="3C3489"/>
            </a:solidFill>
            <a:prstDash val="solid"/>
          </a:ln>
        </p:spPr>
      </p:sp>
      <p:sp>
        <p:nvSpPr>
          <p:cNvPr id="23" name="Text 21"/>
          <p:cNvSpPr/>
          <p:nvPr/>
        </p:nvSpPr>
        <p:spPr>
          <a:xfrm>
            <a:off x="320040" y="3493008"/>
            <a:ext cx="4023360" cy="329184"/>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Total Volume Litres</a:t>
            </a:r>
            <a:endParaRPr lang="en-US" sz="1100" dirty="0"/>
          </a:p>
        </p:txBody>
      </p:sp>
      <p:sp>
        <p:nvSpPr>
          <p:cNvPr id="24" name="Shape 22"/>
          <p:cNvSpPr/>
          <p:nvPr/>
        </p:nvSpPr>
        <p:spPr>
          <a:xfrm>
            <a:off x="320040" y="3858768"/>
            <a:ext cx="4023360" cy="310896"/>
          </a:xfrm>
          <a:prstGeom prst="rect">
            <a:avLst/>
          </a:prstGeom>
          <a:solidFill>
            <a:srgbClr val="EEF4FF"/>
          </a:solidFill>
          <a:ln w="3810">
            <a:solidFill>
              <a:srgbClr val="CCDDFF"/>
            </a:solidFill>
            <a:prstDash val="solid"/>
          </a:ln>
        </p:spPr>
      </p:sp>
      <p:sp>
        <p:nvSpPr>
          <p:cNvPr id="25" name="Text 23"/>
          <p:cNvSpPr/>
          <p:nvPr/>
        </p:nvSpPr>
        <p:spPr>
          <a:xfrm>
            <a:off x="365760" y="3858768"/>
            <a:ext cx="3931920" cy="310896"/>
          </a:xfrm>
          <a:prstGeom prst="rect">
            <a:avLst/>
          </a:prstGeom>
          <a:noFill/>
          <a:ln/>
        </p:spPr>
        <p:txBody>
          <a:bodyPr wrap="square" rtlCol="0" anchor="ctr"/>
          <a:lstStyle/>
          <a:p>
            <a:pPr marL="0" indent="0">
              <a:buNone/>
            </a:pPr>
            <a:r>
              <a:rPr lang="en-US" sz="900" dirty="0">
                <a:solidFill>
                  <a:srgbClr val="1F3864"/>
                </a:solidFill>
                <a:latin typeface="Courier New" pitchFamily="34" charset="0"/>
                <a:ea typeface="Courier New" pitchFamily="34" charset="-122"/>
                <a:cs typeface="Courier New" pitchFamily="34" charset="-120"/>
              </a:rPr>
              <a:t>SUM(fact_fuel_prices[Volume_Litres_Sold])</a:t>
            </a:r>
            <a:endParaRPr lang="en-US" sz="900" dirty="0"/>
          </a:p>
        </p:txBody>
      </p:sp>
      <p:sp>
        <p:nvSpPr>
          <p:cNvPr id="26" name="Text 24"/>
          <p:cNvSpPr/>
          <p:nvPr/>
        </p:nvSpPr>
        <p:spPr>
          <a:xfrm>
            <a:off x="320040" y="4206240"/>
            <a:ext cx="4023360" cy="347472"/>
          </a:xfrm>
          <a:prstGeom prst="rect">
            <a:avLst/>
          </a:prstGeom>
          <a:noFill/>
          <a:ln/>
        </p:spPr>
        <p:txBody>
          <a:bodyPr wrap="square" rtlCol="0" anchor="ctr"/>
          <a:lstStyle/>
          <a:p>
            <a:pPr marL="0" indent="0">
              <a:buNone/>
            </a:pPr>
            <a:r>
              <a:rPr lang="en-US" sz="1000" dirty="0">
                <a:solidFill>
                  <a:srgbClr val="404040"/>
                </a:solidFill>
                <a:latin typeface="Calibri" pitchFamily="34" charset="0"/>
                <a:ea typeface="Calibri" pitchFamily="34" charset="-122"/>
                <a:cs typeface="Calibri" pitchFamily="34" charset="-120"/>
              </a:rPr>
              <a:t>Total litres sold — used for demand analysis</a:t>
            </a:r>
            <a:endParaRPr lang="en-US" sz="1000" dirty="0"/>
          </a:p>
        </p:txBody>
      </p:sp>
      <p:sp>
        <p:nvSpPr>
          <p:cNvPr id="27" name="Shape 25"/>
          <p:cNvSpPr/>
          <p:nvPr/>
        </p:nvSpPr>
        <p:spPr>
          <a:xfrm>
            <a:off x="4663440" y="1005840"/>
            <a:ext cx="4206240" cy="1097280"/>
          </a:xfrm>
          <a:prstGeom prst="rect">
            <a:avLst/>
          </a:prstGeom>
          <a:solidFill>
            <a:srgbClr val="F8FAFD"/>
          </a:solidFill>
          <a:ln w="15240">
            <a:solidFill>
              <a:srgbClr val="843C0C"/>
            </a:solidFill>
            <a:prstDash val="solid"/>
          </a:ln>
        </p:spPr>
      </p:sp>
      <p:sp>
        <p:nvSpPr>
          <p:cNvPr id="28" name="Shape 26"/>
          <p:cNvSpPr/>
          <p:nvPr/>
        </p:nvSpPr>
        <p:spPr>
          <a:xfrm>
            <a:off x="4663440" y="1005840"/>
            <a:ext cx="4206240" cy="329184"/>
          </a:xfrm>
          <a:prstGeom prst="rect">
            <a:avLst/>
          </a:prstGeom>
          <a:solidFill>
            <a:srgbClr val="843C0C"/>
          </a:solidFill>
          <a:ln w="12700">
            <a:solidFill>
              <a:srgbClr val="843C0C"/>
            </a:solidFill>
            <a:prstDash val="solid"/>
          </a:ln>
        </p:spPr>
      </p:sp>
      <p:sp>
        <p:nvSpPr>
          <p:cNvPr id="29" name="Text 27"/>
          <p:cNvSpPr/>
          <p:nvPr/>
        </p:nvSpPr>
        <p:spPr>
          <a:xfrm>
            <a:off x="4754880" y="1005840"/>
            <a:ext cx="4023360" cy="329184"/>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Pre UNOC Avg Price</a:t>
            </a:r>
            <a:endParaRPr lang="en-US" sz="1100" dirty="0"/>
          </a:p>
        </p:txBody>
      </p:sp>
      <p:sp>
        <p:nvSpPr>
          <p:cNvPr id="30" name="Shape 28"/>
          <p:cNvSpPr/>
          <p:nvPr/>
        </p:nvSpPr>
        <p:spPr>
          <a:xfrm>
            <a:off x="4754880" y="1371600"/>
            <a:ext cx="4023360" cy="310896"/>
          </a:xfrm>
          <a:prstGeom prst="rect">
            <a:avLst/>
          </a:prstGeom>
          <a:solidFill>
            <a:srgbClr val="EEF4FF"/>
          </a:solidFill>
          <a:ln w="3810">
            <a:solidFill>
              <a:srgbClr val="CCDDFF"/>
            </a:solidFill>
            <a:prstDash val="solid"/>
          </a:ln>
        </p:spPr>
      </p:sp>
      <p:sp>
        <p:nvSpPr>
          <p:cNvPr id="31" name="Text 29"/>
          <p:cNvSpPr/>
          <p:nvPr/>
        </p:nvSpPr>
        <p:spPr>
          <a:xfrm>
            <a:off x="4800600" y="1371600"/>
            <a:ext cx="3931920" cy="310896"/>
          </a:xfrm>
          <a:prstGeom prst="rect">
            <a:avLst/>
          </a:prstGeom>
          <a:noFill/>
          <a:ln/>
        </p:spPr>
        <p:txBody>
          <a:bodyPr wrap="square" rtlCol="0" anchor="ctr"/>
          <a:lstStyle/>
          <a:p>
            <a:pPr marL="0" indent="0">
              <a:buNone/>
            </a:pPr>
            <a:r>
              <a:rPr lang="en-US" sz="900" dirty="0">
                <a:solidFill>
                  <a:srgbClr val="1F3864"/>
                </a:solidFill>
                <a:latin typeface="Courier New" pitchFamily="34" charset="0"/>
                <a:ea typeface="Courier New" pitchFamily="34" charset="-122"/>
                <a:cs typeface="Courier New" pitchFamily="34" charset="-120"/>
              </a:rPr>
              <a:t>CALCULATE(AVERAGE(...), Is_UNOC_Era = "No")</a:t>
            </a:r>
            <a:endParaRPr lang="en-US" sz="900" dirty="0"/>
          </a:p>
        </p:txBody>
      </p:sp>
      <p:sp>
        <p:nvSpPr>
          <p:cNvPr id="32" name="Text 30"/>
          <p:cNvSpPr/>
          <p:nvPr/>
        </p:nvSpPr>
        <p:spPr>
          <a:xfrm>
            <a:off x="4754880" y="1719072"/>
            <a:ext cx="4023360" cy="347472"/>
          </a:xfrm>
          <a:prstGeom prst="rect">
            <a:avLst/>
          </a:prstGeom>
          <a:noFill/>
          <a:ln/>
        </p:spPr>
        <p:txBody>
          <a:bodyPr wrap="square" rtlCol="0" anchor="ctr"/>
          <a:lstStyle/>
          <a:p>
            <a:pPr marL="0" indent="0">
              <a:buNone/>
            </a:pPr>
            <a:r>
              <a:rPr lang="en-US" sz="1000" dirty="0">
                <a:solidFill>
                  <a:srgbClr val="404040"/>
                </a:solidFill>
                <a:latin typeface="Calibri" pitchFamily="34" charset="0"/>
                <a:ea typeface="Calibri" pitchFamily="34" charset="-122"/>
                <a:cs typeface="Calibri" pitchFamily="34" charset="-120"/>
              </a:rPr>
              <a:t>Average price BEFORE July 2024 — baseline</a:t>
            </a:r>
            <a:endParaRPr lang="en-US" sz="1000" dirty="0"/>
          </a:p>
        </p:txBody>
      </p:sp>
      <p:sp>
        <p:nvSpPr>
          <p:cNvPr id="33" name="Shape 31"/>
          <p:cNvSpPr/>
          <p:nvPr/>
        </p:nvSpPr>
        <p:spPr>
          <a:xfrm>
            <a:off x="4663440" y="2249424"/>
            <a:ext cx="4206240" cy="1097280"/>
          </a:xfrm>
          <a:prstGeom prst="rect">
            <a:avLst/>
          </a:prstGeom>
          <a:solidFill>
            <a:srgbClr val="F8FAFD"/>
          </a:solidFill>
          <a:ln w="15240">
            <a:solidFill>
              <a:srgbClr val="0F6E56"/>
            </a:solidFill>
            <a:prstDash val="solid"/>
          </a:ln>
        </p:spPr>
      </p:sp>
      <p:sp>
        <p:nvSpPr>
          <p:cNvPr id="34" name="Shape 32"/>
          <p:cNvSpPr/>
          <p:nvPr/>
        </p:nvSpPr>
        <p:spPr>
          <a:xfrm>
            <a:off x="4663440" y="2249424"/>
            <a:ext cx="4206240" cy="329184"/>
          </a:xfrm>
          <a:prstGeom prst="rect">
            <a:avLst/>
          </a:prstGeom>
          <a:solidFill>
            <a:srgbClr val="0F6E56"/>
          </a:solidFill>
          <a:ln w="12700">
            <a:solidFill>
              <a:srgbClr val="0F6E56"/>
            </a:solidFill>
            <a:prstDash val="solid"/>
          </a:ln>
        </p:spPr>
      </p:sp>
      <p:sp>
        <p:nvSpPr>
          <p:cNvPr id="35" name="Text 33"/>
          <p:cNvSpPr/>
          <p:nvPr/>
        </p:nvSpPr>
        <p:spPr>
          <a:xfrm>
            <a:off x="4754880" y="2249424"/>
            <a:ext cx="4023360" cy="329184"/>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Post UNOC Avg Price</a:t>
            </a:r>
            <a:endParaRPr lang="en-US" sz="1100" dirty="0"/>
          </a:p>
        </p:txBody>
      </p:sp>
      <p:sp>
        <p:nvSpPr>
          <p:cNvPr id="36" name="Shape 34"/>
          <p:cNvSpPr/>
          <p:nvPr/>
        </p:nvSpPr>
        <p:spPr>
          <a:xfrm>
            <a:off x="4754880" y="2615184"/>
            <a:ext cx="4023360" cy="310896"/>
          </a:xfrm>
          <a:prstGeom prst="rect">
            <a:avLst/>
          </a:prstGeom>
          <a:solidFill>
            <a:srgbClr val="EEF4FF"/>
          </a:solidFill>
          <a:ln w="3810">
            <a:solidFill>
              <a:srgbClr val="CCDDFF"/>
            </a:solidFill>
            <a:prstDash val="solid"/>
          </a:ln>
        </p:spPr>
      </p:sp>
      <p:sp>
        <p:nvSpPr>
          <p:cNvPr id="37" name="Text 35"/>
          <p:cNvSpPr/>
          <p:nvPr/>
        </p:nvSpPr>
        <p:spPr>
          <a:xfrm>
            <a:off x="4800600" y="2615184"/>
            <a:ext cx="3931920" cy="310896"/>
          </a:xfrm>
          <a:prstGeom prst="rect">
            <a:avLst/>
          </a:prstGeom>
          <a:noFill/>
          <a:ln/>
        </p:spPr>
        <p:txBody>
          <a:bodyPr wrap="square" rtlCol="0" anchor="ctr"/>
          <a:lstStyle/>
          <a:p>
            <a:pPr marL="0" indent="0">
              <a:buNone/>
            </a:pPr>
            <a:r>
              <a:rPr lang="en-US" sz="900" dirty="0">
                <a:solidFill>
                  <a:srgbClr val="1F3864"/>
                </a:solidFill>
                <a:latin typeface="Courier New" pitchFamily="34" charset="0"/>
                <a:ea typeface="Courier New" pitchFamily="34" charset="-122"/>
                <a:cs typeface="Courier New" pitchFamily="34" charset="-120"/>
              </a:rPr>
              <a:t>CALCULATE(AVERAGE(...), Is_UNOC_Era = "Yes")</a:t>
            </a:r>
            <a:endParaRPr lang="en-US" sz="900" dirty="0"/>
          </a:p>
        </p:txBody>
      </p:sp>
      <p:sp>
        <p:nvSpPr>
          <p:cNvPr id="38" name="Text 36"/>
          <p:cNvSpPr/>
          <p:nvPr/>
        </p:nvSpPr>
        <p:spPr>
          <a:xfrm>
            <a:off x="4754880" y="2962656"/>
            <a:ext cx="4023360" cy="347472"/>
          </a:xfrm>
          <a:prstGeom prst="rect">
            <a:avLst/>
          </a:prstGeom>
          <a:noFill/>
          <a:ln/>
        </p:spPr>
        <p:txBody>
          <a:bodyPr wrap="square" rtlCol="0" anchor="ctr"/>
          <a:lstStyle/>
          <a:p>
            <a:pPr marL="0" indent="0">
              <a:buNone/>
            </a:pPr>
            <a:r>
              <a:rPr lang="en-US" sz="1000" dirty="0">
                <a:solidFill>
                  <a:srgbClr val="404040"/>
                </a:solidFill>
                <a:latin typeface="Calibri" pitchFamily="34" charset="0"/>
                <a:ea typeface="Calibri" pitchFamily="34" charset="-122"/>
                <a:cs typeface="Calibri" pitchFamily="34" charset="-120"/>
              </a:rPr>
              <a:t>Average price AFTER July 2024 — UNOC era</a:t>
            </a:r>
            <a:endParaRPr lang="en-US" sz="1000" dirty="0"/>
          </a:p>
        </p:txBody>
      </p:sp>
      <p:sp>
        <p:nvSpPr>
          <p:cNvPr id="39" name="Shape 37"/>
          <p:cNvSpPr/>
          <p:nvPr/>
        </p:nvSpPr>
        <p:spPr>
          <a:xfrm>
            <a:off x="4663440" y="3493008"/>
            <a:ext cx="4206240" cy="1097280"/>
          </a:xfrm>
          <a:prstGeom prst="rect">
            <a:avLst/>
          </a:prstGeom>
          <a:solidFill>
            <a:srgbClr val="F8FAFD"/>
          </a:solidFill>
          <a:ln w="15240">
            <a:solidFill>
              <a:srgbClr val="7B1818"/>
            </a:solidFill>
            <a:prstDash val="solid"/>
          </a:ln>
        </p:spPr>
      </p:sp>
      <p:sp>
        <p:nvSpPr>
          <p:cNvPr id="40" name="Shape 38"/>
          <p:cNvSpPr/>
          <p:nvPr/>
        </p:nvSpPr>
        <p:spPr>
          <a:xfrm>
            <a:off x="4663440" y="3493008"/>
            <a:ext cx="4206240" cy="329184"/>
          </a:xfrm>
          <a:prstGeom prst="rect">
            <a:avLst/>
          </a:prstGeom>
          <a:solidFill>
            <a:srgbClr val="7B1818"/>
          </a:solidFill>
          <a:ln w="12700">
            <a:solidFill>
              <a:srgbClr val="7B1818"/>
            </a:solidFill>
            <a:prstDash val="solid"/>
          </a:ln>
        </p:spPr>
      </p:sp>
      <p:sp>
        <p:nvSpPr>
          <p:cNvPr id="41" name="Text 39"/>
          <p:cNvSpPr/>
          <p:nvPr/>
        </p:nvSpPr>
        <p:spPr>
          <a:xfrm>
            <a:off x="4754880" y="3493008"/>
            <a:ext cx="4023360" cy="329184"/>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UNOC Price Impact %</a:t>
            </a:r>
            <a:endParaRPr lang="en-US" sz="1100" dirty="0"/>
          </a:p>
        </p:txBody>
      </p:sp>
      <p:sp>
        <p:nvSpPr>
          <p:cNvPr id="42" name="Shape 40"/>
          <p:cNvSpPr/>
          <p:nvPr/>
        </p:nvSpPr>
        <p:spPr>
          <a:xfrm>
            <a:off x="4754880" y="3858768"/>
            <a:ext cx="4023360" cy="310896"/>
          </a:xfrm>
          <a:prstGeom prst="rect">
            <a:avLst/>
          </a:prstGeom>
          <a:solidFill>
            <a:srgbClr val="EEF4FF"/>
          </a:solidFill>
          <a:ln w="3810">
            <a:solidFill>
              <a:srgbClr val="CCDDFF"/>
            </a:solidFill>
            <a:prstDash val="solid"/>
          </a:ln>
        </p:spPr>
      </p:sp>
      <p:sp>
        <p:nvSpPr>
          <p:cNvPr id="43" name="Text 41"/>
          <p:cNvSpPr/>
          <p:nvPr/>
        </p:nvSpPr>
        <p:spPr>
          <a:xfrm>
            <a:off x="4800600" y="3858768"/>
            <a:ext cx="3931920" cy="310896"/>
          </a:xfrm>
          <a:prstGeom prst="rect">
            <a:avLst/>
          </a:prstGeom>
          <a:noFill/>
          <a:ln/>
        </p:spPr>
        <p:txBody>
          <a:bodyPr wrap="square" rtlCol="0" anchor="ctr"/>
          <a:lstStyle/>
          <a:p>
            <a:pPr marL="0" indent="0">
              <a:buNone/>
            </a:pPr>
            <a:r>
              <a:rPr lang="en-US" sz="900" dirty="0">
                <a:solidFill>
                  <a:srgbClr val="1F3864"/>
                </a:solidFill>
                <a:latin typeface="Courier New" pitchFamily="34" charset="0"/>
                <a:ea typeface="Courier New" pitchFamily="34" charset="-122"/>
                <a:cs typeface="Courier New" pitchFamily="34" charset="-120"/>
              </a:rPr>
              <a:t>DIVIDE([Post UNOC] - [Pre UNOC], [Pre UNOC])</a:t>
            </a:r>
            <a:endParaRPr lang="en-US" sz="900" dirty="0"/>
          </a:p>
        </p:txBody>
      </p:sp>
      <p:sp>
        <p:nvSpPr>
          <p:cNvPr id="44" name="Text 42"/>
          <p:cNvSpPr/>
          <p:nvPr/>
        </p:nvSpPr>
        <p:spPr>
          <a:xfrm>
            <a:off x="4754880" y="4206240"/>
            <a:ext cx="4023360" cy="347472"/>
          </a:xfrm>
          <a:prstGeom prst="rect">
            <a:avLst/>
          </a:prstGeom>
          <a:noFill/>
          <a:ln/>
        </p:spPr>
        <p:txBody>
          <a:bodyPr wrap="square" rtlCol="0" anchor="ctr"/>
          <a:lstStyle/>
          <a:p>
            <a:pPr marL="0" indent="0">
              <a:buNone/>
            </a:pPr>
            <a:r>
              <a:rPr lang="en-US" sz="1000" dirty="0">
                <a:solidFill>
                  <a:srgbClr val="404040"/>
                </a:solidFill>
                <a:latin typeface="Calibri" pitchFamily="34" charset="0"/>
                <a:ea typeface="Calibri" pitchFamily="34" charset="-122"/>
                <a:cs typeface="Calibri" pitchFamily="34" charset="-120"/>
              </a:rPr>
              <a:t>Percentage price change from UNOC intervention</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F3864"/>
          </a:solidFill>
          <a:ln w="12700">
            <a:solidFill>
              <a:srgbClr val="1F3864"/>
            </a:solidFill>
            <a:prstDash val="solid"/>
          </a:ln>
        </p:spPr>
      </p:sp>
      <p:sp>
        <p:nvSpPr>
          <p:cNvPr id="3" name="Shape 1"/>
          <p:cNvSpPr/>
          <p:nvPr/>
        </p:nvSpPr>
        <p:spPr>
          <a:xfrm>
            <a:off x="0" y="777240"/>
            <a:ext cx="9144000" cy="54864"/>
          </a:xfrm>
          <a:prstGeom prst="rect">
            <a:avLst/>
          </a:prstGeom>
          <a:solidFill>
            <a:srgbClr val="C9A84C"/>
          </a:solidFill>
          <a:ln w="12700">
            <a:solidFill>
              <a:srgbClr val="C9A84C"/>
            </a:solidFill>
            <a:prstDash val="solid"/>
          </a:ln>
        </p:spPr>
      </p:sp>
      <p:sp>
        <p:nvSpPr>
          <p:cNvPr id="4" name="Text 2"/>
          <p:cNvSpPr/>
          <p:nvPr/>
        </p:nvSpPr>
        <p:spPr>
          <a:xfrm>
            <a:off x="274320" y="36576"/>
            <a:ext cx="8595360" cy="713232"/>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Power BI Dashboard — Five Report Pages</a:t>
            </a:r>
            <a:endParaRPr lang="en-US" sz="2000" dirty="0"/>
          </a:p>
        </p:txBody>
      </p:sp>
      <p:sp>
        <p:nvSpPr>
          <p:cNvPr id="5" name="Shape 3"/>
          <p:cNvSpPr/>
          <p:nvPr/>
        </p:nvSpPr>
        <p:spPr>
          <a:xfrm>
            <a:off x="0" y="4892040"/>
            <a:ext cx="9144000" cy="256032"/>
          </a:xfrm>
          <a:prstGeom prst="rect">
            <a:avLst/>
          </a:prstGeom>
          <a:solidFill>
            <a:srgbClr val="F0F0F0"/>
          </a:solidFill>
          <a:ln w="12700">
            <a:solidFill>
              <a:srgbClr val="DDDDDD"/>
            </a:solidFill>
            <a:prstDash val="solid"/>
          </a:ln>
        </p:spPr>
      </p:sp>
      <p:sp>
        <p:nvSpPr>
          <p:cNvPr id="6" name="Text 4"/>
          <p:cNvSpPr/>
          <p:nvPr/>
        </p:nvSpPr>
        <p:spPr>
          <a:xfrm>
            <a:off x="182880" y="4910328"/>
            <a:ext cx="7315200" cy="201168"/>
          </a:xfrm>
          <a:prstGeom prst="rect">
            <a:avLst/>
          </a:prstGeom>
          <a:noFill/>
          <a:ln/>
        </p:spPr>
        <p:txBody>
          <a:bodyPr wrap="square" rtlCol="0" anchor="ctr"/>
          <a:lstStyle/>
          <a:p>
            <a:pPr marL="0" indent="0">
              <a:buNone/>
            </a:pPr>
            <a:r>
              <a:rPr lang="en-US" sz="800" dirty="0">
                <a:solidFill>
                  <a:srgbClr val="888888"/>
                </a:solidFill>
                <a:latin typeface="Calibri" pitchFamily="34" charset="0"/>
                <a:ea typeface="Calibri" pitchFamily="34" charset="-122"/>
                <a:cs typeface="Calibri" pitchFamily="34" charset="-120"/>
              </a:rPr>
              <a:t>Uganda Fuel Price &amp; Consumption Data Warehouse  |  Group 4  |  College of Computing and Informatics Technology</a:t>
            </a:r>
            <a:endParaRPr lang="en-US" sz="800" dirty="0"/>
          </a:p>
        </p:txBody>
      </p:sp>
      <p:sp>
        <p:nvSpPr>
          <p:cNvPr id="7" name="Text 5"/>
          <p:cNvSpPr/>
          <p:nvPr/>
        </p:nvSpPr>
        <p:spPr>
          <a:xfrm>
            <a:off x="8229600" y="4910328"/>
            <a:ext cx="731520" cy="201168"/>
          </a:xfrm>
          <a:prstGeom prst="rect">
            <a:avLst/>
          </a:prstGeom>
          <a:noFill/>
          <a:ln/>
        </p:spPr>
        <p:txBody>
          <a:bodyPr wrap="square" rtlCol="0" anchor="ctr"/>
          <a:lstStyle/>
          <a:p>
            <a:pPr marL="0" indent="0" algn="r">
              <a:buNone/>
            </a:pPr>
            <a:r>
              <a:rPr lang="en-US" sz="800" dirty="0">
                <a:solidFill>
                  <a:srgbClr val="888888"/>
                </a:solidFill>
                <a:latin typeface="Calibri" pitchFamily="34" charset="0"/>
                <a:ea typeface="Calibri" pitchFamily="34" charset="-122"/>
                <a:cs typeface="Calibri" pitchFamily="34" charset="-120"/>
              </a:rPr>
              <a:t>9 / 18</a:t>
            </a:r>
            <a:endParaRPr lang="en-US" sz="800" dirty="0"/>
          </a:p>
        </p:txBody>
      </p:sp>
      <p:sp>
        <p:nvSpPr>
          <p:cNvPr id="8" name="Shape 6"/>
          <p:cNvSpPr/>
          <p:nvPr/>
        </p:nvSpPr>
        <p:spPr>
          <a:xfrm>
            <a:off x="164592" y="914400"/>
            <a:ext cx="1664208" cy="3858768"/>
          </a:xfrm>
          <a:prstGeom prst="rect">
            <a:avLst/>
          </a:prstGeom>
          <a:solidFill>
            <a:srgbClr val="F8FAFD"/>
          </a:solidFill>
          <a:ln w="22860">
            <a:solidFill>
              <a:srgbClr val="1F3864"/>
            </a:solidFill>
            <a:prstDash val="solid"/>
          </a:ln>
        </p:spPr>
      </p:sp>
      <p:sp>
        <p:nvSpPr>
          <p:cNvPr id="9" name="Shape 7"/>
          <p:cNvSpPr/>
          <p:nvPr/>
        </p:nvSpPr>
        <p:spPr>
          <a:xfrm>
            <a:off x="164592" y="914400"/>
            <a:ext cx="1664208" cy="457200"/>
          </a:xfrm>
          <a:prstGeom prst="rect">
            <a:avLst/>
          </a:prstGeom>
          <a:solidFill>
            <a:srgbClr val="1F3864"/>
          </a:solidFill>
          <a:ln w="12700">
            <a:solidFill>
              <a:srgbClr val="1F3864"/>
            </a:solidFill>
            <a:prstDash val="solid"/>
          </a:ln>
        </p:spPr>
      </p:sp>
      <p:sp>
        <p:nvSpPr>
          <p:cNvPr id="10" name="Text 8"/>
          <p:cNvSpPr/>
          <p:nvPr/>
        </p:nvSpPr>
        <p:spPr>
          <a:xfrm>
            <a:off x="164592" y="914400"/>
            <a:ext cx="1664208"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Page 1</a:t>
            </a:r>
            <a:endParaRPr lang="en-US" sz="1100" dirty="0"/>
          </a:p>
        </p:txBody>
      </p:sp>
      <p:sp>
        <p:nvSpPr>
          <p:cNvPr id="11" name="Text 9"/>
          <p:cNvSpPr/>
          <p:nvPr/>
        </p:nvSpPr>
        <p:spPr>
          <a:xfrm>
            <a:off x="164592" y="1417320"/>
            <a:ext cx="1664208" cy="438912"/>
          </a:xfrm>
          <a:prstGeom prst="rect">
            <a:avLst/>
          </a:prstGeom>
          <a:noFill/>
          <a:ln/>
        </p:spPr>
        <p:txBody>
          <a:bodyPr wrap="square" rtlCol="0" anchor="ctr"/>
          <a:lstStyle/>
          <a:p>
            <a:pPr marL="0" indent="0" algn="ctr">
              <a:buNone/>
            </a:pPr>
            <a:r>
              <a:rPr lang="en-US" sz="1100" b="1" dirty="0">
                <a:solidFill>
                  <a:srgbClr val="1F3864"/>
                </a:solidFill>
                <a:latin typeface="Calibri" pitchFamily="34" charset="0"/>
                <a:ea typeface="Calibri" pitchFamily="34" charset="-122"/>
                <a:cs typeface="Calibri" pitchFamily="34" charset="-120"/>
              </a:rPr>
              <a:t>Executive Overview</a:t>
            </a:r>
            <a:endParaRPr lang="en-US" sz="1100" dirty="0"/>
          </a:p>
        </p:txBody>
      </p:sp>
      <p:sp>
        <p:nvSpPr>
          <p:cNvPr id="12" name="Text 10"/>
          <p:cNvSpPr/>
          <p:nvPr/>
        </p:nvSpPr>
        <p:spPr>
          <a:xfrm>
            <a:off x="219456" y="1901952"/>
            <a:ext cx="1554480" cy="2834640"/>
          </a:xfrm>
          <a:prstGeom prst="rect">
            <a:avLst/>
          </a:prstGeom>
          <a:noFill/>
          <a:ln/>
        </p:spPr>
        <p:txBody>
          <a:bodyPr wrap="square" rtlCol="0" anchor="ctr"/>
          <a:lstStyle/>
          <a:p>
            <a:pPr marL="0" indent="0" algn="ctr">
              <a:buNone/>
            </a:pPr>
            <a:r>
              <a:rPr lang="en-US" sz="1000" dirty="0">
                <a:solidFill>
                  <a:srgbClr val="404040"/>
                </a:solidFill>
                <a:latin typeface="Calibri" pitchFamily="34" charset="0"/>
                <a:ea typeface="Calibri" pitchFamily="34" charset="-122"/>
                <a:cs typeface="Calibri" pitchFamily="34" charset="-120"/>
              </a:rPr>
              <a:t>4 KPI cards: Avg Price, Total Revenue,</a:t>
            </a:r>
            <a:endParaRPr lang="en-US" sz="1000" dirty="0"/>
          </a:p>
          <a:p>
            <a:pPr marL="0" indent="0" algn="ctr">
              <a:buNone/>
            </a:pPr>
            <a:r>
              <a:rPr lang="en-US" sz="1000" dirty="0">
                <a:solidFill>
                  <a:srgbClr val="404040"/>
                </a:solidFill>
                <a:latin typeface="Calibri" pitchFamily="34" charset="0"/>
                <a:ea typeface="Calibri" pitchFamily="34" charset="-122"/>
                <a:cs typeface="Calibri" pitchFamily="34" charset="-120"/>
              </a:rPr>
              <a:t>Total Volume, Active Stations</a:t>
            </a:r>
            <a:endParaRPr lang="en-US" sz="1000" dirty="0"/>
          </a:p>
          <a:p>
            <a:pPr marL="0" indent="0" algn="ctr">
              <a:buNone/>
            </a:pPr>
            <a:r>
              <a:rPr lang="en-US" sz="1000" dirty="0">
                <a:solidFill>
                  <a:srgbClr val="404040"/>
                </a:solidFill>
                <a:latin typeface="Calibri" pitchFamily="34" charset="0"/>
                <a:ea typeface="Calibri" pitchFamily="34" charset="-122"/>
                <a:cs typeface="Calibri" pitchFamily="34" charset="-120"/>
              </a:rPr>
              <a:t>Main price trend line chart 2021–2025</a:t>
            </a:r>
            <a:endParaRPr lang="en-US" sz="1000" dirty="0"/>
          </a:p>
          <a:p>
            <a:pPr marL="0" indent="0" algn="ctr">
              <a:buNone/>
            </a:pPr>
            <a:r>
              <a:rPr lang="en-US" sz="1000" dirty="0">
                <a:solidFill>
                  <a:srgbClr val="404040"/>
                </a:solidFill>
                <a:latin typeface="Calibri" pitchFamily="34" charset="0"/>
                <a:ea typeface="Calibri" pitchFamily="34" charset="-122"/>
                <a:cs typeface="Calibri" pitchFamily="34" charset="-120"/>
              </a:rPr>
              <a:t>Year slicer for interactive filtering</a:t>
            </a:r>
            <a:endParaRPr lang="en-US" sz="1000" dirty="0"/>
          </a:p>
        </p:txBody>
      </p:sp>
      <p:sp>
        <p:nvSpPr>
          <p:cNvPr id="13" name="Shape 11"/>
          <p:cNvSpPr/>
          <p:nvPr/>
        </p:nvSpPr>
        <p:spPr>
          <a:xfrm>
            <a:off x="1938528" y="914400"/>
            <a:ext cx="1664208" cy="3858768"/>
          </a:xfrm>
          <a:prstGeom prst="rect">
            <a:avLst/>
          </a:prstGeom>
          <a:solidFill>
            <a:srgbClr val="F8FAFD"/>
          </a:solidFill>
          <a:ln w="22860">
            <a:solidFill>
              <a:srgbClr val="375623"/>
            </a:solidFill>
            <a:prstDash val="solid"/>
          </a:ln>
        </p:spPr>
      </p:sp>
      <p:sp>
        <p:nvSpPr>
          <p:cNvPr id="14" name="Shape 12"/>
          <p:cNvSpPr/>
          <p:nvPr/>
        </p:nvSpPr>
        <p:spPr>
          <a:xfrm>
            <a:off x="1938528" y="914400"/>
            <a:ext cx="1664208" cy="457200"/>
          </a:xfrm>
          <a:prstGeom prst="rect">
            <a:avLst/>
          </a:prstGeom>
          <a:solidFill>
            <a:srgbClr val="375623"/>
          </a:solidFill>
          <a:ln w="12700">
            <a:solidFill>
              <a:srgbClr val="375623"/>
            </a:solidFill>
            <a:prstDash val="solid"/>
          </a:ln>
        </p:spPr>
      </p:sp>
      <p:sp>
        <p:nvSpPr>
          <p:cNvPr id="15" name="Text 13"/>
          <p:cNvSpPr/>
          <p:nvPr/>
        </p:nvSpPr>
        <p:spPr>
          <a:xfrm>
            <a:off x="1938528" y="914400"/>
            <a:ext cx="1664208"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Page 2</a:t>
            </a:r>
            <a:endParaRPr lang="en-US" sz="1100" dirty="0"/>
          </a:p>
        </p:txBody>
      </p:sp>
      <p:sp>
        <p:nvSpPr>
          <p:cNvPr id="16" name="Text 14"/>
          <p:cNvSpPr/>
          <p:nvPr/>
        </p:nvSpPr>
        <p:spPr>
          <a:xfrm>
            <a:off x="1938528" y="1417320"/>
            <a:ext cx="1664208" cy="438912"/>
          </a:xfrm>
          <a:prstGeom prst="rect">
            <a:avLst/>
          </a:prstGeom>
          <a:noFill/>
          <a:ln/>
        </p:spPr>
        <p:txBody>
          <a:bodyPr wrap="square" rtlCol="0" anchor="ctr"/>
          <a:lstStyle/>
          <a:p>
            <a:pPr marL="0" indent="0" algn="ctr">
              <a:buNone/>
            </a:pPr>
            <a:r>
              <a:rPr lang="en-US" sz="1100" b="1" dirty="0">
                <a:solidFill>
                  <a:srgbClr val="375623"/>
                </a:solidFill>
                <a:latin typeface="Calibri" pitchFamily="34" charset="0"/>
                <a:ea typeface="Calibri" pitchFamily="34" charset="-122"/>
                <a:cs typeface="Calibri" pitchFamily="34" charset="-120"/>
              </a:rPr>
              <a:t>Regional Analysis</a:t>
            </a:r>
            <a:endParaRPr lang="en-US" sz="1100" dirty="0"/>
          </a:p>
        </p:txBody>
      </p:sp>
      <p:sp>
        <p:nvSpPr>
          <p:cNvPr id="17" name="Text 15"/>
          <p:cNvSpPr/>
          <p:nvPr/>
        </p:nvSpPr>
        <p:spPr>
          <a:xfrm>
            <a:off x="1993392" y="1901952"/>
            <a:ext cx="1554480" cy="2834640"/>
          </a:xfrm>
          <a:prstGeom prst="rect">
            <a:avLst/>
          </a:prstGeom>
          <a:noFill/>
          <a:ln/>
        </p:spPr>
        <p:txBody>
          <a:bodyPr wrap="square" rtlCol="0" anchor="ctr"/>
          <a:lstStyle/>
          <a:p>
            <a:pPr marL="0" indent="0" algn="ctr">
              <a:buNone/>
            </a:pPr>
            <a:r>
              <a:rPr lang="en-US" sz="1000" dirty="0">
                <a:solidFill>
                  <a:srgbClr val="404040"/>
                </a:solidFill>
                <a:latin typeface="Calibri" pitchFamily="34" charset="0"/>
                <a:ea typeface="Calibri" pitchFamily="34" charset="-122"/>
                <a:cs typeface="Calibri" pitchFamily="34" charset="-120"/>
              </a:rPr>
              <a:t>Bar chart: avg price by region</a:t>
            </a:r>
            <a:endParaRPr lang="en-US" sz="1000" dirty="0"/>
          </a:p>
          <a:p>
            <a:pPr marL="0" indent="0" algn="ctr">
              <a:buNone/>
            </a:pPr>
            <a:r>
              <a:rPr lang="en-US" sz="1000" dirty="0">
                <a:solidFill>
                  <a:srgbClr val="404040"/>
                </a:solidFill>
                <a:latin typeface="Calibri" pitchFamily="34" charset="0"/>
                <a:ea typeface="Calibri" pitchFamily="34" charset="-122"/>
                <a:cs typeface="Calibri" pitchFamily="34" charset="-120"/>
              </a:rPr>
              <a:t>Regional price premium table</a:t>
            </a:r>
            <a:endParaRPr lang="en-US" sz="1000" dirty="0"/>
          </a:p>
          <a:p>
            <a:pPr marL="0" indent="0" algn="ctr">
              <a:buNone/>
            </a:pPr>
            <a:r>
              <a:rPr lang="en-US" sz="1000" dirty="0">
                <a:solidFill>
                  <a:srgbClr val="404040"/>
                </a:solidFill>
                <a:latin typeface="Calibri" pitchFamily="34" charset="0"/>
                <a:ea typeface="Calibri" pitchFamily="34" charset="-122"/>
                <a:cs typeface="Calibri" pitchFamily="34" charset="-120"/>
              </a:rPr>
              <a:t>District-level detail view</a:t>
            </a:r>
            <a:endParaRPr lang="en-US" sz="1000" dirty="0"/>
          </a:p>
          <a:p>
            <a:pPr marL="0" indent="0" algn="ctr">
              <a:buNone/>
            </a:pPr>
            <a:r>
              <a:rPr lang="en-US" sz="1000" dirty="0">
                <a:solidFill>
                  <a:srgbClr val="404040"/>
                </a:solidFill>
                <a:latin typeface="Calibri" pitchFamily="34" charset="0"/>
                <a:ea typeface="Calibri" pitchFamily="34" charset="-122"/>
                <a:cs typeface="Calibri" pitchFamily="34" charset="-120"/>
              </a:rPr>
              <a:t>Fuel type slicer</a:t>
            </a:r>
            <a:endParaRPr lang="en-US" sz="1000" dirty="0"/>
          </a:p>
        </p:txBody>
      </p:sp>
      <p:sp>
        <p:nvSpPr>
          <p:cNvPr id="18" name="Shape 16"/>
          <p:cNvSpPr/>
          <p:nvPr/>
        </p:nvSpPr>
        <p:spPr>
          <a:xfrm>
            <a:off x="3712464" y="914400"/>
            <a:ext cx="1664208" cy="3858768"/>
          </a:xfrm>
          <a:prstGeom prst="rect">
            <a:avLst/>
          </a:prstGeom>
          <a:solidFill>
            <a:srgbClr val="F8FAFD"/>
          </a:solidFill>
          <a:ln w="22860">
            <a:solidFill>
              <a:srgbClr val="3C3489"/>
            </a:solidFill>
            <a:prstDash val="solid"/>
          </a:ln>
        </p:spPr>
      </p:sp>
      <p:sp>
        <p:nvSpPr>
          <p:cNvPr id="19" name="Shape 17"/>
          <p:cNvSpPr/>
          <p:nvPr/>
        </p:nvSpPr>
        <p:spPr>
          <a:xfrm>
            <a:off x="3712464" y="914400"/>
            <a:ext cx="1664208" cy="457200"/>
          </a:xfrm>
          <a:prstGeom prst="rect">
            <a:avLst/>
          </a:prstGeom>
          <a:solidFill>
            <a:srgbClr val="3C3489"/>
          </a:solidFill>
          <a:ln w="12700">
            <a:solidFill>
              <a:srgbClr val="3C3489"/>
            </a:solidFill>
            <a:prstDash val="solid"/>
          </a:ln>
        </p:spPr>
      </p:sp>
      <p:sp>
        <p:nvSpPr>
          <p:cNvPr id="20" name="Text 18"/>
          <p:cNvSpPr/>
          <p:nvPr/>
        </p:nvSpPr>
        <p:spPr>
          <a:xfrm>
            <a:off x="3712464" y="914400"/>
            <a:ext cx="1664208"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Page 3</a:t>
            </a:r>
            <a:endParaRPr lang="en-US" sz="1100" dirty="0"/>
          </a:p>
        </p:txBody>
      </p:sp>
      <p:sp>
        <p:nvSpPr>
          <p:cNvPr id="21" name="Text 19"/>
          <p:cNvSpPr/>
          <p:nvPr/>
        </p:nvSpPr>
        <p:spPr>
          <a:xfrm>
            <a:off x="3712464" y="1417320"/>
            <a:ext cx="1664208" cy="438912"/>
          </a:xfrm>
          <a:prstGeom prst="rect">
            <a:avLst/>
          </a:prstGeom>
          <a:noFill/>
          <a:ln/>
        </p:spPr>
        <p:txBody>
          <a:bodyPr wrap="square" rtlCol="0" anchor="ctr"/>
          <a:lstStyle/>
          <a:p>
            <a:pPr marL="0" indent="0" algn="ctr">
              <a:buNone/>
            </a:pPr>
            <a:r>
              <a:rPr lang="en-US" sz="1100" b="1" dirty="0">
                <a:solidFill>
                  <a:srgbClr val="3C3489"/>
                </a:solidFill>
                <a:latin typeface="Calibri" pitchFamily="34" charset="0"/>
                <a:ea typeface="Calibri" pitchFamily="34" charset="-122"/>
                <a:cs typeface="Calibri" pitchFamily="34" charset="-120"/>
              </a:rPr>
              <a:t>Brand Analysis</a:t>
            </a:r>
            <a:endParaRPr lang="en-US" sz="1100" dirty="0"/>
          </a:p>
        </p:txBody>
      </p:sp>
      <p:sp>
        <p:nvSpPr>
          <p:cNvPr id="22" name="Text 20"/>
          <p:cNvSpPr/>
          <p:nvPr/>
        </p:nvSpPr>
        <p:spPr>
          <a:xfrm>
            <a:off x="3767328" y="1901952"/>
            <a:ext cx="1554480" cy="2834640"/>
          </a:xfrm>
          <a:prstGeom prst="rect">
            <a:avLst/>
          </a:prstGeom>
          <a:noFill/>
          <a:ln/>
        </p:spPr>
        <p:txBody>
          <a:bodyPr wrap="square" rtlCol="0" anchor="ctr"/>
          <a:lstStyle/>
          <a:p>
            <a:pPr marL="0" indent="0" algn="ctr">
              <a:buNone/>
            </a:pPr>
            <a:r>
              <a:rPr lang="en-US" sz="1000" dirty="0">
                <a:solidFill>
                  <a:srgbClr val="404040"/>
                </a:solidFill>
                <a:latin typeface="Calibri" pitchFamily="34" charset="0"/>
                <a:ea typeface="Calibri" pitchFamily="34" charset="-122"/>
                <a:cs typeface="Calibri" pitchFamily="34" charset="-120"/>
              </a:rPr>
              <a:t>5-brand price comparison bar chart</a:t>
            </a:r>
            <a:endParaRPr lang="en-US" sz="1000" dirty="0"/>
          </a:p>
          <a:p>
            <a:pPr marL="0" indent="0" algn="ctr">
              <a:buNone/>
            </a:pPr>
            <a:r>
              <a:rPr lang="en-US" sz="1000" dirty="0">
                <a:solidFill>
                  <a:srgbClr val="404040"/>
                </a:solidFill>
                <a:latin typeface="Calibri" pitchFamily="34" charset="0"/>
                <a:ea typeface="Calibri" pitchFamily="34" charset="-122"/>
                <a:cs typeface="Calibri" pitchFamily="34" charset="-120"/>
              </a:rPr>
              <a:t>Brand × fuel type clustered columns</a:t>
            </a:r>
            <a:endParaRPr lang="en-US" sz="1000" dirty="0"/>
          </a:p>
          <a:p>
            <a:pPr marL="0" indent="0" algn="ctr">
              <a:buNone/>
            </a:pPr>
            <a:r>
              <a:rPr lang="en-US" sz="1000" dirty="0">
                <a:solidFill>
                  <a:srgbClr val="404040"/>
                </a:solidFill>
                <a:latin typeface="Calibri" pitchFamily="34" charset="0"/>
                <a:ea typeface="Calibri" pitchFamily="34" charset="-122"/>
                <a:cs typeface="Calibri" pitchFamily="34" charset="-120"/>
              </a:rPr>
              <a:t>20-station ranking table</a:t>
            </a:r>
            <a:endParaRPr lang="en-US" sz="1000" dirty="0"/>
          </a:p>
          <a:p>
            <a:pPr marL="0" indent="0" algn="ctr">
              <a:buNone/>
            </a:pPr>
            <a:r>
              <a:rPr lang="en-US" sz="1000" dirty="0">
                <a:solidFill>
                  <a:srgbClr val="404040"/>
                </a:solidFill>
                <a:latin typeface="Calibri" pitchFamily="34" charset="0"/>
                <a:ea typeface="Calibri" pitchFamily="34" charset="-122"/>
                <a:cs typeface="Calibri" pitchFamily="34" charset="-120"/>
              </a:rPr>
              <a:t>Region slicer</a:t>
            </a:r>
            <a:endParaRPr lang="en-US" sz="1000" dirty="0"/>
          </a:p>
        </p:txBody>
      </p:sp>
      <p:sp>
        <p:nvSpPr>
          <p:cNvPr id="23" name="Shape 21"/>
          <p:cNvSpPr/>
          <p:nvPr/>
        </p:nvSpPr>
        <p:spPr>
          <a:xfrm>
            <a:off x="5486400" y="914400"/>
            <a:ext cx="1664208" cy="3858768"/>
          </a:xfrm>
          <a:prstGeom prst="rect">
            <a:avLst/>
          </a:prstGeom>
          <a:solidFill>
            <a:srgbClr val="F8FAFD"/>
          </a:solidFill>
          <a:ln w="22860">
            <a:solidFill>
              <a:srgbClr val="0F6E56"/>
            </a:solidFill>
            <a:prstDash val="solid"/>
          </a:ln>
        </p:spPr>
      </p:sp>
      <p:sp>
        <p:nvSpPr>
          <p:cNvPr id="24" name="Shape 22"/>
          <p:cNvSpPr/>
          <p:nvPr/>
        </p:nvSpPr>
        <p:spPr>
          <a:xfrm>
            <a:off x="5486400" y="914400"/>
            <a:ext cx="1664208" cy="457200"/>
          </a:xfrm>
          <a:prstGeom prst="rect">
            <a:avLst/>
          </a:prstGeom>
          <a:solidFill>
            <a:srgbClr val="0F6E56"/>
          </a:solidFill>
          <a:ln w="12700">
            <a:solidFill>
              <a:srgbClr val="0F6E56"/>
            </a:solidFill>
            <a:prstDash val="solid"/>
          </a:ln>
        </p:spPr>
      </p:sp>
      <p:sp>
        <p:nvSpPr>
          <p:cNvPr id="25" name="Text 23"/>
          <p:cNvSpPr/>
          <p:nvPr/>
        </p:nvSpPr>
        <p:spPr>
          <a:xfrm>
            <a:off x="5486400" y="914400"/>
            <a:ext cx="1664208"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Page 4</a:t>
            </a:r>
            <a:endParaRPr lang="en-US" sz="1100" dirty="0"/>
          </a:p>
        </p:txBody>
      </p:sp>
      <p:sp>
        <p:nvSpPr>
          <p:cNvPr id="26" name="Text 24"/>
          <p:cNvSpPr/>
          <p:nvPr/>
        </p:nvSpPr>
        <p:spPr>
          <a:xfrm>
            <a:off x="5486400" y="1417320"/>
            <a:ext cx="1664208" cy="438912"/>
          </a:xfrm>
          <a:prstGeom prst="rect">
            <a:avLst/>
          </a:prstGeom>
          <a:noFill/>
          <a:ln/>
        </p:spPr>
        <p:txBody>
          <a:bodyPr wrap="square" rtlCol="0" anchor="ctr"/>
          <a:lstStyle/>
          <a:p>
            <a:pPr marL="0" indent="0" algn="ctr">
              <a:buNone/>
            </a:pPr>
            <a:r>
              <a:rPr lang="en-US" sz="1100" b="1" dirty="0">
                <a:solidFill>
                  <a:srgbClr val="0F6E56"/>
                </a:solidFill>
                <a:latin typeface="Calibri" pitchFamily="34" charset="0"/>
                <a:ea typeface="Calibri" pitchFamily="34" charset="-122"/>
                <a:cs typeface="Calibri" pitchFamily="34" charset="-120"/>
              </a:rPr>
              <a:t>Fuel Type</a:t>
            </a:r>
            <a:endParaRPr lang="en-US" sz="1100" dirty="0"/>
          </a:p>
          <a:p>
            <a:pPr marL="0" indent="0" algn="ctr">
              <a:buNone/>
            </a:pPr>
            <a:r>
              <a:rPr lang="en-US" sz="1100" b="1" dirty="0">
                <a:solidFill>
                  <a:srgbClr val="0F6E56"/>
                </a:solidFill>
                <a:latin typeface="Calibri" pitchFamily="34" charset="0"/>
                <a:ea typeface="Calibri" pitchFamily="34" charset="-122"/>
                <a:cs typeface="Calibri" pitchFamily="34" charset="-120"/>
              </a:rPr>
              <a:t>Comparison</a:t>
            </a:r>
            <a:endParaRPr lang="en-US" sz="1100" dirty="0"/>
          </a:p>
        </p:txBody>
      </p:sp>
      <p:sp>
        <p:nvSpPr>
          <p:cNvPr id="27" name="Text 25"/>
          <p:cNvSpPr/>
          <p:nvPr/>
        </p:nvSpPr>
        <p:spPr>
          <a:xfrm>
            <a:off x="5541264" y="1901952"/>
            <a:ext cx="1554480" cy="2834640"/>
          </a:xfrm>
          <a:prstGeom prst="rect">
            <a:avLst/>
          </a:prstGeom>
          <a:noFill/>
          <a:ln/>
        </p:spPr>
        <p:txBody>
          <a:bodyPr wrap="square" rtlCol="0" anchor="ctr"/>
          <a:lstStyle/>
          <a:p>
            <a:pPr marL="0" indent="0" algn="ctr">
              <a:buNone/>
            </a:pPr>
            <a:r>
              <a:rPr lang="en-US" sz="1000" dirty="0">
                <a:solidFill>
                  <a:srgbClr val="404040"/>
                </a:solidFill>
                <a:latin typeface="Calibri" pitchFamily="34" charset="0"/>
                <a:ea typeface="Calibri" pitchFamily="34" charset="-122"/>
                <a:cs typeface="Calibri" pitchFamily="34" charset="-120"/>
              </a:rPr>
              <a:t>3-line trend chart: Petrol vs Diesel vs Kerosene</a:t>
            </a:r>
            <a:endParaRPr lang="en-US" sz="1000" dirty="0"/>
          </a:p>
          <a:p>
            <a:pPr marL="0" indent="0" algn="ctr">
              <a:buNone/>
            </a:pPr>
            <a:r>
              <a:rPr lang="en-US" sz="1000" dirty="0">
                <a:solidFill>
                  <a:srgbClr val="404040"/>
                </a:solidFill>
                <a:latin typeface="Calibri" pitchFamily="34" charset="0"/>
                <a:ea typeface="Calibri" pitchFamily="34" charset="-122"/>
                <a:cs typeface="Calibri" pitchFamily="34" charset="-120"/>
              </a:rPr>
              <a:t>Annual grouped column chart</a:t>
            </a:r>
            <a:endParaRPr lang="en-US" sz="1000" dirty="0"/>
          </a:p>
          <a:p>
            <a:pPr marL="0" indent="0" algn="ctr">
              <a:buNone/>
            </a:pPr>
            <a:r>
              <a:rPr lang="en-US" sz="1000" dirty="0">
                <a:solidFill>
                  <a:srgbClr val="404040"/>
                </a:solidFill>
                <a:latin typeface="Calibri" pitchFamily="34" charset="0"/>
                <a:ea typeface="Calibri" pitchFamily="34" charset="-122"/>
                <a:cs typeface="Calibri" pitchFamily="34" charset="-120"/>
              </a:rPr>
              <a:t>Petrol-Diesel gap KPI card</a:t>
            </a:r>
            <a:endParaRPr lang="en-US" sz="1000" dirty="0"/>
          </a:p>
          <a:p>
            <a:pPr marL="0" indent="0" algn="ctr">
              <a:buNone/>
            </a:pPr>
            <a:r>
              <a:rPr lang="en-US" sz="1000" dirty="0">
                <a:solidFill>
                  <a:srgbClr val="404040"/>
                </a:solidFill>
                <a:latin typeface="Calibri" pitchFamily="34" charset="0"/>
                <a:ea typeface="Calibri" pitchFamily="34" charset="-122"/>
                <a:cs typeface="Calibri" pitchFamily="34" charset="-120"/>
              </a:rPr>
              <a:t>Fuel type summary table</a:t>
            </a:r>
            <a:endParaRPr lang="en-US" sz="1000" dirty="0"/>
          </a:p>
        </p:txBody>
      </p:sp>
      <p:sp>
        <p:nvSpPr>
          <p:cNvPr id="28" name="Shape 26"/>
          <p:cNvSpPr/>
          <p:nvPr/>
        </p:nvSpPr>
        <p:spPr>
          <a:xfrm>
            <a:off x="7260336" y="914400"/>
            <a:ext cx="1664208" cy="3858768"/>
          </a:xfrm>
          <a:prstGeom prst="rect">
            <a:avLst/>
          </a:prstGeom>
          <a:solidFill>
            <a:srgbClr val="F8FAFD"/>
          </a:solidFill>
          <a:ln w="22860">
            <a:solidFill>
              <a:srgbClr val="7B1818"/>
            </a:solidFill>
            <a:prstDash val="solid"/>
          </a:ln>
        </p:spPr>
      </p:sp>
      <p:sp>
        <p:nvSpPr>
          <p:cNvPr id="29" name="Shape 27"/>
          <p:cNvSpPr/>
          <p:nvPr/>
        </p:nvSpPr>
        <p:spPr>
          <a:xfrm>
            <a:off x="7260336" y="914400"/>
            <a:ext cx="1664208" cy="457200"/>
          </a:xfrm>
          <a:prstGeom prst="rect">
            <a:avLst/>
          </a:prstGeom>
          <a:solidFill>
            <a:srgbClr val="7B1818"/>
          </a:solidFill>
          <a:ln w="12700">
            <a:solidFill>
              <a:srgbClr val="7B1818"/>
            </a:solidFill>
            <a:prstDash val="solid"/>
          </a:ln>
        </p:spPr>
      </p:sp>
      <p:sp>
        <p:nvSpPr>
          <p:cNvPr id="30" name="Text 28"/>
          <p:cNvSpPr/>
          <p:nvPr/>
        </p:nvSpPr>
        <p:spPr>
          <a:xfrm>
            <a:off x="7260336" y="914400"/>
            <a:ext cx="1664208"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Page 5</a:t>
            </a:r>
            <a:endParaRPr lang="en-US" sz="1100" dirty="0"/>
          </a:p>
        </p:txBody>
      </p:sp>
      <p:sp>
        <p:nvSpPr>
          <p:cNvPr id="31" name="Text 29"/>
          <p:cNvSpPr/>
          <p:nvPr/>
        </p:nvSpPr>
        <p:spPr>
          <a:xfrm>
            <a:off x="7260336" y="1417320"/>
            <a:ext cx="1664208" cy="438912"/>
          </a:xfrm>
          <a:prstGeom prst="rect">
            <a:avLst/>
          </a:prstGeom>
          <a:noFill/>
          <a:ln/>
        </p:spPr>
        <p:txBody>
          <a:bodyPr wrap="square" rtlCol="0" anchor="ctr"/>
          <a:lstStyle/>
          <a:p>
            <a:pPr marL="0" indent="0" algn="ctr">
              <a:buNone/>
            </a:pPr>
            <a:r>
              <a:rPr lang="en-US" sz="1100" b="1" dirty="0">
                <a:solidFill>
                  <a:srgbClr val="7B1818"/>
                </a:solidFill>
                <a:latin typeface="Calibri" pitchFamily="34" charset="0"/>
                <a:ea typeface="Calibri" pitchFamily="34" charset="-122"/>
                <a:cs typeface="Calibri" pitchFamily="34" charset="-120"/>
              </a:rPr>
              <a:t>UNOC Impact</a:t>
            </a:r>
            <a:endParaRPr lang="en-US" sz="1100" dirty="0"/>
          </a:p>
          <a:p>
            <a:pPr marL="0" indent="0" algn="ctr">
              <a:buNone/>
            </a:pPr>
            <a:r>
              <a:rPr lang="en-US" sz="1100" b="1" dirty="0">
                <a:solidFill>
                  <a:srgbClr val="7B1818"/>
                </a:solidFill>
                <a:latin typeface="Calibri" pitchFamily="34" charset="0"/>
                <a:ea typeface="Calibri" pitchFamily="34" charset="-122"/>
                <a:cs typeface="Calibri" pitchFamily="34" charset="-120"/>
              </a:rPr>
              <a:t>Analysis</a:t>
            </a:r>
            <a:endParaRPr lang="en-US" sz="1100" dirty="0"/>
          </a:p>
        </p:txBody>
      </p:sp>
      <p:sp>
        <p:nvSpPr>
          <p:cNvPr id="32" name="Text 30"/>
          <p:cNvSpPr/>
          <p:nvPr/>
        </p:nvSpPr>
        <p:spPr>
          <a:xfrm>
            <a:off x="7315200" y="1901952"/>
            <a:ext cx="1554480" cy="2834640"/>
          </a:xfrm>
          <a:prstGeom prst="rect">
            <a:avLst/>
          </a:prstGeom>
          <a:noFill/>
          <a:ln/>
        </p:spPr>
        <p:txBody>
          <a:bodyPr wrap="square" rtlCol="0" anchor="ctr"/>
          <a:lstStyle/>
          <a:p>
            <a:pPr marL="0" indent="0" algn="ctr">
              <a:buNone/>
            </a:pPr>
            <a:r>
              <a:rPr lang="en-US" sz="1000" dirty="0">
                <a:solidFill>
                  <a:srgbClr val="404040"/>
                </a:solidFill>
                <a:latin typeface="Calibri" pitchFamily="34" charset="0"/>
                <a:ea typeface="Calibri" pitchFamily="34" charset="-122"/>
                <a:cs typeface="Calibri" pitchFamily="34" charset="-120"/>
              </a:rPr>
              <a:t>KEY FINDING: 10.8% price reduction</a:t>
            </a:r>
            <a:endParaRPr lang="en-US" sz="1000" dirty="0"/>
          </a:p>
          <a:p>
            <a:pPr marL="0" indent="0" algn="ctr">
              <a:buNone/>
            </a:pPr>
            <a:r>
              <a:rPr lang="en-US" sz="1000" dirty="0">
                <a:solidFill>
                  <a:srgbClr val="404040"/>
                </a:solidFill>
                <a:latin typeface="Calibri" pitchFamily="34" charset="0"/>
                <a:ea typeface="Calibri" pitchFamily="34" charset="-122"/>
                <a:cs typeface="Calibri" pitchFamily="34" charset="-120"/>
              </a:rPr>
              <a:t>Before/After KPI cards</a:t>
            </a:r>
            <a:endParaRPr lang="en-US" sz="1000" dirty="0"/>
          </a:p>
          <a:p>
            <a:pPr marL="0" indent="0" algn="ctr">
              <a:buNone/>
            </a:pPr>
            <a:r>
              <a:rPr lang="en-US" sz="1000" dirty="0">
                <a:solidFill>
                  <a:srgbClr val="404040"/>
                </a:solidFill>
                <a:latin typeface="Calibri" pitchFamily="34" charset="0"/>
                <a:ea typeface="Calibri" pitchFamily="34" charset="-122"/>
                <a:cs typeface="Calibri" pitchFamily="34" charset="-120"/>
              </a:rPr>
              <a:t>Dashed reference line: July 2024</a:t>
            </a:r>
            <a:endParaRPr lang="en-US" sz="1000" dirty="0"/>
          </a:p>
          <a:p>
            <a:pPr marL="0" indent="0" algn="ctr">
              <a:buNone/>
            </a:pPr>
            <a:r>
              <a:rPr lang="en-US" sz="1000" dirty="0">
                <a:solidFill>
                  <a:srgbClr val="404040"/>
                </a:solidFill>
                <a:latin typeface="Calibri" pitchFamily="34" charset="0"/>
                <a:ea typeface="Calibri" pitchFamily="34" charset="-122"/>
                <a:cs typeface="Calibri" pitchFamily="34" charset="-120"/>
              </a:rPr>
              <a:t>Is_UNOC_Era interactive slicer</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F3864"/>
          </a:solidFill>
          <a:ln w="12700">
            <a:solidFill>
              <a:srgbClr val="1F3864"/>
            </a:solidFill>
            <a:prstDash val="solid"/>
          </a:ln>
        </p:spPr>
      </p:sp>
      <p:sp>
        <p:nvSpPr>
          <p:cNvPr id="3" name="Shape 1"/>
          <p:cNvSpPr/>
          <p:nvPr/>
        </p:nvSpPr>
        <p:spPr>
          <a:xfrm>
            <a:off x="0" y="777240"/>
            <a:ext cx="9144000" cy="54864"/>
          </a:xfrm>
          <a:prstGeom prst="rect">
            <a:avLst/>
          </a:prstGeom>
          <a:solidFill>
            <a:srgbClr val="C9A84C"/>
          </a:solidFill>
          <a:ln w="12700">
            <a:solidFill>
              <a:srgbClr val="C9A84C"/>
            </a:solidFill>
            <a:prstDash val="solid"/>
          </a:ln>
        </p:spPr>
      </p:sp>
      <p:sp>
        <p:nvSpPr>
          <p:cNvPr id="4" name="Text 2"/>
          <p:cNvSpPr/>
          <p:nvPr/>
        </p:nvSpPr>
        <p:spPr>
          <a:xfrm>
            <a:off x="274320" y="36576"/>
            <a:ext cx="8595360" cy="713232"/>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Key Finding 1 — Price Trend Analysis 2021–2025</a:t>
            </a:r>
            <a:endParaRPr lang="en-US" sz="2000" dirty="0"/>
          </a:p>
        </p:txBody>
      </p:sp>
      <p:sp>
        <p:nvSpPr>
          <p:cNvPr id="5" name="Text 3"/>
          <p:cNvSpPr/>
          <p:nvPr/>
        </p:nvSpPr>
        <p:spPr>
          <a:xfrm>
            <a:off x="274320" y="804672"/>
            <a:ext cx="8595360" cy="274320"/>
          </a:xfrm>
          <a:prstGeom prst="rect">
            <a:avLst/>
          </a:prstGeom>
          <a:noFill/>
          <a:ln/>
        </p:spPr>
        <p:txBody>
          <a:bodyPr wrap="square" rtlCol="0" anchor="ctr"/>
          <a:lstStyle/>
          <a:p>
            <a:pPr marL="0" indent="0">
              <a:buNone/>
            </a:pPr>
            <a:r>
              <a:rPr lang="en-US" sz="1100" i="1" dirty="0">
                <a:solidFill>
                  <a:srgbClr val="888888"/>
                </a:solidFill>
                <a:latin typeface="Calibri" pitchFamily="34" charset="0"/>
                <a:ea typeface="Calibri" pitchFamily="34" charset="-122"/>
                <a:cs typeface="Calibri" pitchFamily="34" charset="-120"/>
              </a:rPr>
              <a:t>Three distinct phases of Uganda fuel price movement</a:t>
            </a:r>
            <a:endParaRPr lang="en-US" sz="1100" dirty="0"/>
          </a:p>
        </p:txBody>
      </p:sp>
      <p:sp>
        <p:nvSpPr>
          <p:cNvPr id="6" name="Shape 4"/>
          <p:cNvSpPr/>
          <p:nvPr/>
        </p:nvSpPr>
        <p:spPr>
          <a:xfrm>
            <a:off x="0" y="4892040"/>
            <a:ext cx="9144000" cy="256032"/>
          </a:xfrm>
          <a:prstGeom prst="rect">
            <a:avLst/>
          </a:prstGeom>
          <a:solidFill>
            <a:srgbClr val="F0F0F0"/>
          </a:solidFill>
          <a:ln w="12700">
            <a:solidFill>
              <a:srgbClr val="DDDDDD"/>
            </a:solidFill>
            <a:prstDash val="solid"/>
          </a:ln>
        </p:spPr>
      </p:sp>
      <p:sp>
        <p:nvSpPr>
          <p:cNvPr id="7" name="Text 5"/>
          <p:cNvSpPr/>
          <p:nvPr/>
        </p:nvSpPr>
        <p:spPr>
          <a:xfrm>
            <a:off x="182880" y="4910328"/>
            <a:ext cx="7315200" cy="201168"/>
          </a:xfrm>
          <a:prstGeom prst="rect">
            <a:avLst/>
          </a:prstGeom>
          <a:noFill/>
          <a:ln/>
        </p:spPr>
        <p:txBody>
          <a:bodyPr wrap="square" rtlCol="0" anchor="ctr"/>
          <a:lstStyle/>
          <a:p>
            <a:pPr marL="0" indent="0">
              <a:buNone/>
            </a:pPr>
            <a:r>
              <a:rPr lang="en-US" sz="800" dirty="0">
                <a:solidFill>
                  <a:srgbClr val="888888"/>
                </a:solidFill>
                <a:latin typeface="Calibri" pitchFamily="34" charset="0"/>
                <a:ea typeface="Calibri" pitchFamily="34" charset="-122"/>
                <a:cs typeface="Calibri" pitchFamily="34" charset="-120"/>
              </a:rPr>
              <a:t>Uganda Fuel Price &amp; Consumption Data Warehouse  |  Group 4  |  College of Computing and Informatics Technology</a:t>
            </a:r>
            <a:endParaRPr lang="en-US" sz="800" dirty="0"/>
          </a:p>
        </p:txBody>
      </p:sp>
      <p:sp>
        <p:nvSpPr>
          <p:cNvPr id="8" name="Text 6"/>
          <p:cNvSpPr/>
          <p:nvPr/>
        </p:nvSpPr>
        <p:spPr>
          <a:xfrm>
            <a:off x="8229600" y="4910328"/>
            <a:ext cx="731520" cy="201168"/>
          </a:xfrm>
          <a:prstGeom prst="rect">
            <a:avLst/>
          </a:prstGeom>
          <a:noFill/>
          <a:ln/>
        </p:spPr>
        <p:txBody>
          <a:bodyPr wrap="square" rtlCol="0" anchor="ctr"/>
          <a:lstStyle/>
          <a:p>
            <a:pPr marL="0" indent="0" algn="r">
              <a:buNone/>
            </a:pPr>
            <a:r>
              <a:rPr lang="en-US" sz="800" dirty="0">
                <a:solidFill>
                  <a:srgbClr val="888888"/>
                </a:solidFill>
                <a:latin typeface="Calibri" pitchFamily="34" charset="0"/>
                <a:ea typeface="Calibri" pitchFamily="34" charset="-122"/>
                <a:cs typeface="Calibri" pitchFamily="34" charset="-120"/>
              </a:rPr>
              <a:t>10 / 18</a:t>
            </a:r>
            <a:endParaRPr lang="en-US" sz="800" dirty="0"/>
          </a:p>
        </p:txBody>
      </p:sp>
      <p:sp>
        <p:nvSpPr>
          <p:cNvPr id="9" name="Shape 7"/>
          <p:cNvSpPr/>
          <p:nvPr/>
        </p:nvSpPr>
        <p:spPr>
          <a:xfrm>
            <a:off x="228600" y="1042416"/>
            <a:ext cx="5303520" cy="3118104"/>
          </a:xfrm>
          <a:prstGeom prst="rect">
            <a:avLst/>
          </a:prstGeom>
          <a:solidFill>
            <a:srgbClr val="F2F2F2"/>
          </a:solidFill>
          <a:ln w="12700">
            <a:solidFill>
              <a:srgbClr val="888888"/>
            </a:solidFill>
            <a:prstDash val="dash"/>
          </a:ln>
        </p:spPr>
      </p:sp>
      <p:sp>
        <p:nvSpPr>
          <p:cNvPr id="10" name="Text 8"/>
          <p:cNvSpPr/>
          <p:nvPr/>
        </p:nvSpPr>
        <p:spPr>
          <a:xfrm>
            <a:off x="228600" y="960120"/>
            <a:ext cx="5303520" cy="3200400"/>
          </a:xfrm>
          <a:prstGeom prst="rect">
            <a:avLst/>
          </a:prstGeom>
          <a:noFill/>
          <a:ln/>
        </p:spPr>
        <p:txBody>
          <a:bodyPr wrap="square" rtlCol="0" anchor="ctr"/>
          <a:lstStyle/>
          <a:p>
            <a:pPr marL="0" indent="0" algn="ctr">
              <a:buNone/>
            </a:pPr>
            <a:r>
              <a:rPr lang="en-US" sz="1100" i="1" dirty="0">
                <a:solidFill>
                  <a:srgbClr val="888888"/>
                </a:solidFill>
                <a:latin typeface="Calibri" pitchFamily="34" charset="0"/>
                <a:ea typeface="Calibri" pitchFamily="34" charset="-122"/>
                <a:cs typeface="Calibri" pitchFamily="34" charset="-120"/>
              </a:rPr>
              <a:t>[ INSERT: Executive Overview Dashboard Screenshot</a:t>
            </a:r>
            <a:endParaRPr lang="en-US" sz="1100" dirty="0"/>
          </a:p>
          <a:p>
            <a:pPr marL="0" indent="0" algn="ctr">
              <a:buNone/>
            </a:pPr>
            <a:r>
              <a:rPr lang="en-US" sz="1100" i="1" dirty="0">
                <a:solidFill>
                  <a:srgbClr val="888888"/>
                </a:solidFill>
                <a:latin typeface="Calibri" pitchFamily="34" charset="0"/>
                <a:ea typeface="Calibri" pitchFamily="34" charset="-122"/>
                <a:cs typeface="Calibri" pitchFamily="34" charset="-120"/>
              </a:rPr>
              <a:t>Price Trend Line Chart — Page 1 ]</a:t>
            </a:r>
            <a:endParaRPr lang="en-US" sz="1100" dirty="0"/>
          </a:p>
        </p:txBody>
      </p:sp>
      <p:sp>
        <p:nvSpPr>
          <p:cNvPr id="11" name="Shape 9"/>
          <p:cNvSpPr/>
          <p:nvPr/>
        </p:nvSpPr>
        <p:spPr>
          <a:xfrm>
            <a:off x="5715000" y="960120"/>
            <a:ext cx="3246120" cy="3200400"/>
          </a:xfrm>
          <a:prstGeom prst="rect">
            <a:avLst/>
          </a:prstGeom>
          <a:solidFill>
            <a:srgbClr val="F8FAFD"/>
          </a:solidFill>
          <a:ln w="6350">
            <a:solidFill>
              <a:srgbClr val="C0D0EE"/>
            </a:solidFill>
            <a:prstDash val="solid"/>
          </a:ln>
        </p:spPr>
      </p:sp>
      <p:sp>
        <p:nvSpPr>
          <p:cNvPr id="12" name="Text 10"/>
          <p:cNvSpPr/>
          <p:nvPr/>
        </p:nvSpPr>
        <p:spPr>
          <a:xfrm>
            <a:off x="5806440" y="1005840"/>
            <a:ext cx="3063240" cy="347472"/>
          </a:xfrm>
          <a:prstGeom prst="rect">
            <a:avLst/>
          </a:prstGeom>
          <a:noFill/>
          <a:ln/>
        </p:spPr>
        <p:txBody>
          <a:bodyPr wrap="square" rtlCol="0" anchor="ctr"/>
          <a:lstStyle/>
          <a:p>
            <a:pPr marL="0" indent="0">
              <a:buNone/>
            </a:pPr>
            <a:r>
              <a:rPr lang="en-US" sz="1200" b="1" dirty="0">
                <a:solidFill>
                  <a:srgbClr val="1F3864"/>
                </a:solidFill>
                <a:latin typeface="Calibri" pitchFamily="34" charset="0"/>
                <a:ea typeface="Calibri" pitchFamily="34" charset="-122"/>
                <a:cs typeface="Calibri" pitchFamily="34" charset="-120"/>
              </a:rPr>
              <a:t>Three Price Phases</a:t>
            </a:r>
            <a:endParaRPr lang="en-US" sz="1200" dirty="0"/>
          </a:p>
        </p:txBody>
      </p:sp>
      <p:sp>
        <p:nvSpPr>
          <p:cNvPr id="13" name="Shape 11"/>
          <p:cNvSpPr/>
          <p:nvPr/>
        </p:nvSpPr>
        <p:spPr>
          <a:xfrm>
            <a:off x="5806440" y="1444752"/>
            <a:ext cx="502920" cy="640080"/>
          </a:xfrm>
          <a:prstGeom prst="rect">
            <a:avLst/>
          </a:prstGeom>
          <a:solidFill>
            <a:srgbClr val="375623"/>
          </a:solidFill>
          <a:ln w="12700">
            <a:solidFill>
              <a:srgbClr val="375623"/>
            </a:solidFill>
            <a:prstDash val="solid"/>
          </a:ln>
        </p:spPr>
      </p:sp>
      <p:sp>
        <p:nvSpPr>
          <p:cNvPr id="14" name="Text 12"/>
          <p:cNvSpPr/>
          <p:nvPr/>
        </p:nvSpPr>
        <p:spPr>
          <a:xfrm>
            <a:off x="5806440" y="1444752"/>
            <a:ext cx="502920" cy="64008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Phase 1</a:t>
            </a:r>
            <a:endParaRPr lang="en-US" sz="900" dirty="0"/>
          </a:p>
        </p:txBody>
      </p:sp>
      <p:sp>
        <p:nvSpPr>
          <p:cNvPr id="15" name="Text 13"/>
          <p:cNvSpPr/>
          <p:nvPr/>
        </p:nvSpPr>
        <p:spPr>
          <a:xfrm>
            <a:off x="6400800" y="1463040"/>
            <a:ext cx="2487168" cy="274320"/>
          </a:xfrm>
          <a:prstGeom prst="rect">
            <a:avLst/>
          </a:prstGeom>
          <a:noFill/>
          <a:ln/>
        </p:spPr>
        <p:txBody>
          <a:bodyPr wrap="square" rtlCol="0" anchor="ctr"/>
          <a:lstStyle/>
          <a:p>
            <a:pPr marL="0" indent="0">
              <a:buNone/>
            </a:pPr>
            <a:r>
              <a:rPr lang="en-US" sz="1100" b="1" dirty="0">
                <a:solidFill>
                  <a:srgbClr val="375623"/>
                </a:solidFill>
                <a:latin typeface="Calibri" pitchFamily="34" charset="0"/>
                <a:ea typeface="Calibri" pitchFamily="34" charset="-122"/>
                <a:cs typeface="Calibri" pitchFamily="34" charset="-120"/>
              </a:rPr>
              <a:t>Gradual Rise</a:t>
            </a:r>
            <a:endParaRPr lang="en-US" sz="1100" dirty="0"/>
          </a:p>
        </p:txBody>
      </p:sp>
      <p:sp>
        <p:nvSpPr>
          <p:cNvPr id="16" name="Text 14"/>
          <p:cNvSpPr/>
          <p:nvPr/>
        </p:nvSpPr>
        <p:spPr>
          <a:xfrm>
            <a:off x="6400800" y="1719072"/>
            <a:ext cx="2487168" cy="548640"/>
          </a:xfrm>
          <a:prstGeom prst="rect">
            <a:avLst/>
          </a:prstGeom>
          <a:noFill/>
          <a:ln/>
        </p:spPr>
        <p:txBody>
          <a:bodyPr wrap="square" rtlCol="0" anchor="ctr"/>
          <a:lstStyle/>
          <a:p>
            <a:pPr marL="0" indent="0">
              <a:buNone/>
            </a:pPr>
            <a:r>
              <a:rPr lang="en-US" sz="900" dirty="0">
                <a:solidFill>
                  <a:srgbClr val="404040"/>
                </a:solidFill>
                <a:latin typeface="Calibri" pitchFamily="34" charset="0"/>
                <a:ea typeface="Calibri" pitchFamily="34" charset="-122"/>
                <a:cs typeface="Calibri" pitchFamily="34" charset="-120"/>
              </a:rPr>
              <a:t>Jan 2021 – Feb 2022</a:t>
            </a:r>
            <a:endParaRPr lang="en-US" sz="900" dirty="0"/>
          </a:p>
          <a:p>
            <a:pPr marL="0" indent="0">
              <a:buNone/>
            </a:pPr>
            <a:r>
              <a:rPr lang="en-US" sz="900" dirty="0">
                <a:solidFill>
                  <a:srgbClr val="404040"/>
                </a:solidFill>
                <a:latin typeface="Calibri" pitchFamily="34" charset="0"/>
                <a:ea typeface="Calibri" pitchFamily="34" charset="-122"/>
                <a:cs typeface="Calibri" pitchFamily="34" charset="-120"/>
              </a:rPr>
              <a:t>UGX 3,850 → 4,480</a:t>
            </a:r>
            <a:endParaRPr lang="en-US" sz="900" dirty="0"/>
          </a:p>
          <a:p>
            <a:pPr marL="0" indent="0">
              <a:buNone/>
            </a:pPr>
            <a:r>
              <a:rPr lang="en-US" sz="900" dirty="0">
                <a:solidFill>
                  <a:srgbClr val="404040"/>
                </a:solidFill>
                <a:latin typeface="Calibri" pitchFamily="34" charset="0"/>
                <a:ea typeface="Calibri" pitchFamily="34" charset="-122"/>
                <a:cs typeface="Calibri" pitchFamily="34" charset="-120"/>
              </a:rPr>
              <a:t>+16% over 14 months</a:t>
            </a:r>
            <a:endParaRPr lang="en-US" sz="900" dirty="0"/>
          </a:p>
          <a:p>
            <a:pPr marL="0" indent="0">
              <a:buNone/>
            </a:pPr>
            <a:r>
              <a:rPr lang="en-US" sz="900" dirty="0">
                <a:solidFill>
                  <a:srgbClr val="404040"/>
                </a:solidFill>
                <a:latin typeface="Calibri" pitchFamily="34" charset="0"/>
                <a:ea typeface="Calibri" pitchFamily="34" charset="-122"/>
                <a:cs typeface="Calibri" pitchFamily="34" charset="-120"/>
              </a:rPr>
              <a:t>Post-COVID demand recovery</a:t>
            </a:r>
            <a:endParaRPr lang="en-US" sz="900" dirty="0"/>
          </a:p>
        </p:txBody>
      </p:sp>
      <p:sp>
        <p:nvSpPr>
          <p:cNvPr id="17" name="Shape 15"/>
          <p:cNvSpPr/>
          <p:nvPr/>
        </p:nvSpPr>
        <p:spPr>
          <a:xfrm>
            <a:off x="5806440" y="2359152"/>
            <a:ext cx="502920" cy="640080"/>
          </a:xfrm>
          <a:prstGeom prst="rect">
            <a:avLst/>
          </a:prstGeom>
          <a:solidFill>
            <a:srgbClr val="7B1818"/>
          </a:solidFill>
          <a:ln w="12700">
            <a:solidFill>
              <a:srgbClr val="7B1818"/>
            </a:solidFill>
            <a:prstDash val="solid"/>
          </a:ln>
        </p:spPr>
      </p:sp>
      <p:sp>
        <p:nvSpPr>
          <p:cNvPr id="18" name="Text 16"/>
          <p:cNvSpPr/>
          <p:nvPr/>
        </p:nvSpPr>
        <p:spPr>
          <a:xfrm>
            <a:off x="5806440" y="2359152"/>
            <a:ext cx="502920" cy="64008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Phase 2</a:t>
            </a:r>
            <a:endParaRPr lang="en-US" sz="900" dirty="0"/>
          </a:p>
        </p:txBody>
      </p:sp>
      <p:sp>
        <p:nvSpPr>
          <p:cNvPr id="19" name="Text 17"/>
          <p:cNvSpPr/>
          <p:nvPr/>
        </p:nvSpPr>
        <p:spPr>
          <a:xfrm>
            <a:off x="6400800" y="2377440"/>
            <a:ext cx="2487168" cy="274320"/>
          </a:xfrm>
          <a:prstGeom prst="rect">
            <a:avLst/>
          </a:prstGeom>
          <a:noFill/>
          <a:ln/>
        </p:spPr>
        <p:txBody>
          <a:bodyPr wrap="square" rtlCol="0" anchor="ctr"/>
          <a:lstStyle/>
          <a:p>
            <a:pPr marL="0" indent="0">
              <a:buNone/>
            </a:pPr>
            <a:r>
              <a:rPr lang="en-US" sz="1100" b="1" dirty="0">
                <a:solidFill>
                  <a:srgbClr val="7B1818"/>
                </a:solidFill>
                <a:latin typeface="Calibri" pitchFamily="34" charset="0"/>
                <a:ea typeface="Calibri" pitchFamily="34" charset="-122"/>
                <a:cs typeface="Calibri" pitchFamily="34" charset="-120"/>
              </a:rPr>
              <a:t>Sharp Spike</a:t>
            </a:r>
            <a:endParaRPr lang="en-US" sz="1100" dirty="0"/>
          </a:p>
        </p:txBody>
      </p:sp>
      <p:sp>
        <p:nvSpPr>
          <p:cNvPr id="20" name="Text 18"/>
          <p:cNvSpPr/>
          <p:nvPr/>
        </p:nvSpPr>
        <p:spPr>
          <a:xfrm>
            <a:off x="6400800" y="2633472"/>
            <a:ext cx="2487168" cy="548640"/>
          </a:xfrm>
          <a:prstGeom prst="rect">
            <a:avLst/>
          </a:prstGeom>
          <a:noFill/>
          <a:ln/>
        </p:spPr>
        <p:txBody>
          <a:bodyPr wrap="square" rtlCol="0" anchor="ctr"/>
          <a:lstStyle/>
          <a:p>
            <a:pPr marL="0" indent="0">
              <a:buNone/>
            </a:pPr>
            <a:r>
              <a:rPr lang="en-US" sz="900" dirty="0">
                <a:solidFill>
                  <a:srgbClr val="404040"/>
                </a:solidFill>
                <a:latin typeface="Calibri" pitchFamily="34" charset="0"/>
                <a:ea typeface="Calibri" pitchFamily="34" charset="-122"/>
                <a:cs typeface="Calibri" pitchFamily="34" charset="-120"/>
              </a:rPr>
              <a:t>Mar 2022 – Dec 2023</a:t>
            </a:r>
            <a:endParaRPr lang="en-US" sz="900" dirty="0"/>
          </a:p>
          <a:p>
            <a:pPr marL="0" indent="0">
              <a:buNone/>
            </a:pPr>
            <a:r>
              <a:rPr lang="en-US" sz="900" dirty="0">
                <a:solidFill>
                  <a:srgbClr val="404040"/>
                </a:solidFill>
                <a:latin typeface="Calibri" pitchFamily="34" charset="0"/>
                <a:ea typeface="Calibri" pitchFamily="34" charset="-122"/>
                <a:cs typeface="Calibri" pitchFamily="34" charset="-120"/>
              </a:rPr>
              <a:t>UGX 4,700 → 5,561</a:t>
            </a:r>
            <a:endParaRPr lang="en-US" sz="900" dirty="0"/>
          </a:p>
          <a:p>
            <a:pPr marL="0" indent="0">
              <a:buNone/>
            </a:pPr>
            <a:r>
              <a:rPr lang="en-US" sz="900" dirty="0">
                <a:solidFill>
                  <a:srgbClr val="404040"/>
                </a:solidFill>
                <a:latin typeface="Calibri" pitchFamily="34" charset="0"/>
                <a:ea typeface="Calibri" pitchFamily="34" charset="-122"/>
                <a:cs typeface="Calibri" pitchFamily="34" charset="-120"/>
              </a:rPr>
              <a:t>+18% in 6 months</a:t>
            </a:r>
            <a:endParaRPr lang="en-US" sz="900" dirty="0"/>
          </a:p>
          <a:p>
            <a:pPr marL="0" indent="0">
              <a:buNone/>
            </a:pPr>
            <a:r>
              <a:rPr lang="en-US" sz="900" dirty="0">
                <a:solidFill>
                  <a:srgbClr val="404040"/>
                </a:solidFill>
                <a:latin typeface="Calibri" pitchFamily="34" charset="0"/>
                <a:ea typeface="Calibri" pitchFamily="34" charset="-122"/>
                <a:cs typeface="Calibri" pitchFamily="34" charset="-120"/>
              </a:rPr>
              <a:t>Russia-Ukraine war, Brent $120/bbl</a:t>
            </a:r>
            <a:endParaRPr lang="en-US" sz="900" dirty="0"/>
          </a:p>
        </p:txBody>
      </p:sp>
      <p:sp>
        <p:nvSpPr>
          <p:cNvPr id="21" name="Shape 19"/>
          <p:cNvSpPr/>
          <p:nvPr/>
        </p:nvSpPr>
        <p:spPr>
          <a:xfrm>
            <a:off x="5806440" y="3273552"/>
            <a:ext cx="502920" cy="640080"/>
          </a:xfrm>
          <a:prstGeom prst="rect">
            <a:avLst/>
          </a:prstGeom>
          <a:solidFill>
            <a:srgbClr val="0F6E56"/>
          </a:solidFill>
          <a:ln w="12700">
            <a:solidFill>
              <a:srgbClr val="0F6E56"/>
            </a:solidFill>
            <a:prstDash val="solid"/>
          </a:ln>
        </p:spPr>
      </p:sp>
      <p:sp>
        <p:nvSpPr>
          <p:cNvPr id="22" name="Text 20"/>
          <p:cNvSpPr/>
          <p:nvPr/>
        </p:nvSpPr>
        <p:spPr>
          <a:xfrm>
            <a:off x="5806440" y="3273552"/>
            <a:ext cx="502920" cy="64008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Phase 3</a:t>
            </a:r>
            <a:endParaRPr lang="en-US" sz="900" dirty="0"/>
          </a:p>
        </p:txBody>
      </p:sp>
      <p:sp>
        <p:nvSpPr>
          <p:cNvPr id="23" name="Text 21"/>
          <p:cNvSpPr/>
          <p:nvPr/>
        </p:nvSpPr>
        <p:spPr>
          <a:xfrm>
            <a:off x="6400800" y="3291840"/>
            <a:ext cx="2487168" cy="274320"/>
          </a:xfrm>
          <a:prstGeom prst="rect">
            <a:avLst/>
          </a:prstGeom>
          <a:noFill/>
          <a:ln/>
        </p:spPr>
        <p:txBody>
          <a:bodyPr wrap="square" rtlCol="0" anchor="ctr"/>
          <a:lstStyle/>
          <a:p>
            <a:pPr marL="0" indent="0">
              <a:buNone/>
            </a:pPr>
            <a:r>
              <a:rPr lang="en-US" sz="1100" b="1" dirty="0">
                <a:solidFill>
                  <a:srgbClr val="0F6E56"/>
                </a:solidFill>
                <a:latin typeface="Calibri" pitchFamily="34" charset="0"/>
                <a:ea typeface="Calibri" pitchFamily="34" charset="-122"/>
                <a:cs typeface="Calibri" pitchFamily="34" charset="-120"/>
              </a:rPr>
              <a:t>Decline</a:t>
            </a:r>
            <a:endParaRPr lang="en-US" sz="1100" dirty="0"/>
          </a:p>
        </p:txBody>
      </p:sp>
      <p:sp>
        <p:nvSpPr>
          <p:cNvPr id="24" name="Text 22"/>
          <p:cNvSpPr/>
          <p:nvPr/>
        </p:nvSpPr>
        <p:spPr>
          <a:xfrm>
            <a:off x="6400800" y="3547872"/>
            <a:ext cx="2487168" cy="548640"/>
          </a:xfrm>
          <a:prstGeom prst="rect">
            <a:avLst/>
          </a:prstGeom>
          <a:noFill/>
          <a:ln/>
        </p:spPr>
        <p:txBody>
          <a:bodyPr wrap="square" rtlCol="0" anchor="ctr"/>
          <a:lstStyle/>
          <a:p>
            <a:pPr marL="0" indent="0">
              <a:buNone/>
            </a:pPr>
            <a:r>
              <a:rPr lang="en-US" sz="900" dirty="0">
                <a:solidFill>
                  <a:srgbClr val="404040"/>
                </a:solidFill>
                <a:latin typeface="Calibri" pitchFamily="34" charset="0"/>
                <a:ea typeface="Calibri" pitchFamily="34" charset="-122"/>
                <a:cs typeface="Calibri" pitchFamily="34" charset="-120"/>
              </a:rPr>
              <a:t>Jan 2024 – Jun 2025</a:t>
            </a:r>
            <a:endParaRPr lang="en-US" sz="900" dirty="0"/>
          </a:p>
          <a:p>
            <a:pPr marL="0" indent="0">
              <a:buNone/>
            </a:pPr>
            <a:r>
              <a:rPr lang="en-US" sz="900" dirty="0">
                <a:solidFill>
                  <a:srgbClr val="404040"/>
                </a:solidFill>
                <a:latin typeface="Calibri" pitchFamily="34" charset="0"/>
                <a:ea typeface="Calibri" pitchFamily="34" charset="-122"/>
                <a:cs typeface="Calibri" pitchFamily="34" charset="-120"/>
              </a:rPr>
              <a:t>UGX 5,461 → 4,720</a:t>
            </a:r>
            <a:endParaRPr lang="en-US" sz="900" dirty="0"/>
          </a:p>
          <a:p>
            <a:pPr marL="0" indent="0">
              <a:buNone/>
            </a:pPr>
            <a:r>
              <a:rPr lang="en-US" sz="900" dirty="0">
                <a:solidFill>
                  <a:srgbClr val="404040"/>
                </a:solidFill>
                <a:latin typeface="Calibri" pitchFamily="34" charset="0"/>
                <a:ea typeface="Calibri" pitchFamily="34" charset="-122"/>
                <a:cs typeface="Calibri" pitchFamily="34" charset="-120"/>
              </a:rPr>
              <a:t>-13.5% over 18 months</a:t>
            </a:r>
            <a:endParaRPr lang="en-US" sz="900" dirty="0"/>
          </a:p>
          <a:p>
            <a:pPr marL="0" indent="0">
              <a:buNone/>
            </a:pPr>
            <a:r>
              <a:rPr lang="en-US" sz="900" dirty="0">
                <a:solidFill>
                  <a:srgbClr val="404040"/>
                </a:solidFill>
                <a:latin typeface="Calibri" pitchFamily="34" charset="0"/>
                <a:ea typeface="Calibri" pitchFamily="34" charset="-122"/>
                <a:cs typeface="Calibri" pitchFamily="34" charset="-120"/>
              </a:rPr>
              <a:t>Market stabilisation + UNOC</a:t>
            </a:r>
            <a:endParaRPr lang="en-US" sz="900" dirty="0"/>
          </a:p>
        </p:txBody>
      </p:sp>
      <p:sp>
        <p:nvSpPr>
          <p:cNvPr id="25" name="Shape 23"/>
          <p:cNvSpPr/>
          <p:nvPr/>
        </p:nvSpPr>
        <p:spPr>
          <a:xfrm>
            <a:off x="228600" y="4251960"/>
            <a:ext cx="5303520" cy="347472"/>
          </a:xfrm>
          <a:prstGeom prst="rect">
            <a:avLst/>
          </a:prstGeom>
          <a:solidFill>
            <a:srgbClr val="1F3864"/>
          </a:solidFill>
          <a:ln w="12700">
            <a:solidFill>
              <a:srgbClr val="1F3864"/>
            </a:solidFill>
            <a:prstDash val="solid"/>
          </a:ln>
        </p:spPr>
      </p:sp>
      <p:sp>
        <p:nvSpPr>
          <p:cNvPr id="26" name="Text 24"/>
          <p:cNvSpPr/>
          <p:nvPr/>
        </p:nvSpPr>
        <p:spPr>
          <a:xfrm>
            <a:off x="274320" y="4251960"/>
            <a:ext cx="5212080" cy="34747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Peak: UGX 5,561/litre petrol — December 2023 (UBOS verified)</a:t>
            </a:r>
            <a:endParaRPr lang="en-US" sz="1100" dirty="0"/>
          </a:p>
        </p:txBody>
      </p:sp>
      <p:pic>
        <p:nvPicPr>
          <p:cNvPr id="28" name="Picture 27">
            <a:extLst>
              <a:ext uri="{FF2B5EF4-FFF2-40B4-BE49-F238E27FC236}">
                <a16:creationId xmlns:a16="http://schemas.microsoft.com/office/drawing/2014/main" id="{1920FBCE-61FF-457C-A851-604A82FA82EC}"/>
              </a:ext>
            </a:extLst>
          </p:cNvPr>
          <p:cNvPicPr>
            <a:picLocks noChangeAspect="1"/>
          </p:cNvPicPr>
          <p:nvPr/>
        </p:nvPicPr>
        <p:blipFill>
          <a:blip r:embed="rId3"/>
          <a:stretch>
            <a:fillRect/>
          </a:stretch>
        </p:blipFill>
        <p:spPr>
          <a:xfrm>
            <a:off x="228599" y="1042416"/>
            <a:ext cx="5303521" cy="311810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F3864"/>
          </a:solidFill>
          <a:ln w="12700">
            <a:solidFill>
              <a:srgbClr val="1F3864"/>
            </a:solidFill>
            <a:prstDash val="solid"/>
          </a:ln>
        </p:spPr>
      </p:sp>
      <p:sp>
        <p:nvSpPr>
          <p:cNvPr id="3" name="Shape 1"/>
          <p:cNvSpPr/>
          <p:nvPr/>
        </p:nvSpPr>
        <p:spPr>
          <a:xfrm>
            <a:off x="0" y="777240"/>
            <a:ext cx="9144000" cy="54864"/>
          </a:xfrm>
          <a:prstGeom prst="rect">
            <a:avLst/>
          </a:prstGeom>
          <a:solidFill>
            <a:srgbClr val="C9A84C"/>
          </a:solidFill>
          <a:ln w="12700">
            <a:solidFill>
              <a:srgbClr val="C9A84C"/>
            </a:solidFill>
            <a:prstDash val="solid"/>
          </a:ln>
        </p:spPr>
      </p:sp>
      <p:sp>
        <p:nvSpPr>
          <p:cNvPr id="4" name="Text 2"/>
          <p:cNvSpPr/>
          <p:nvPr/>
        </p:nvSpPr>
        <p:spPr>
          <a:xfrm>
            <a:off x="274320" y="36576"/>
            <a:ext cx="8595360" cy="713232"/>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Key Finding 2 — Regional Price Analysis</a:t>
            </a:r>
            <a:endParaRPr lang="en-US" sz="2000" dirty="0"/>
          </a:p>
        </p:txBody>
      </p:sp>
      <p:sp>
        <p:nvSpPr>
          <p:cNvPr id="5" name="Text 3"/>
          <p:cNvSpPr/>
          <p:nvPr/>
        </p:nvSpPr>
        <p:spPr>
          <a:xfrm>
            <a:off x="274320" y="804672"/>
            <a:ext cx="8595360" cy="274320"/>
          </a:xfrm>
          <a:prstGeom prst="rect">
            <a:avLst/>
          </a:prstGeom>
          <a:noFill/>
          <a:ln/>
        </p:spPr>
        <p:txBody>
          <a:bodyPr wrap="square" rtlCol="0" anchor="ctr"/>
          <a:lstStyle/>
          <a:p>
            <a:pPr marL="0" indent="0">
              <a:buNone/>
            </a:pPr>
            <a:r>
              <a:rPr lang="en-US" sz="1100" i="1" dirty="0">
                <a:solidFill>
                  <a:srgbClr val="888888"/>
                </a:solidFill>
                <a:latin typeface="Calibri" pitchFamily="34" charset="0"/>
                <a:ea typeface="Calibri" pitchFamily="34" charset="-122"/>
                <a:cs typeface="Calibri" pitchFamily="34" charset="-120"/>
              </a:rPr>
              <a:t>Northern Uganda pays 9.5% more than Kampala — every month, consistently</a:t>
            </a:r>
            <a:endParaRPr lang="en-US" sz="1100" dirty="0"/>
          </a:p>
        </p:txBody>
      </p:sp>
      <p:sp>
        <p:nvSpPr>
          <p:cNvPr id="6" name="Shape 4"/>
          <p:cNvSpPr/>
          <p:nvPr/>
        </p:nvSpPr>
        <p:spPr>
          <a:xfrm>
            <a:off x="0" y="4892040"/>
            <a:ext cx="9144000" cy="256032"/>
          </a:xfrm>
          <a:prstGeom prst="rect">
            <a:avLst/>
          </a:prstGeom>
          <a:solidFill>
            <a:srgbClr val="F0F0F0"/>
          </a:solidFill>
          <a:ln w="12700">
            <a:solidFill>
              <a:srgbClr val="DDDDDD"/>
            </a:solidFill>
            <a:prstDash val="solid"/>
          </a:ln>
        </p:spPr>
      </p:sp>
      <p:sp>
        <p:nvSpPr>
          <p:cNvPr id="7" name="Text 5"/>
          <p:cNvSpPr/>
          <p:nvPr/>
        </p:nvSpPr>
        <p:spPr>
          <a:xfrm>
            <a:off x="182880" y="4910328"/>
            <a:ext cx="7315200" cy="201168"/>
          </a:xfrm>
          <a:prstGeom prst="rect">
            <a:avLst/>
          </a:prstGeom>
          <a:noFill/>
          <a:ln/>
        </p:spPr>
        <p:txBody>
          <a:bodyPr wrap="square" rtlCol="0" anchor="ctr"/>
          <a:lstStyle/>
          <a:p>
            <a:pPr marL="0" indent="0">
              <a:buNone/>
            </a:pPr>
            <a:r>
              <a:rPr lang="en-US" sz="800" dirty="0">
                <a:solidFill>
                  <a:srgbClr val="888888"/>
                </a:solidFill>
                <a:latin typeface="Calibri" pitchFamily="34" charset="0"/>
                <a:ea typeface="Calibri" pitchFamily="34" charset="-122"/>
                <a:cs typeface="Calibri" pitchFamily="34" charset="-120"/>
              </a:rPr>
              <a:t>Uganda Fuel Price &amp; Consumption Data Warehouse  |  Group 4  |  College of Computing and Informatics Technology</a:t>
            </a:r>
            <a:endParaRPr lang="en-US" sz="800" dirty="0"/>
          </a:p>
        </p:txBody>
      </p:sp>
      <p:sp>
        <p:nvSpPr>
          <p:cNvPr id="8" name="Text 6"/>
          <p:cNvSpPr/>
          <p:nvPr/>
        </p:nvSpPr>
        <p:spPr>
          <a:xfrm>
            <a:off x="8229600" y="4910328"/>
            <a:ext cx="731520" cy="201168"/>
          </a:xfrm>
          <a:prstGeom prst="rect">
            <a:avLst/>
          </a:prstGeom>
          <a:noFill/>
          <a:ln/>
        </p:spPr>
        <p:txBody>
          <a:bodyPr wrap="square" rtlCol="0" anchor="ctr"/>
          <a:lstStyle/>
          <a:p>
            <a:pPr marL="0" indent="0" algn="r">
              <a:buNone/>
            </a:pPr>
            <a:r>
              <a:rPr lang="en-US" sz="800" dirty="0">
                <a:solidFill>
                  <a:srgbClr val="888888"/>
                </a:solidFill>
                <a:latin typeface="Calibri" pitchFamily="34" charset="0"/>
                <a:ea typeface="Calibri" pitchFamily="34" charset="-122"/>
                <a:cs typeface="Calibri" pitchFamily="34" charset="-120"/>
              </a:rPr>
              <a:t>11 / 18</a:t>
            </a:r>
            <a:endParaRPr lang="en-US" sz="800" dirty="0"/>
          </a:p>
        </p:txBody>
      </p:sp>
      <p:sp>
        <p:nvSpPr>
          <p:cNvPr id="9" name="Shape 7"/>
          <p:cNvSpPr/>
          <p:nvPr/>
        </p:nvSpPr>
        <p:spPr>
          <a:xfrm>
            <a:off x="228600" y="1078992"/>
            <a:ext cx="5029200" cy="2898648"/>
          </a:xfrm>
          <a:prstGeom prst="rect">
            <a:avLst/>
          </a:prstGeom>
          <a:solidFill>
            <a:srgbClr val="F2F2F2"/>
          </a:solidFill>
          <a:ln w="12700">
            <a:solidFill>
              <a:srgbClr val="888888"/>
            </a:solidFill>
            <a:prstDash val="dash"/>
          </a:ln>
        </p:spPr>
      </p:sp>
      <p:sp>
        <p:nvSpPr>
          <p:cNvPr id="10" name="Text 8"/>
          <p:cNvSpPr/>
          <p:nvPr/>
        </p:nvSpPr>
        <p:spPr>
          <a:xfrm>
            <a:off x="228600" y="960120"/>
            <a:ext cx="5029200" cy="3017520"/>
          </a:xfrm>
          <a:prstGeom prst="rect">
            <a:avLst/>
          </a:prstGeom>
          <a:noFill/>
          <a:ln/>
        </p:spPr>
        <p:txBody>
          <a:bodyPr wrap="square" rtlCol="0" anchor="ctr"/>
          <a:lstStyle/>
          <a:p>
            <a:pPr marL="0" indent="0" algn="ctr">
              <a:buNone/>
            </a:pPr>
            <a:r>
              <a:rPr lang="en-US" sz="1100" i="1" dirty="0">
                <a:solidFill>
                  <a:srgbClr val="888888"/>
                </a:solidFill>
                <a:latin typeface="Calibri" pitchFamily="34" charset="0"/>
                <a:ea typeface="Calibri" pitchFamily="34" charset="-122"/>
                <a:cs typeface="Calibri" pitchFamily="34" charset="-120"/>
              </a:rPr>
              <a:t>[ INSERT: Regional Analysis Dashboard Screenshot — Page 2 ]</a:t>
            </a:r>
            <a:endParaRPr lang="en-US" sz="1100" dirty="0"/>
          </a:p>
        </p:txBody>
      </p:sp>
      <p:sp>
        <p:nvSpPr>
          <p:cNvPr id="11" name="Shape 9"/>
          <p:cNvSpPr/>
          <p:nvPr/>
        </p:nvSpPr>
        <p:spPr>
          <a:xfrm>
            <a:off x="5440680" y="960120"/>
            <a:ext cx="3520440" cy="3017520"/>
          </a:xfrm>
          <a:prstGeom prst="rect">
            <a:avLst/>
          </a:prstGeom>
          <a:solidFill>
            <a:srgbClr val="F8FAFD"/>
          </a:solidFill>
          <a:ln w="6350">
            <a:solidFill>
              <a:srgbClr val="C0D0EE"/>
            </a:solidFill>
            <a:prstDash val="solid"/>
          </a:ln>
        </p:spPr>
      </p:sp>
      <p:sp>
        <p:nvSpPr>
          <p:cNvPr id="12" name="Shape 10"/>
          <p:cNvSpPr/>
          <p:nvPr/>
        </p:nvSpPr>
        <p:spPr>
          <a:xfrm>
            <a:off x="5486400" y="1024128"/>
            <a:ext cx="3429000" cy="475488"/>
          </a:xfrm>
          <a:prstGeom prst="rect">
            <a:avLst/>
          </a:prstGeom>
          <a:solidFill>
            <a:srgbClr val="1F3864"/>
          </a:solidFill>
          <a:ln w="6350">
            <a:solidFill>
              <a:srgbClr val="1F3864"/>
            </a:solidFill>
            <a:prstDash val="solid"/>
          </a:ln>
        </p:spPr>
      </p:sp>
      <p:sp>
        <p:nvSpPr>
          <p:cNvPr id="13" name="Text 11"/>
          <p:cNvSpPr/>
          <p:nvPr/>
        </p:nvSpPr>
        <p:spPr>
          <a:xfrm>
            <a:off x="5532120" y="1024128"/>
            <a:ext cx="1371600" cy="47548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Region</a:t>
            </a:r>
            <a:endParaRPr lang="en-US" sz="1000" dirty="0"/>
          </a:p>
        </p:txBody>
      </p:sp>
      <p:sp>
        <p:nvSpPr>
          <p:cNvPr id="14" name="Text 12"/>
          <p:cNvSpPr/>
          <p:nvPr/>
        </p:nvSpPr>
        <p:spPr>
          <a:xfrm>
            <a:off x="6903720" y="1024128"/>
            <a:ext cx="731520" cy="47548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Premium</a:t>
            </a:r>
            <a:endParaRPr lang="en-US" sz="1000" dirty="0"/>
          </a:p>
        </p:txBody>
      </p:sp>
      <p:sp>
        <p:nvSpPr>
          <p:cNvPr id="15" name="Text 13"/>
          <p:cNvSpPr/>
          <p:nvPr/>
        </p:nvSpPr>
        <p:spPr>
          <a:xfrm>
            <a:off x="7635240" y="1024128"/>
            <a:ext cx="1280160" cy="47548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Typical Extra Cost</a:t>
            </a:r>
            <a:endParaRPr lang="en-US" sz="1000" dirty="0"/>
          </a:p>
        </p:txBody>
      </p:sp>
      <p:sp>
        <p:nvSpPr>
          <p:cNvPr id="16" name="Shape 14"/>
          <p:cNvSpPr/>
          <p:nvPr/>
        </p:nvSpPr>
        <p:spPr>
          <a:xfrm>
            <a:off x="5486400" y="1554480"/>
            <a:ext cx="3429000" cy="475488"/>
          </a:xfrm>
          <a:prstGeom prst="rect">
            <a:avLst/>
          </a:prstGeom>
          <a:solidFill>
            <a:srgbClr val="F8FAFD"/>
          </a:solidFill>
          <a:ln w="6350">
            <a:solidFill>
              <a:srgbClr val="DDDDDD"/>
            </a:solidFill>
            <a:prstDash val="solid"/>
          </a:ln>
        </p:spPr>
      </p:sp>
      <p:sp>
        <p:nvSpPr>
          <p:cNvPr id="17" name="Text 15"/>
          <p:cNvSpPr/>
          <p:nvPr/>
        </p:nvSpPr>
        <p:spPr>
          <a:xfrm>
            <a:off x="5532120" y="1554480"/>
            <a:ext cx="1371600" cy="475488"/>
          </a:xfrm>
          <a:prstGeom prst="rect">
            <a:avLst/>
          </a:prstGeom>
          <a:noFill/>
          <a:ln/>
        </p:spPr>
        <p:txBody>
          <a:bodyPr wrap="square" rtlCol="0" anchor="ctr"/>
          <a:lstStyle/>
          <a:p>
            <a:pPr marL="0" indent="0">
              <a:buNone/>
            </a:pPr>
            <a:r>
              <a:rPr lang="en-US" sz="1000" dirty="0">
                <a:solidFill>
                  <a:srgbClr val="1F3864"/>
                </a:solidFill>
                <a:latin typeface="Calibri" pitchFamily="34" charset="0"/>
                <a:ea typeface="Calibri" pitchFamily="34" charset="-122"/>
                <a:cs typeface="Calibri" pitchFamily="34" charset="-120"/>
              </a:rPr>
              <a:t>Central</a:t>
            </a:r>
            <a:endParaRPr lang="en-US" sz="1000" dirty="0"/>
          </a:p>
        </p:txBody>
      </p:sp>
      <p:sp>
        <p:nvSpPr>
          <p:cNvPr id="18" name="Text 16"/>
          <p:cNvSpPr/>
          <p:nvPr/>
        </p:nvSpPr>
        <p:spPr>
          <a:xfrm>
            <a:off x="6903720" y="1554480"/>
            <a:ext cx="731520" cy="475488"/>
          </a:xfrm>
          <a:prstGeom prst="rect">
            <a:avLst/>
          </a:prstGeom>
          <a:noFill/>
          <a:ln/>
        </p:spPr>
        <p:txBody>
          <a:bodyPr wrap="square" rtlCol="0" anchor="ctr"/>
          <a:lstStyle/>
          <a:p>
            <a:pPr marL="0" indent="0" algn="ctr">
              <a:buNone/>
            </a:pPr>
            <a:r>
              <a:rPr lang="en-US" sz="1000" b="1" dirty="0">
                <a:solidFill>
                  <a:srgbClr val="1F3864"/>
                </a:solidFill>
                <a:latin typeface="Calibri" pitchFamily="34" charset="0"/>
                <a:ea typeface="Calibri" pitchFamily="34" charset="-122"/>
                <a:cs typeface="Calibri" pitchFamily="34" charset="-120"/>
              </a:rPr>
              <a:t>0%</a:t>
            </a:r>
            <a:endParaRPr lang="en-US" sz="1000" dirty="0"/>
          </a:p>
        </p:txBody>
      </p:sp>
      <p:sp>
        <p:nvSpPr>
          <p:cNvPr id="19" name="Text 17"/>
          <p:cNvSpPr/>
          <p:nvPr/>
        </p:nvSpPr>
        <p:spPr>
          <a:xfrm>
            <a:off x="7635240" y="1554480"/>
            <a:ext cx="1280160" cy="475488"/>
          </a:xfrm>
          <a:prstGeom prst="rect">
            <a:avLst/>
          </a:prstGeom>
          <a:noFill/>
          <a:ln/>
        </p:spPr>
        <p:txBody>
          <a:bodyPr wrap="square" rtlCol="0" anchor="ctr"/>
          <a:lstStyle/>
          <a:p>
            <a:pPr marL="0" indent="0">
              <a:buNone/>
            </a:pPr>
            <a:r>
              <a:rPr lang="en-US" sz="1000" dirty="0">
                <a:solidFill>
                  <a:srgbClr val="404040"/>
                </a:solidFill>
                <a:latin typeface="Calibri" pitchFamily="34" charset="0"/>
                <a:ea typeface="Calibri" pitchFamily="34" charset="-122"/>
                <a:cs typeface="Calibri" pitchFamily="34" charset="-120"/>
              </a:rPr>
              <a:t>Baseline (Kampala)</a:t>
            </a:r>
            <a:endParaRPr lang="en-US" sz="1000" dirty="0"/>
          </a:p>
        </p:txBody>
      </p:sp>
      <p:sp>
        <p:nvSpPr>
          <p:cNvPr id="20" name="Shape 18"/>
          <p:cNvSpPr/>
          <p:nvPr/>
        </p:nvSpPr>
        <p:spPr>
          <a:xfrm>
            <a:off x="5486400" y="2084832"/>
            <a:ext cx="3429000" cy="475488"/>
          </a:xfrm>
          <a:prstGeom prst="rect">
            <a:avLst/>
          </a:prstGeom>
          <a:solidFill>
            <a:srgbClr val="F8FAFD"/>
          </a:solidFill>
          <a:ln w="6350">
            <a:solidFill>
              <a:srgbClr val="DDDDDD"/>
            </a:solidFill>
            <a:prstDash val="solid"/>
          </a:ln>
        </p:spPr>
      </p:sp>
      <p:sp>
        <p:nvSpPr>
          <p:cNvPr id="21" name="Text 19"/>
          <p:cNvSpPr/>
          <p:nvPr/>
        </p:nvSpPr>
        <p:spPr>
          <a:xfrm>
            <a:off x="5532120" y="2084832"/>
            <a:ext cx="1371600" cy="475488"/>
          </a:xfrm>
          <a:prstGeom prst="rect">
            <a:avLst/>
          </a:prstGeom>
          <a:noFill/>
          <a:ln/>
        </p:spPr>
        <p:txBody>
          <a:bodyPr wrap="square" rtlCol="0" anchor="ctr"/>
          <a:lstStyle/>
          <a:p>
            <a:pPr marL="0" indent="0">
              <a:buNone/>
            </a:pPr>
            <a:r>
              <a:rPr lang="en-US" sz="1000" dirty="0">
                <a:solidFill>
                  <a:srgbClr val="375623"/>
                </a:solidFill>
                <a:latin typeface="Calibri" pitchFamily="34" charset="0"/>
                <a:ea typeface="Calibri" pitchFamily="34" charset="-122"/>
                <a:cs typeface="Calibri" pitchFamily="34" charset="-120"/>
              </a:rPr>
              <a:t>Eastern</a:t>
            </a:r>
            <a:endParaRPr lang="en-US" sz="1000" dirty="0"/>
          </a:p>
        </p:txBody>
      </p:sp>
      <p:sp>
        <p:nvSpPr>
          <p:cNvPr id="22" name="Text 20"/>
          <p:cNvSpPr/>
          <p:nvPr/>
        </p:nvSpPr>
        <p:spPr>
          <a:xfrm>
            <a:off x="6903720" y="2084832"/>
            <a:ext cx="731520" cy="475488"/>
          </a:xfrm>
          <a:prstGeom prst="rect">
            <a:avLst/>
          </a:prstGeom>
          <a:noFill/>
          <a:ln/>
        </p:spPr>
        <p:txBody>
          <a:bodyPr wrap="square" rtlCol="0" anchor="ctr"/>
          <a:lstStyle/>
          <a:p>
            <a:pPr marL="0" indent="0" algn="ctr">
              <a:buNone/>
            </a:pPr>
            <a:r>
              <a:rPr lang="en-US" sz="1000" b="1" dirty="0">
                <a:solidFill>
                  <a:srgbClr val="375623"/>
                </a:solidFill>
                <a:latin typeface="Calibri" pitchFamily="34" charset="0"/>
                <a:ea typeface="Calibri" pitchFamily="34" charset="-122"/>
                <a:cs typeface="Calibri" pitchFamily="34" charset="-120"/>
              </a:rPr>
              <a:t>+3.5%</a:t>
            </a:r>
            <a:endParaRPr lang="en-US" sz="1000" dirty="0"/>
          </a:p>
        </p:txBody>
      </p:sp>
      <p:sp>
        <p:nvSpPr>
          <p:cNvPr id="23" name="Text 21"/>
          <p:cNvSpPr/>
          <p:nvPr/>
        </p:nvSpPr>
        <p:spPr>
          <a:xfrm>
            <a:off x="7635240" y="2084832"/>
            <a:ext cx="1280160" cy="475488"/>
          </a:xfrm>
          <a:prstGeom prst="rect">
            <a:avLst/>
          </a:prstGeom>
          <a:noFill/>
          <a:ln/>
        </p:spPr>
        <p:txBody>
          <a:bodyPr wrap="square" rtlCol="0" anchor="ctr"/>
          <a:lstStyle/>
          <a:p>
            <a:pPr marL="0" indent="0">
              <a:buNone/>
            </a:pPr>
            <a:r>
              <a:rPr lang="en-US" sz="1000" dirty="0">
                <a:solidFill>
                  <a:srgbClr val="404040"/>
                </a:solidFill>
                <a:latin typeface="Calibri" pitchFamily="34" charset="0"/>
                <a:ea typeface="Calibri" pitchFamily="34" charset="-122"/>
                <a:cs typeface="Calibri" pitchFamily="34" charset="-120"/>
              </a:rPr>
              <a:t>UGX 180–200 extra</a:t>
            </a:r>
            <a:endParaRPr lang="en-US" sz="1000" dirty="0"/>
          </a:p>
        </p:txBody>
      </p:sp>
      <p:sp>
        <p:nvSpPr>
          <p:cNvPr id="24" name="Shape 22"/>
          <p:cNvSpPr/>
          <p:nvPr/>
        </p:nvSpPr>
        <p:spPr>
          <a:xfrm>
            <a:off x="5486400" y="2615184"/>
            <a:ext cx="3429000" cy="475488"/>
          </a:xfrm>
          <a:prstGeom prst="rect">
            <a:avLst/>
          </a:prstGeom>
          <a:solidFill>
            <a:srgbClr val="F8FAFD"/>
          </a:solidFill>
          <a:ln w="6350">
            <a:solidFill>
              <a:srgbClr val="DDDDDD"/>
            </a:solidFill>
            <a:prstDash val="solid"/>
          </a:ln>
        </p:spPr>
      </p:sp>
      <p:sp>
        <p:nvSpPr>
          <p:cNvPr id="25" name="Text 23"/>
          <p:cNvSpPr/>
          <p:nvPr/>
        </p:nvSpPr>
        <p:spPr>
          <a:xfrm>
            <a:off x="5532120" y="2615184"/>
            <a:ext cx="1371600" cy="475488"/>
          </a:xfrm>
          <a:prstGeom prst="rect">
            <a:avLst/>
          </a:prstGeom>
          <a:noFill/>
          <a:ln/>
        </p:spPr>
        <p:txBody>
          <a:bodyPr wrap="square" rtlCol="0" anchor="ctr"/>
          <a:lstStyle/>
          <a:p>
            <a:pPr marL="0" indent="0">
              <a:buNone/>
            </a:pPr>
            <a:r>
              <a:rPr lang="en-US" sz="1000" dirty="0">
                <a:solidFill>
                  <a:srgbClr val="843C0C"/>
                </a:solidFill>
                <a:latin typeface="Calibri" pitchFamily="34" charset="0"/>
                <a:ea typeface="Calibri" pitchFamily="34" charset="-122"/>
                <a:cs typeface="Calibri" pitchFamily="34" charset="-120"/>
              </a:rPr>
              <a:t>Western</a:t>
            </a:r>
            <a:endParaRPr lang="en-US" sz="1000" dirty="0"/>
          </a:p>
        </p:txBody>
      </p:sp>
      <p:sp>
        <p:nvSpPr>
          <p:cNvPr id="26" name="Text 24"/>
          <p:cNvSpPr/>
          <p:nvPr/>
        </p:nvSpPr>
        <p:spPr>
          <a:xfrm>
            <a:off x="6903720" y="2615184"/>
            <a:ext cx="731520" cy="475488"/>
          </a:xfrm>
          <a:prstGeom prst="rect">
            <a:avLst/>
          </a:prstGeom>
          <a:noFill/>
          <a:ln/>
        </p:spPr>
        <p:txBody>
          <a:bodyPr wrap="square" rtlCol="0" anchor="ctr"/>
          <a:lstStyle/>
          <a:p>
            <a:pPr marL="0" indent="0" algn="ctr">
              <a:buNone/>
            </a:pPr>
            <a:r>
              <a:rPr lang="en-US" sz="1000" b="1" dirty="0">
                <a:solidFill>
                  <a:srgbClr val="843C0C"/>
                </a:solidFill>
                <a:latin typeface="Calibri" pitchFamily="34" charset="0"/>
                <a:ea typeface="Calibri" pitchFamily="34" charset="-122"/>
                <a:cs typeface="Calibri" pitchFamily="34" charset="-120"/>
              </a:rPr>
              <a:t>+6.5%</a:t>
            </a:r>
            <a:endParaRPr lang="en-US" sz="1000" dirty="0"/>
          </a:p>
        </p:txBody>
      </p:sp>
      <p:sp>
        <p:nvSpPr>
          <p:cNvPr id="27" name="Text 25"/>
          <p:cNvSpPr/>
          <p:nvPr/>
        </p:nvSpPr>
        <p:spPr>
          <a:xfrm>
            <a:off x="7635240" y="2615184"/>
            <a:ext cx="1280160" cy="475488"/>
          </a:xfrm>
          <a:prstGeom prst="rect">
            <a:avLst/>
          </a:prstGeom>
          <a:noFill/>
          <a:ln/>
        </p:spPr>
        <p:txBody>
          <a:bodyPr wrap="square" rtlCol="0" anchor="ctr"/>
          <a:lstStyle/>
          <a:p>
            <a:pPr marL="0" indent="0">
              <a:buNone/>
            </a:pPr>
            <a:r>
              <a:rPr lang="en-US" sz="1000" dirty="0">
                <a:solidFill>
                  <a:srgbClr val="404040"/>
                </a:solidFill>
                <a:latin typeface="Calibri" pitchFamily="34" charset="0"/>
                <a:ea typeface="Calibri" pitchFamily="34" charset="-122"/>
                <a:cs typeface="Calibri" pitchFamily="34" charset="-120"/>
              </a:rPr>
              <a:t>UGX 330–370 extra</a:t>
            </a:r>
            <a:endParaRPr lang="en-US" sz="1000" dirty="0"/>
          </a:p>
        </p:txBody>
      </p:sp>
      <p:sp>
        <p:nvSpPr>
          <p:cNvPr id="28" name="Shape 26"/>
          <p:cNvSpPr/>
          <p:nvPr/>
        </p:nvSpPr>
        <p:spPr>
          <a:xfrm>
            <a:off x="5486400" y="3145536"/>
            <a:ext cx="3429000" cy="475488"/>
          </a:xfrm>
          <a:prstGeom prst="rect">
            <a:avLst/>
          </a:prstGeom>
          <a:solidFill>
            <a:srgbClr val="F8FAFD"/>
          </a:solidFill>
          <a:ln w="6350">
            <a:solidFill>
              <a:srgbClr val="DDDDDD"/>
            </a:solidFill>
            <a:prstDash val="solid"/>
          </a:ln>
        </p:spPr>
      </p:sp>
      <p:sp>
        <p:nvSpPr>
          <p:cNvPr id="29" name="Text 27"/>
          <p:cNvSpPr/>
          <p:nvPr/>
        </p:nvSpPr>
        <p:spPr>
          <a:xfrm>
            <a:off x="5532120" y="3145536"/>
            <a:ext cx="1371600" cy="475488"/>
          </a:xfrm>
          <a:prstGeom prst="rect">
            <a:avLst/>
          </a:prstGeom>
          <a:noFill/>
          <a:ln/>
        </p:spPr>
        <p:txBody>
          <a:bodyPr wrap="square" rtlCol="0" anchor="ctr"/>
          <a:lstStyle/>
          <a:p>
            <a:pPr marL="0" indent="0">
              <a:buNone/>
            </a:pPr>
            <a:r>
              <a:rPr lang="en-US" sz="1000" dirty="0">
                <a:solidFill>
                  <a:srgbClr val="7B1818"/>
                </a:solidFill>
                <a:latin typeface="Calibri" pitchFamily="34" charset="0"/>
                <a:ea typeface="Calibri" pitchFamily="34" charset="-122"/>
                <a:cs typeface="Calibri" pitchFamily="34" charset="-120"/>
              </a:rPr>
              <a:t>Northern</a:t>
            </a:r>
            <a:endParaRPr lang="en-US" sz="1000" dirty="0"/>
          </a:p>
        </p:txBody>
      </p:sp>
      <p:sp>
        <p:nvSpPr>
          <p:cNvPr id="30" name="Text 28"/>
          <p:cNvSpPr/>
          <p:nvPr/>
        </p:nvSpPr>
        <p:spPr>
          <a:xfrm>
            <a:off x="6903720" y="3145536"/>
            <a:ext cx="731520" cy="475488"/>
          </a:xfrm>
          <a:prstGeom prst="rect">
            <a:avLst/>
          </a:prstGeom>
          <a:noFill/>
          <a:ln/>
        </p:spPr>
        <p:txBody>
          <a:bodyPr wrap="square" rtlCol="0" anchor="ctr"/>
          <a:lstStyle/>
          <a:p>
            <a:pPr marL="0" indent="0" algn="ctr">
              <a:buNone/>
            </a:pPr>
            <a:r>
              <a:rPr lang="en-US" sz="1000" b="1" dirty="0">
                <a:solidFill>
                  <a:srgbClr val="7B1818"/>
                </a:solidFill>
                <a:latin typeface="Calibri" pitchFamily="34" charset="0"/>
                <a:ea typeface="Calibri" pitchFamily="34" charset="-122"/>
                <a:cs typeface="Calibri" pitchFamily="34" charset="-120"/>
              </a:rPr>
              <a:t>+9.5%</a:t>
            </a:r>
            <a:endParaRPr lang="en-US" sz="1000" dirty="0"/>
          </a:p>
        </p:txBody>
      </p:sp>
      <p:sp>
        <p:nvSpPr>
          <p:cNvPr id="31" name="Text 29"/>
          <p:cNvSpPr/>
          <p:nvPr/>
        </p:nvSpPr>
        <p:spPr>
          <a:xfrm>
            <a:off x="7635240" y="3145536"/>
            <a:ext cx="1280160" cy="475488"/>
          </a:xfrm>
          <a:prstGeom prst="rect">
            <a:avLst/>
          </a:prstGeom>
          <a:noFill/>
          <a:ln/>
        </p:spPr>
        <p:txBody>
          <a:bodyPr wrap="square" rtlCol="0" anchor="ctr"/>
          <a:lstStyle/>
          <a:p>
            <a:pPr marL="0" indent="0">
              <a:buNone/>
            </a:pPr>
            <a:r>
              <a:rPr lang="en-US" sz="1000" dirty="0">
                <a:solidFill>
                  <a:srgbClr val="404040"/>
                </a:solidFill>
                <a:latin typeface="Calibri" pitchFamily="34" charset="0"/>
                <a:ea typeface="Calibri" pitchFamily="34" charset="-122"/>
                <a:cs typeface="Calibri" pitchFamily="34" charset="-120"/>
              </a:rPr>
              <a:t>UGX 480–540 extra</a:t>
            </a:r>
            <a:endParaRPr lang="en-US" sz="1000" dirty="0"/>
          </a:p>
        </p:txBody>
      </p:sp>
      <p:sp>
        <p:nvSpPr>
          <p:cNvPr id="32" name="Shape 30"/>
          <p:cNvSpPr/>
          <p:nvPr/>
        </p:nvSpPr>
        <p:spPr>
          <a:xfrm>
            <a:off x="228600" y="4069080"/>
            <a:ext cx="8732520" cy="658368"/>
          </a:xfrm>
          <a:prstGeom prst="rect">
            <a:avLst/>
          </a:prstGeom>
          <a:solidFill>
            <a:srgbClr val="FFF2CC"/>
          </a:solidFill>
          <a:ln w="6350">
            <a:solidFill>
              <a:srgbClr val="E8C87A"/>
            </a:solidFill>
            <a:prstDash val="solid"/>
          </a:ln>
        </p:spPr>
      </p:sp>
      <p:sp>
        <p:nvSpPr>
          <p:cNvPr id="33" name="Text 31"/>
          <p:cNvSpPr/>
          <p:nvPr/>
        </p:nvSpPr>
        <p:spPr>
          <a:xfrm>
            <a:off x="320040" y="4087368"/>
            <a:ext cx="8549640" cy="621792"/>
          </a:xfrm>
          <a:prstGeom prst="rect">
            <a:avLst/>
          </a:prstGeom>
          <a:noFill/>
          <a:ln/>
        </p:spPr>
        <p:txBody>
          <a:bodyPr wrap="square" rtlCol="0" anchor="ctr"/>
          <a:lstStyle/>
          <a:p>
            <a:pPr marL="0" indent="0">
              <a:buNone/>
            </a:pPr>
            <a:r>
              <a:rPr lang="en-US" sz="1000" dirty="0">
                <a:solidFill>
                  <a:srgbClr val="843C0C"/>
                </a:solidFill>
                <a:latin typeface="Calibri" pitchFamily="34" charset="0"/>
                <a:ea typeface="Calibri" pitchFamily="34" charset="-122"/>
                <a:cs typeface="Calibri" pitchFamily="34" charset="-120"/>
              </a:rPr>
              <a:t>Why? Fuel travels 333–511 km from Kampala to Northern Uganda depots. Road conditions rated Fair to Poor on some routes. Fewer fuel brands competing in remote towns reduces price pressure. This structural premium has remained constant throughout the entire 54-month study period.</a:t>
            </a:r>
            <a:endParaRPr lang="en-US" sz="1000" dirty="0"/>
          </a:p>
        </p:txBody>
      </p:sp>
      <p:pic>
        <p:nvPicPr>
          <p:cNvPr id="35" name="Picture 34">
            <a:extLst>
              <a:ext uri="{FF2B5EF4-FFF2-40B4-BE49-F238E27FC236}">
                <a16:creationId xmlns:a16="http://schemas.microsoft.com/office/drawing/2014/main" id="{21DBDEC9-CA4A-4CEC-9A82-61C33DADF25D}"/>
              </a:ext>
            </a:extLst>
          </p:cNvPr>
          <p:cNvPicPr>
            <a:picLocks noChangeAspect="1"/>
          </p:cNvPicPr>
          <p:nvPr/>
        </p:nvPicPr>
        <p:blipFill>
          <a:blip r:embed="rId3"/>
          <a:stretch>
            <a:fillRect/>
          </a:stretch>
        </p:blipFill>
        <p:spPr>
          <a:xfrm>
            <a:off x="228599" y="1078992"/>
            <a:ext cx="5029201" cy="289864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F3864"/>
          </a:solidFill>
          <a:ln w="12700">
            <a:solidFill>
              <a:srgbClr val="1F3864"/>
            </a:solidFill>
            <a:prstDash val="solid"/>
          </a:ln>
        </p:spPr>
      </p:sp>
      <p:sp>
        <p:nvSpPr>
          <p:cNvPr id="3" name="Shape 1"/>
          <p:cNvSpPr/>
          <p:nvPr/>
        </p:nvSpPr>
        <p:spPr>
          <a:xfrm>
            <a:off x="0" y="777240"/>
            <a:ext cx="9144000" cy="54864"/>
          </a:xfrm>
          <a:prstGeom prst="rect">
            <a:avLst/>
          </a:prstGeom>
          <a:solidFill>
            <a:srgbClr val="C9A84C"/>
          </a:solidFill>
          <a:ln w="12700">
            <a:solidFill>
              <a:srgbClr val="C9A84C"/>
            </a:solidFill>
            <a:prstDash val="solid"/>
          </a:ln>
        </p:spPr>
      </p:sp>
      <p:sp>
        <p:nvSpPr>
          <p:cNvPr id="4" name="Text 2"/>
          <p:cNvSpPr/>
          <p:nvPr/>
        </p:nvSpPr>
        <p:spPr>
          <a:xfrm>
            <a:off x="274320" y="36576"/>
            <a:ext cx="8595360" cy="713232"/>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Key Finding 3 — Brand Price Comparison</a:t>
            </a:r>
            <a:endParaRPr lang="en-US" sz="2000" dirty="0"/>
          </a:p>
        </p:txBody>
      </p:sp>
      <p:sp>
        <p:nvSpPr>
          <p:cNvPr id="5" name="Text 3"/>
          <p:cNvSpPr/>
          <p:nvPr/>
        </p:nvSpPr>
        <p:spPr>
          <a:xfrm>
            <a:off x="274320" y="804672"/>
            <a:ext cx="8595360" cy="274320"/>
          </a:xfrm>
          <a:prstGeom prst="rect">
            <a:avLst/>
          </a:prstGeom>
          <a:noFill/>
          <a:ln/>
        </p:spPr>
        <p:txBody>
          <a:bodyPr wrap="square" rtlCol="0" anchor="ctr"/>
          <a:lstStyle/>
          <a:p>
            <a:pPr marL="0" indent="0">
              <a:buNone/>
            </a:pPr>
            <a:r>
              <a:rPr lang="en-US" sz="1100" i="1" dirty="0">
                <a:solidFill>
                  <a:srgbClr val="888888"/>
                </a:solidFill>
                <a:latin typeface="Calibri" pitchFamily="34" charset="0"/>
                <a:ea typeface="Calibri" pitchFamily="34" charset="-122"/>
                <a:cs typeface="Calibri" pitchFamily="34" charset="-120"/>
              </a:rPr>
              <a:t>Stabex consistently prices 1–2% below market; Shell and Total at or above</a:t>
            </a:r>
            <a:endParaRPr lang="en-US" sz="1100" dirty="0"/>
          </a:p>
        </p:txBody>
      </p:sp>
      <p:sp>
        <p:nvSpPr>
          <p:cNvPr id="6" name="Shape 4"/>
          <p:cNvSpPr/>
          <p:nvPr/>
        </p:nvSpPr>
        <p:spPr>
          <a:xfrm>
            <a:off x="0" y="4892040"/>
            <a:ext cx="9144000" cy="256032"/>
          </a:xfrm>
          <a:prstGeom prst="rect">
            <a:avLst/>
          </a:prstGeom>
          <a:solidFill>
            <a:srgbClr val="F0F0F0"/>
          </a:solidFill>
          <a:ln w="12700">
            <a:solidFill>
              <a:srgbClr val="DDDDDD"/>
            </a:solidFill>
            <a:prstDash val="solid"/>
          </a:ln>
        </p:spPr>
      </p:sp>
      <p:sp>
        <p:nvSpPr>
          <p:cNvPr id="7" name="Text 5"/>
          <p:cNvSpPr/>
          <p:nvPr/>
        </p:nvSpPr>
        <p:spPr>
          <a:xfrm>
            <a:off x="182880" y="4910328"/>
            <a:ext cx="7315200" cy="201168"/>
          </a:xfrm>
          <a:prstGeom prst="rect">
            <a:avLst/>
          </a:prstGeom>
          <a:noFill/>
          <a:ln/>
        </p:spPr>
        <p:txBody>
          <a:bodyPr wrap="square" rtlCol="0" anchor="ctr"/>
          <a:lstStyle/>
          <a:p>
            <a:pPr marL="0" indent="0">
              <a:buNone/>
            </a:pPr>
            <a:r>
              <a:rPr lang="en-US" sz="800" dirty="0">
                <a:solidFill>
                  <a:srgbClr val="888888"/>
                </a:solidFill>
                <a:latin typeface="Calibri" pitchFamily="34" charset="0"/>
                <a:ea typeface="Calibri" pitchFamily="34" charset="-122"/>
                <a:cs typeface="Calibri" pitchFamily="34" charset="-120"/>
              </a:rPr>
              <a:t>Uganda Fuel Price &amp; Consumption Data Warehouse  |  Group 4  |  College of Computing and Informatics Technology</a:t>
            </a:r>
            <a:endParaRPr lang="en-US" sz="800" dirty="0"/>
          </a:p>
        </p:txBody>
      </p:sp>
      <p:sp>
        <p:nvSpPr>
          <p:cNvPr id="8" name="Text 6"/>
          <p:cNvSpPr/>
          <p:nvPr/>
        </p:nvSpPr>
        <p:spPr>
          <a:xfrm>
            <a:off x="8229600" y="4910328"/>
            <a:ext cx="731520" cy="201168"/>
          </a:xfrm>
          <a:prstGeom prst="rect">
            <a:avLst/>
          </a:prstGeom>
          <a:noFill/>
          <a:ln/>
        </p:spPr>
        <p:txBody>
          <a:bodyPr wrap="square" rtlCol="0" anchor="ctr"/>
          <a:lstStyle/>
          <a:p>
            <a:pPr marL="0" indent="0" algn="r">
              <a:buNone/>
            </a:pPr>
            <a:r>
              <a:rPr lang="en-US" sz="800" dirty="0">
                <a:solidFill>
                  <a:srgbClr val="888888"/>
                </a:solidFill>
                <a:latin typeface="Calibri" pitchFamily="34" charset="0"/>
                <a:ea typeface="Calibri" pitchFamily="34" charset="-122"/>
                <a:cs typeface="Calibri" pitchFamily="34" charset="-120"/>
              </a:rPr>
              <a:t>12 / 18</a:t>
            </a:r>
            <a:endParaRPr lang="en-US" sz="800" dirty="0"/>
          </a:p>
        </p:txBody>
      </p:sp>
      <p:sp>
        <p:nvSpPr>
          <p:cNvPr id="9" name="Shape 7"/>
          <p:cNvSpPr/>
          <p:nvPr/>
        </p:nvSpPr>
        <p:spPr>
          <a:xfrm>
            <a:off x="228600" y="1005840"/>
            <a:ext cx="5029200" cy="3154680"/>
          </a:xfrm>
          <a:prstGeom prst="rect">
            <a:avLst/>
          </a:prstGeom>
          <a:solidFill>
            <a:srgbClr val="F2F2F2"/>
          </a:solidFill>
          <a:ln w="12700">
            <a:solidFill>
              <a:srgbClr val="888888"/>
            </a:solidFill>
            <a:prstDash val="dash"/>
          </a:ln>
        </p:spPr>
      </p:sp>
      <p:sp>
        <p:nvSpPr>
          <p:cNvPr id="10" name="Text 8"/>
          <p:cNvSpPr/>
          <p:nvPr/>
        </p:nvSpPr>
        <p:spPr>
          <a:xfrm>
            <a:off x="228600" y="960120"/>
            <a:ext cx="5029200" cy="3200400"/>
          </a:xfrm>
          <a:prstGeom prst="rect">
            <a:avLst/>
          </a:prstGeom>
          <a:noFill/>
          <a:ln/>
        </p:spPr>
        <p:txBody>
          <a:bodyPr wrap="square" rtlCol="0" anchor="ctr"/>
          <a:lstStyle/>
          <a:p>
            <a:pPr marL="0" indent="0" algn="ctr">
              <a:buNone/>
            </a:pPr>
            <a:r>
              <a:rPr lang="en-US" sz="1100" i="1" dirty="0">
                <a:solidFill>
                  <a:srgbClr val="888888"/>
                </a:solidFill>
                <a:latin typeface="Calibri" pitchFamily="34" charset="0"/>
                <a:ea typeface="Calibri" pitchFamily="34" charset="-122"/>
                <a:cs typeface="Calibri" pitchFamily="34" charset="-120"/>
              </a:rPr>
              <a:t>[ INSERT: Brand Analysis Dashboard Screenshot — Page 3 ]</a:t>
            </a:r>
            <a:endParaRPr lang="en-US" sz="1100" dirty="0"/>
          </a:p>
        </p:txBody>
      </p:sp>
      <p:sp>
        <p:nvSpPr>
          <p:cNvPr id="11" name="Shape 9"/>
          <p:cNvSpPr/>
          <p:nvPr/>
        </p:nvSpPr>
        <p:spPr>
          <a:xfrm>
            <a:off x="5486400" y="1005840"/>
            <a:ext cx="3474720" cy="987552"/>
          </a:xfrm>
          <a:prstGeom prst="rect">
            <a:avLst/>
          </a:prstGeom>
          <a:solidFill>
            <a:srgbClr val="F8FAFD"/>
          </a:solidFill>
          <a:ln w="19050">
            <a:solidFill>
              <a:srgbClr val="375623"/>
            </a:solidFill>
            <a:prstDash val="solid"/>
          </a:ln>
        </p:spPr>
      </p:sp>
      <p:sp>
        <p:nvSpPr>
          <p:cNvPr id="12" name="Shape 10"/>
          <p:cNvSpPr/>
          <p:nvPr/>
        </p:nvSpPr>
        <p:spPr>
          <a:xfrm>
            <a:off x="5486400" y="1005840"/>
            <a:ext cx="1097280" cy="987552"/>
          </a:xfrm>
          <a:prstGeom prst="rect">
            <a:avLst/>
          </a:prstGeom>
          <a:solidFill>
            <a:srgbClr val="375623"/>
          </a:solidFill>
          <a:ln w="12700">
            <a:solidFill>
              <a:srgbClr val="375623"/>
            </a:solidFill>
            <a:prstDash val="solid"/>
          </a:ln>
        </p:spPr>
      </p:sp>
      <p:sp>
        <p:nvSpPr>
          <p:cNvPr id="13" name="Text 11"/>
          <p:cNvSpPr/>
          <p:nvPr/>
        </p:nvSpPr>
        <p:spPr>
          <a:xfrm>
            <a:off x="5486400" y="1005840"/>
            <a:ext cx="1097280" cy="98755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CHEAPEST</a:t>
            </a:r>
            <a:endParaRPr lang="en-US" sz="900" dirty="0"/>
          </a:p>
        </p:txBody>
      </p:sp>
      <p:sp>
        <p:nvSpPr>
          <p:cNvPr id="14" name="Text 12"/>
          <p:cNvSpPr/>
          <p:nvPr/>
        </p:nvSpPr>
        <p:spPr>
          <a:xfrm>
            <a:off x="6656832" y="1051560"/>
            <a:ext cx="2240280" cy="347472"/>
          </a:xfrm>
          <a:prstGeom prst="rect">
            <a:avLst/>
          </a:prstGeom>
          <a:noFill/>
          <a:ln/>
        </p:spPr>
        <p:txBody>
          <a:bodyPr wrap="square" rtlCol="0" anchor="ctr"/>
          <a:lstStyle/>
          <a:p>
            <a:pPr marL="0" indent="0">
              <a:buNone/>
            </a:pPr>
            <a:r>
              <a:rPr lang="en-US" sz="1200" b="1" dirty="0">
                <a:solidFill>
                  <a:srgbClr val="375623"/>
                </a:solidFill>
                <a:latin typeface="Calibri" pitchFamily="34" charset="0"/>
                <a:ea typeface="Calibri" pitchFamily="34" charset="-122"/>
                <a:cs typeface="Calibri" pitchFamily="34" charset="-120"/>
              </a:rPr>
              <a:t>Stabex</a:t>
            </a:r>
            <a:endParaRPr lang="en-US" sz="1200" dirty="0"/>
          </a:p>
        </p:txBody>
      </p:sp>
      <p:sp>
        <p:nvSpPr>
          <p:cNvPr id="15" name="Text 13"/>
          <p:cNvSpPr/>
          <p:nvPr/>
        </p:nvSpPr>
        <p:spPr>
          <a:xfrm>
            <a:off x="6656832" y="1408176"/>
            <a:ext cx="2240280" cy="530352"/>
          </a:xfrm>
          <a:prstGeom prst="rect">
            <a:avLst/>
          </a:prstGeom>
          <a:noFill/>
          <a:ln/>
        </p:spPr>
        <p:txBody>
          <a:bodyPr wrap="square" rtlCol="0" anchor="ctr"/>
          <a:lstStyle/>
          <a:p>
            <a:pPr marL="0" indent="0">
              <a:buNone/>
            </a:pPr>
            <a:r>
              <a:rPr lang="en-US" sz="1000" dirty="0">
                <a:solidFill>
                  <a:srgbClr val="404040"/>
                </a:solidFill>
                <a:latin typeface="Calibri" pitchFamily="34" charset="0"/>
                <a:ea typeface="Calibri" pitchFamily="34" charset="-122"/>
                <a:cs typeface="Calibri" pitchFamily="34" charset="-120"/>
              </a:rPr>
              <a:t>1–2% below market avg</a:t>
            </a:r>
            <a:endParaRPr lang="en-US" sz="1000" dirty="0"/>
          </a:p>
          <a:p>
            <a:pPr marL="0" indent="0">
              <a:buNone/>
            </a:pPr>
            <a:r>
              <a:rPr lang="en-US" sz="1000" dirty="0">
                <a:solidFill>
                  <a:srgbClr val="404040"/>
                </a:solidFill>
                <a:latin typeface="Calibri" pitchFamily="34" charset="0"/>
                <a:ea typeface="Calibri" pitchFamily="34" charset="-122"/>
                <a:cs typeface="Calibri" pitchFamily="34" charset="-120"/>
              </a:rPr>
              <a:t>Best value nationally</a:t>
            </a:r>
            <a:endParaRPr lang="en-US" sz="1000" dirty="0"/>
          </a:p>
        </p:txBody>
      </p:sp>
      <p:sp>
        <p:nvSpPr>
          <p:cNvPr id="16" name="Shape 14"/>
          <p:cNvSpPr/>
          <p:nvPr/>
        </p:nvSpPr>
        <p:spPr>
          <a:xfrm>
            <a:off x="5486400" y="2103120"/>
            <a:ext cx="3474720" cy="987552"/>
          </a:xfrm>
          <a:prstGeom prst="rect">
            <a:avLst/>
          </a:prstGeom>
          <a:solidFill>
            <a:srgbClr val="F8FAFD"/>
          </a:solidFill>
          <a:ln w="19050">
            <a:solidFill>
              <a:srgbClr val="0F6E56"/>
            </a:solidFill>
            <a:prstDash val="solid"/>
          </a:ln>
        </p:spPr>
      </p:sp>
      <p:sp>
        <p:nvSpPr>
          <p:cNvPr id="17" name="Shape 15"/>
          <p:cNvSpPr/>
          <p:nvPr/>
        </p:nvSpPr>
        <p:spPr>
          <a:xfrm>
            <a:off x="5486400" y="2103120"/>
            <a:ext cx="1097280" cy="987552"/>
          </a:xfrm>
          <a:prstGeom prst="rect">
            <a:avLst/>
          </a:prstGeom>
          <a:solidFill>
            <a:srgbClr val="0F6E56"/>
          </a:solidFill>
          <a:ln w="12700">
            <a:solidFill>
              <a:srgbClr val="0F6E56"/>
            </a:solidFill>
            <a:prstDash val="solid"/>
          </a:ln>
        </p:spPr>
      </p:sp>
      <p:sp>
        <p:nvSpPr>
          <p:cNvPr id="18" name="Text 16"/>
          <p:cNvSpPr/>
          <p:nvPr/>
        </p:nvSpPr>
        <p:spPr>
          <a:xfrm>
            <a:off x="5486400" y="2103120"/>
            <a:ext cx="1097280" cy="98755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AVERAGE</a:t>
            </a:r>
            <a:endParaRPr lang="en-US" sz="900" dirty="0"/>
          </a:p>
        </p:txBody>
      </p:sp>
      <p:sp>
        <p:nvSpPr>
          <p:cNvPr id="19" name="Text 17"/>
          <p:cNvSpPr/>
          <p:nvPr/>
        </p:nvSpPr>
        <p:spPr>
          <a:xfrm>
            <a:off x="6656832" y="2148840"/>
            <a:ext cx="2240280" cy="347472"/>
          </a:xfrm>
          <a:prstGeom prst="rect">
            <a:avLst/>
          </a:prstGeom>
          <a:noFill/>
          <a:ln/>
        </p:spPr>
        <p:txBody>
          <a:bodyPr wrap="square" rtlCol="0" anchor="ctr"/>
          <a:lstStyle/>
          <a:p>
            <a:pPr marL="0" indent="0">
              <a:buNone/>
            </a:pPr>
            <a:r>
              <a:rPr lang="en-US" sz="1200" b="1" dirty="0">
                <a:solidFill>
                  <a:srgbClr val="0F6E56"/>
                </a:solidFill>
                <a:latin typeface="Calibri" pitchFamily="34" charset="0"/>
                <a:ea typeface="Calibri" pitchFamily="34" charset="-122"/>
                <a:cs typeface="Calibri" pitchFamily="34" charset="-120"/>
              </a:rPr>
              <a:t>Hass / Oryx</a:t>
            </a:r>
            <a:endParaRPr lang="en-US" sz="1200" dirty="0"/>
          </a:p>
        </p:txBody>
      </p:sp>
      <p:sp>
        <p:nvSpPr>
          <p:cNvPr id="20" name="Text 18"/>
          <p:cNvSpPr/>
          <p:nvPr/>
        </p:nvSpPr>
        <p:spPr>
          <a:xfrm>
            <a:off x="6656832" y="2505456"/>
            <a:ext cx="2240280" cy="530352"/>
          </a:xfrm>
          <a:prstGeom prst="rect">
            <a:avLst/>
          </a:prstGeom>
          <a:noFill/>
          <a:ln/>
        </p:spPr>
        <p:txBody>
          <a:bodyPr wrap="square" rtlCol="0" anchor="ctr"/>
          <a:lstStyle/>
          <a:p>
            <a:pPr marL="0" indent="0">
              <a:buNone/>
            </a:pPr>
            <a:r>
              <a:rPr lang="en-US" sz="1000" dirty="0">
                <a:solidFill>
                  <a:srgbClr val="404040"/>
                </a:solidFill>
                <a:latin typeface="Calibri" pitchFamily="34" charset="0"/>
                <a:ea typeface="Calibri" pitchFamily="34" charset="-122"/>
                <a:cs typeface="Calibri" pitchFamily="34" charset="-120"/>
              </a:rPr>
              <a:t>At market average</a:t>
            </a:r>
            <a:endParaRPr lang="en-US" sz="1000" dirty="0"/>
          </a:p>
          <a:p>
            <a:pPr marL="0" indent="0">
              <a:buNone/>
            </a:pPr>
            <a:r>
              <a:rPr lang="en-US" sz="1000" dirty="0">
                <a:solidFill>
                  <a:srgbClr val="404040"/>
                </a:solidFill>
                <a:latin typeface="Calibri" pitchFamily="34" charset="0"/>
                <a:ea typeface="Calibri" pitchFamily="34" charset="-122"/>
                <a:cs typeface="Calibri" pitchFamily="34" charset="-120"/>
              </a:rPr>
              <a:t>Consistent pricing</a:t>
            </a:r>
            <a:endParaRPr lang="en-US" sz="1000" dirty="0"/>
          </a:p>
        </p:txBody>
      </p:sp>
      <p:sp>
        <p:nvSpPr>
          <p:cNvPr id="21" name="Shape 19"/>
          <p:cNvSpPr/>
          <p:nvPr/>
        </p:nvSpPr>
        <p:spPr>
          <a:xfrm>
            <a:off x="5486400" y="3200400"/>
            <a:ext cx="3474720" cy="987552"/>
          </a:xfrm>
          <a:prstGeom prst="rect">
            <a:avLst/>
          </a:prstGeom>
          <a:solidFill>
            <a:srgbClr val="F8FAFD"/>
          </a:solidFill>
          <a:ln w="19050">
            <a:solidFill>
              <a:srgbClr val="843C0C"/>
            </a:solidFill>
            <a:prstDash val="solid"/>
          </a:ln>
        </p:spPr>
      </p:sp>
      <p:sp>
        <p:nvSpPr>
          <p:cNvPr id="22" name="Shape 20"/>
          <p:cNvSpPr/>
          <p:nvPr/>
        </p:nvSpPr>
        <p:spPr>
          <a:xfrm>
            <a:off x="5486400" y="3200400"/>
            <a:ext cx="1097280" cy="987552"/>
          </a:xfrm>
          <a:prstGeom prst="rect">
            <a:avLst/>
          </a:prstGeom>
          <a:solidFill>
            <a:srgbClr val="843C0C"/>
          </a:solidFill>
          <a:ln w="12700">
            <a:solidFill>
              <a:srgbClr val="843C0C"/>
            </a:solidFill>
            <a:prstDash val="solid"/>
          </a:ln>
        </p:spPr>
      </p:sp>
      <p:sp>
        <p:nvSpPr>
          <p:cNvPr id="23" name="Text 21"/>
          <p:cNvSpPr/>
          <p:nvPr/>
        </p:nvSpPr>
        <p:spPr>
          <a:xfrm>
            <a:off x="5486400" y="3200400"/>
            <a:ext cx="1097280" cy="98755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PREMIUM</a:t>
            </a:r>
            <a:endParaRPr lang="en-US" sz="900" dirty="0"/>
          </a:p>
        </p:txBody>
      </p:sp>
      <p:sp>
        <p:nvSpPr>
          <p:cNvPr id="24" name="Text 22"/>
          <p:cNvSpPr/>
          <p:nvPr/>
        </p:nvSpPr>
        <p:spPr>
          <a:xfrm>
            <a:off x="6656832" y="3246120"/>
            <a:ext cx="2240280" cy="347472"/>
          </a:xfrm>
          <a:prstGeom prst="rect">
            <a:avLst/>
          </a:prstGeom>
          <a:noFill/>
          <a:ln/>
        </p:spPr>
        <p:txBody>
          <a:bodyPr wrap="square" rtlCol="0" anchor="ctr"/>
          <a:lstStyle/>
          <a:p>
            <a:pPr marL="0" indent="0">
              <a:buNone/>
            </a:pPr>
            <a:r>
              <a:rPr lang="en-US" sz="1200" b="1" dirty="0">
                <a:solidFill>
                  <a:srgbClr val="843C0C"/>
                </a:solidFill>
                <a:latin typeface="Calibri" pitchFamily="34" charset="0"/>
                <a:ea typeface="Calibri" pitchFamily="34" charset="-122"/>
                <a:cs typeface="Calibri" pitchFamily="34" charset="-120"/>
              </a:rPr>
              <a:t>Total / Shell</a:t>
            </a:r>
            <a:endParaRPr lang="en-US" sz="1200" dirty="0"/>
          </a:p>
        </p:txBody>
      </p:sp>
      <p:sp>
        <p:nvSpPr>
          <p:cNvPr id="25" name="Text 23"/>
          <p:cNvSpPr/>
          <p:nvPr/>
        </p:nvSpPr>
        <p:spPr>
          <a:xfrm>
            <a:off x="6656832" y="3602736"/>
            <a:ext cx="2240280" cy="530352"/>
          </a:xfrm>
          <a:prstGeom prst="rect">
            <a:avLst/>
          </a:prstGeom>
          <a:noFill/>
          <a:ln/>
        </p:spPr>
        <p:txBody>
          <a:bodyPr wrap="square" rtlCol="0" anchor="ctr"/>
          <a:lstStyle/>
          <a:p>
            <a:pPr marL="0" indent="0">
              <a:buNone/>
            </a:pPr>
            <a:r>
              <a:rPr lang="en-US" sz="1000" dirty="0">
                <a:solidFill>
                  <a:srgbClr val="404040"/>
                </a:solidFill>
                <a:latin typeface="Calibri" pitchFamily="34" charset="0"/>
                <a:ea typeface="Calibri" pitchFamily="34" charset="-122"/>
                <a:cs typeface="Calibri" pitchFamily="34" charset="-120"/>
              </a:rPr>
              <a:t>At or above average</a:t>
            </a:r>
            <a:endParaRPr lang="en-US" sz="1000" dirty="0"/>
          </a:p>
          <a:p>
            <a:pPr marL="0" indent="0">
              <a:buNone/>
            </a:pPr>
            <a:r>
              <a:rPr lang="en-US" sz="1000" dirty="0">
                <a:solidFill>
                  <a:srgbClr val="404040"/>
                </a:solidFill>
                <a:latin typeface="Calibri" pitchFamily="34" charset="0"/>
                <a:ea typeface="Calibri" pitchFamily="34" charset="-122"/>
                <a:cs typeface="Calibri" pitchFamily="34" charset="-120"/>
              </a:rPr>
              <a:t>International brand premium</a:t>
            </a:r>
            <a:endParaRPr lang="en-US" sz="1000" dirty="0"/>
          </a:p>
        </p:txBody>
      </p:sp>
      <p:sp>
        <p:nvSpPr>
          <p:cNvPr id="26" name="Shape 24"/>
          <p:cNvSpPr/>
          <p:nvPr/>
        </p:nvSpPr>
        <p:spPr>
          <a:xfrm>
            <a:off x="5486400" y="4343400"/>
            <a:ext cx="3474720" cy="438912"/>
          </a:xfrm>
          <a:prstGeom prst="rect">
            <a:avLst/>
          </a:prstGeom>
          <a:solidFill>
            <a:srgbClr val="1F3864"/>
          </a:solidFill>
          <a:ln w="12700">
            <a:solidFill>
              <a:srgbClr val="1F3864"/>
            </a:solidFill>
            <a:prstDash val="solid"/>
          </a:ln>
        </p:spPr>
      </p:sp>
      <p:sp>
        <p:nvSpPr>
          <p:cNvPr id="27" name="Text 25"/>
          <p:cNvSpPr/>
          <p:nvPr/>
        </p:nvSpPr>
        <p:spPr>
          <a:xfrm>
            <a:off x="5532120" y="4343400"/>
            <a:ext cx="3383280" cy="43891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UGX 50,000–100,000 saved per 50,000L tank fill</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by choosing Stabex over premium brand in same city</a:t>
            </a:r>
            <a:endParaRPr lang="en-US" sz="900" dirty="0"/>
          </a:p>
        </p:txBody>
      </p:sp>
      <p:pic>
        <p:nvPicPr>
          <p:cNvPr id="29" name="Picture 28">
            <a:extLst>
              <a:ext uri="{FF2B5EF4-FFF2-40B4-BE49-F238E27FC236}">
                <a16:creationId xmlns:a16="http://schemas.microsoft.com/office/drawing/2014/main" id="{080D8AF1-F23F-4F91-8B55-CAF4855EC478}"/>
              </a:ext>
            </a:extLst>
          </p:cNvPr>
          <p:cNvPicPr>
            <a:picLocks noChangeAspect="1"/>
          </p:cNvPicPr>
          <p:nvPr/>
        </p:nvPicPr>
        <p:blipFill>
          <a:blip r:embed="rId3"/>
          <a:stretch>
            <a:fillRect/>
          </a:stretch>
        </p:blipFill>
        <p:spPr>
          <a:xfrm>
            <a:off x="228600" y="1005840"/>
            <a:ext cx="5029200" cy="315467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1417320"/>
          </a:xfrm>
          <a:prstGeom prst="rect">
            <a:avLst/>
          </a:prstGeom>
          <a:solidFill>
            <a:srgbClr val="1F3864"/>
          </a:solidFill>
          <a:ln w="12700">
            <a:solidFill>
              <a:srgbClr val="1F3864"/>
            </a:solidFill>
            <a:prstDash val="solid"/>
          </a:ln>
        </p:spPr>
      </p:sp>
      <p:sp>
        <p:nvSpPr>
          <p:cNvPr id="3" name="Shape 1"/>
          <p:cNvSpPr/>
          <p:nvPr/>
        </p:nvSpPr>
        <p:spPr>
          <a:xfrm>
            <a:off x="0" y="1417320"/>
            <a:ext cx="9144000" cy="73152"/>
          </a:xfrm>
          <a:prstGeom prst="rect">
            <a:avLst/>
          </a:prstGeom>
          <a:solidFill>
            <a:srgbClr val="C9A84C"/>
          </a:solidFill>
          <a:ln w="12700">
            <a:solidFill>
              <a:srgbClr val="C9A84C"/>
            </a:solidFill>
            <a:prstDash val="solid"/>
          </a:ln>
        </p:spPr>
      </p:sp>
      <p:sp>
        <p:nvSpPr>
          <p:cNvPr id="4" name="Text 2"/>
          <p:cNvSpPr/>
          <p:nvPr/>
        </p:nvSpPr>
        <p:spPr>
          <a:xfrm>
            <a:off x="274320" y="54864"/>
            <a:ext cx="8595360" cy="457200"/>
          </a:xfrm>
          <a:prstGeom prst="rect">
            <a:avLst/>
          </a:prstGeom>
          <a:noFill/>
          <a:ln/>
        </p:spPr>
        <p:txBody>
          <a:bodyPr wrap="square" rtlCol="0" anchor="ctr"/>
          <a:lstStyle/>
          <a:p>
            <a:pPr marL="0" indent="0">
              <a:buNone/>
            </a:pPr>
            <a:r>
              <a:rPr lang="en-US" sz="1600" b="1" dirty="0">
                <a:solidFill>
                  <a:srgbClr val="C9A84C"/>
                </a:solidFill>
                <a:latin typeface="Calibri" pitchFamily="34" charset="0"/>
                <a:ea typeface="Calibri" pitchFamily="34" charset="-122"/>
                <a:cs typeface="Calibri" pitchFamily="34" charset="-120"/>
              </a:rPr>
              <a:t>KEY FINDING 4 — UNOC POLICY IMPACT</a:t>
            </a:r>
            <a:endParaRPr lang="en-US" sz="1600" dirty="0"/>
          </a:p>
        </p:txBody>
      </p:sp>
      <p:sp>
        <p:nvSpPr>
          <p:cNvPr id="5" name="Text 3"/>
          <p:cNvSpPr/>
          <p:nvPr/>
        </p:nvSpPr>
        <p:spPr>
          <a:xfrm>
            <a:off x="274320" y="493776"/>
            <a:ext cx="8595360" cy="475488"/>
          </a:xfrm>
          <a:prstGeom prst="rect">
            <a:avLst/>
          </a:prstGeom>
          <a:noFill/>
          <a:ln/>
        </p:spPr>
        <p:txBody>
          <a:bodyPr wrap="square" rtlCol="0" anchor="ctr"/>
          <a:lstStyle/>
          <a:p>
            <a:pPr marL="0" indent="0">
              <a:buNone/>
            </a:pPr>
            <a:r>
              <a:rPr lang="en-US" sz="1400" i="1" dirty="0">
                <a:solidFill>
                  <a:srgbClr val="FFFFFF"/>
                </a:solidFill>
                <a:latin typeface="Calibri" pitchFamily="34" charset="0"/>
                <a:ea typeface="Calibri" pitchFamily="34" charset="-122"/>
                <a:cs typeface="Calibri" pitchFamily="34" charset="-120"/>
              </a:rPr>
              <a:t>UNOC's assumption of sole petroleum importation in July 2024 reduced average petrol prices by 10.8%</a:t>
            </a:r>
            <a:endParaRPr lang="en-US" sz="1400" dirty="0"/>
          </a:p>
        </p:txBody>
      </p:sp>
      <p:sp>
        <p:nvSpPr>
          <p:cNvPr id="6" name="Shape 4"/>
          <p:cNvSpPr/>
          <p:nvPr/>
        </p:nvSpPr>
        <p:spPr>
          <a:xfrm>
            <a:off x="0" y="4892040"/>
            <a:ext cx="9144000" cy="256032"/>
          </a:xfrm>
          <a:prstGeom prst="rect">
            <a:avLst/>
          </a:prstGeom>
          <a:solidFill>
            <a:srgbClr val="F0F0F0"/>
          </a:solidFill>
          <a:ln w="12700">
            <a:solidFill>
              <a:srgbClr val="DDDDDD"/>
            </a:solidFill>
            <a:prstDash val="solid"/>
          </a:ln>
        </p:spPr>
      </p:sp>
      <p:sp>
        <p:nvSpPr>
          <p:cNvPr id="7" name="Text 5"/>
          <p:cNvSpPr/>
          <p:nvPr/>
        </p:nvSpPr>
        <p:spPr>
          <a:xfrm>
            <a:off x="182880" y="4910328"/>
            <a:ext cx="7315200" cy="201168"/>
          </a:xfrm>
          <a:prstGeom prst="rect">
            <a:avLst/>
          </a:prstGeom>
          <a:noFill/>
          <a:ln/>
        </p:spPr>
        <p:txBody>
          <a:bodyPr wrap="square" rtlCol="0" anchor="ctr"/>
          <a:lstStyle/>
          <a:p>
            <a:pPr marL="0" indent="0">
              <a:buNone/>
            </a:pPr>
            <a:r>
              <a:rPr lang="en-US" sz="800" dirty="0">
                <a:solidFill>
                  <a:srgbClr val="888888"/>
                </a:solidFill>
                <a:latin typeface="Calibri" pitchFamily="34" charset="0"/>
                <a:ea typeface="Calibri" pitchFamily="34" charset="-122"/>
                <a:cs typeface="Calibri" pitchFamily="34" charset="-120"/>
              </a:rPr>
              <a:t>Uganda Fuel Price &amp; Consumption Data Warehouse  |  Group 4  |  College of Computing and Informatics Technology</a:t>
            </a:r>
            <a:endParaRPr lang="en-US" sz="800" dirty="0"/>
          </a:p>
        </p:txBody>
      </p:sp>
      <p:sp>
        <p:nvSpPr>
          <p:cNvPr id="8" name="Text 6"/>
          <p:cNvSpPr/>
          <p:nvPr/>
        </p:nvSpPr>
        <p:spPr>
          <a:xfrm>
            <a:off x="8229600" y="4910328"/>
            <a:ext cx="731520" cy="201168"/>
          </a:xfrm>
          <a:prstGeom prst="rect">
            <a:avLst/>
          </a:prstGeom>
          <a:noFill/>
          <a:ln/>
        </p:spPr>
        <p:txBody>
          <a:bodyPr wrap="square" rtlCol="0" anchor="ctr"/>
          <a:lstStyle/>
          <a:p>
            <a:pPr marL="0" indent="0" algn="r">
              <a:buNone/>
            </a:pPr>
            <a:r>
              <a:rPr lang="en-US" sz="800" dirty="0">
                <a:solidFill>
                  <a:srgbClr val="888888"/>
                </a:solidFill>
                <a:latin typeface="Calibri" pitchFamily="34" charset="0"/>
                <a:ea typeface="Calibri" pitchFamily="34" charset="-122"/>
                <a:cs typeface="Calibri" pitchFamily="34" charset="-120"/>
              </a:rPr>
              <a:t>13 / 18</a:t>
            </a:r>
            <a:endParaRPr lang="en-US" sz="800" dirty="0"/>
          </a:p>
        </p:txBody>
      </p:sp>
      <p:sp>
        <p:nvSpPr>
          <p:cNvPr id="9" name="Shape 7"/>
          <p:cNvSpPr/>
          <p:nvPr/>
        </p:nvSpPr>
        <p:spPr>
          <a:xfrm>
            <a:off x="274320" y="1600200"/>
            <a:ext cx="2560320" cy="1325880"/>
          </a:xfrm>
          <a:prstGeom prst="rect">
            <a:avLst/>
          </a:prstGeom>
          <a:solidFill>
            <a:srgbClr val="F8FAFD"/>
          </a:solidFill>
          <a:ln w="19050">
            <a:solidFill>
              <a:srgbClr val="7B1818"/>
            </a:solidFill>
            <a:prstDash val="solid"/>
          </a:ln>
        </p:spPr>
      </p:sp>
      <p:sp>
        <p:nvSpPr>
          <p:cNvPr id="10" name="Shape 8"/>
          <p:cNvSpPr/>
          <p:nvPr/>
        </p:nvSpPr>
        <p:spPr>
          <a:xfrm>
            <a:off x="274320" y="1600200"/>
            <a:ext cx="2560320" cy="320040"/>
          </a:xfrm>
          <a:prstGeom prst="rect">
            <a:avLst/>
          </a:prstGeom>
          <a:solidFill>
            <a:srgbClr val="7B1818"/>
          </a:solidFill>
          <a:ln w="12700">
            <a:solidFill>
              <a:srgbClr val="7B1818"/>
            </a:solidFill>
            <a:prstDash val="solid"/>
          </a:ln>
        </p:spPr>
      </p:sp>
      <p:sp>
        <p:nvSpPr>
          <p:cNvPr id="11" name="Text 9"/>
          <p:cNvSpPr/>
          <p:nvPr/>
        </p:nvSpPr>
        <p:spPr>
          <a:xfrm>
            <a:off x="274320" y="1600200"/>
            <a:ext cx="2560320" cy="3200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BEFORE July 2024 (Pre-UNOC)</a:t>
            </a:r>
            <a:endParaRPr lang="en-US" sz="1000" dirty="0"/>
          </a:p>
        </p:txBody>
      </p:sp>
      <p:sp>
        <p:nvSpPr>
          <p:cNvPr id="12" name="Text 10"/>
          <p:cNvSpPr/>
          <p:nvPr/>
        </p:nvSpPr>
        <p:spPr>
          <a:xfrm>
            <a:off x="274320" y="1920240"/>
            <a:ext cx="2560320" cy="777240"/>
          </a:xfrm>
          <a:prstGeom prst="rect">
            <a:avLst/>
          </a:prstGeom>
          <a:noFill/>
          <a:ln/>
        </p:spPr>
        <p:txBody>
          <a:bodyPr wrap="square" rtlCol="0" anchor="ctr"/>
          <a:lstStyle/>
          <a:p>
            <a:pPr marL="0" indent="0" algn="ctr">
              <a:buNone/>
            </a:pPr>
            <a:r>
              <a:rPr lang="en-US" sz="2200" b="1" dirty="0">
                <a:solidFill>
                  <a:srgbClr val="7B1818"/>
                </a:solidFill>
                <a:latin typeface="Calibri" pitchFamily="34" charset="0"/>
                <a:ea typeface="Calibri" pitchFamily="34" charset="-122"/>
                <a:cs typeface="Calibri" pitchFamily="34" charset="-120"/>
              </a:rPr>
              <a:t>UGX 5,461</a:t>
            </a:r>
            <a:endParaRPr lang="en-US" sz="2200" dirty="0"/>
          </a:p>
        </p:txBody>
      </p:sp>
      <p:sp>
        <p:nvSpPr>
          <p:cNvPr id="13" name="Text 11"/>
          <p:cNvSpPr/>
          <p:nvPr/>
        </p:nvSpPr>
        <p:spPr>
          <a:xfrm>
            <a:off x="274320" y="2670048"/>
            <a:ext cx="2560320" cy="256032"/>
          </a:xfrm>
          <a:prstGeom prst="rect">
            <a:avLst/>
          </a:prstGeom>
          <a:noFill/>
          <a:ln/>
        </p:spPr>
        <p:txBody>
          <a:bodyPr wrap="square" rtlCol="0" anchor="ctr"/>
          <a:lstStyle/>
          <a:p>
            <a:pPr marL="0" indent="0" algn="ctr">
              <a:buNone/>
            </a:pPr>
            <a:r>
              <a:rPr lang="en-US" sz="900" i="1" dirty="0">
                <a:solidFill>
                  <a:srgbClr val="888888"/>
                </a:solidFill>
                <a:latin typeface="Calibri" pitchFamily="34" charset="0"/>
                <a:ea typeface="Calibri" pitchFamily="34" charset="-122"/>
                <a:cs typeface="Calibri" pitchFamily="34" charset="-120"/>
              </a:rPr>
              <a:t>Avg petrol price Jan–Jun 2024</a:t>
            </a:r>
            <a:endParaRPr lang="en-US" sz="900" dirty="0"/>
          </a:p>
        </p:txBody>
      </p:sp>
      <p:sp>
        <p:nvSpPr>
          <p:cNvPr id="14" name="Shape 12"/>
          <p:cNvSpPr/>
          <p:nvPr/>
        </p:nvSpPr>
        <p:spPr>
          <a:xfrm>
            <a:off x="3291840" y="1600200"/>
            <a:ext cx="2560320" cy="1325880"/>
          </a:xfrm>
          <a:prstGeom prst="rect">
            <a:avLst/>
          </a:prstGeom>
          <a:solidFill>
            <a:srgbClr val="F8FAFD"/>
          </a:solidFill>
          <a:ln w="19050">
            <a:solidFill>
              <a:srgbClr val="375623"/>
            </a:solidFill>
            <a:prstDash val="solid"/>
          </a:ln>
        </p:spPr>
      </p:sp>
      <p:sp>
        <p:nvSpPr>
          <p:cNvPr id="15" name="Shape 13"/>
          <p:cNvSpPr/>
          <p:nvPr/>
        </p:nvSpPr>
        <p:spPr>
          <a:xfrm>
            <a:off x="3291840" y="1600200"/>
            <a:ext cx="2560320" cy="320040"/>
          </a:xfrm>
          <a:prstGeom prst="rect">
            <a:avLst/>
          </a:prstGeom>
          <a:solidFill>
            <a:srgbClr val="375623"/>
          </a:solidFill>
          <a:ln w="12700">
            <a:solidFill>
              <a:srgbClr val="375623"/>
            </a:solidFill>
            <a:prstDash val="solid"/>
          </a:ln>
        </p:spPr>
      </p:sp>
      <p:sp>
        <p:nvSpPr>
          <p:cNvPr id="16" name="Text 14"/>
          <p:cNvSpPr/>
          <p:nvPr/>
        </p:nvSpPr>
        <p:spPr>
          <a:xfrm>
            <a:off x="3291840" y="1600200"/>
            <a:ext cx="2560320" cy="3200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AFTER July 2024 (Post-UNOC)</a:t>
            </a:r>
            <a:endParaRPr lang="en-US" sz="1000" dirty="0"/>
          </a:p>
        </p:txBody>
      </p:sp>
      <p:sp>
        <p:nvSpPr>
          <p:cNvPr id="17" name="Text 15"/>
          <p:cNvSpPr/>
          <p:nvPr/>
        </p:nvSpPr>
        <p:spPr>
          <a:xfrm>
            <a:off x="3291840" y="1920240"/>
            <a:ext cx="2560320" cy="777240"/>
          </a:xfrm>
          <a:prstGeom prst="rect">
            <a:avLst/>
          </a:prstGeom>
          <a:noFill/>
          <a:ln/>
        </p:spPr>
        <p:txBody>
          <a:bodyPr wrap="square" rtlCol="0" anchor="ctr"/>
          <a:lstStyle/>
          <a:p>
            <a:pPr marL="0" indent="0" algn="ctr">
              <a:buNone/>
            </a:pPr>
            <a:r>
              <a:rPr lang="en-US" sz="2200" b="1" dirty="0">
                <a:solidFill>
                  <a:srgbClr val="375623"/>
                </a:solidFill>
                <a:latin typeface="Calibri" pitchFamily="34" charset="0"/>
                <a:ea typeface="Calibri" pitchFamily="34" charset="-122"/>
                <a:cs typeface="Calibri" pitchFamily="34" charset="-120"/>
              </a:rPr>
              <a:t>UGX 4,870</a:t>
            </a:r>
            <a:endParaRPr lang="en-US" sz="2200" dirty="0"/>
          </a:p>
        </p:txBody>
      </p:sp>
      <p:sp>
        <p:nvSpPr>
          <p:cNvPr id="18" name="Text 16"/>
          <p:cNvSpPr/>
          <p:nvPr/>
        </p:nvSpPr>
        <p:spPr>
          <a:xfrm>
            <a:off x="3291840" y="2670048"/>
            <a:ext cx="2560320" cy="256032"/>
          </a:xfrm>
          <a:prstGeom prst="rect">
            <a:avLst/>
          </a:prstGeom>
          <a:noFill/>
          <a:ln/>
        </p:spPr>
        <p:txBody>
          <a:bodyPr wrap="square" rtlCol="0" anchor="ctr"/>
          <a:lstStyle/>
          <a:p>
            <a:pPr marL="0" indent="0" algn="ctr">
              <a:buNone/>
            </a:pPr>
            <a:r>
              <a:rPr lang="en-US" sz="900" i="1" dirty="0">
                <a:solidFill>
                  <a:srgbClr val="888888"/>
                </a:solidFill>
                <a:latin typeface="Calibri" pitchFamily="34" charset="0"/>
                <a:ea typeface="Calibri" pitchFamily="34" charset="-122"/>
                <a:cs typeface="Calibri" pitchFamily="34" charset="-120"/>
              </a:rPr>
              <a:t>Avg petrol price Jul–Dec 2024</a:t>
            </a:r>
            <a:endParaRPr lang="en-US" sz="900" dirty="0"/>
          </a:p>
        </p:txBody>
      </p:sp>
      <p:sp>
        <p:nvSpPr>
          <p:cNvPr id="19" name="Shape 17"/>
          <p:cNvSpPr/>
          <p:nvPr/>
        </p:nvSpPr>
        <p:spPr>
          <a:xfrm>
            <a:off x="6309360" y="1600200"/>
            <a:ext cx="2560320" cy="1325880"/>
          </a:xfrm>
          <a:prstGeom prst="rect">
            <a:avLst/>
          </a:prstGeom>
          <a:solidFill>
            <a:srgbClr val="F8FAFD"/>
          </a:solidFill>
          <a:ln w="19050">
            <a:solidFill>
              <a:srgbClr val="0F6E56"/>
            </a:solidFill>
            <a:prstDash val="solid"/>
          </a:ln>
        </p:spPr>
      </p:sp>
      <p:sp>
        <p:nvSpPr>
          <p:cNvPr id="20" name="Shape 18"/>
          <p:cNvSpPr/>
          <p:nvPr/>
        </p:nvSpPr>
        <p:spPr>
          <a:xfrm>
            <a:off x="6309360" y="1600200"/>
            <a:ext cx="2560320" cy="320040"/>
          </a:xfrm>
          <a:prstGeom prst="rect">
            <a:avLst/>
          </a:prstGeom>
          <a:solidFill>
            <a:srgbClr val="0F6E56"/>
          </a:solidFill>
          <a:ln w="12700">
            <a:solidFill>
              <a:srgbClr val="0F6E56"/>
            </a:solidFill>
            <a:prstDash val="solid"/>
          </a:ln>
        </p:spPr>
      </p:sp>
      <p:sp>
        <p:nvSpPr>
          <p:cNvPr id="21" name="Text 19"/>
          <p:cNvSpPr/>
          <p:nvPr/>
        </p:nvSpPr>
        <p:spPr>
          <a:xfrm>
            <a:off x="6309360" y="1600200"/>
            <a:ext cx="2560320" cy="3200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Price Reduction</a:t>
            </a:r>
            <a:endParaRPr lang="en-US" sz="1000" dirty="0"/>
          </a:p>
        </p:txBody>
      </p:sp>
      <p:sp>
        <p:nvSpPr>
          <p:cNvPr id="22" name="Text 20"/>
          <p:cNvSpPr/>
          <p:nvPr/>
        </p:nvSpPr>
        <p:spPr>
          <a:xfrm>
            <a:off x="6309360" y="1920240"/>
            <a:ext cx="2560320" cy="777240"/>
          </a:xfrm>
          <a:prstGeom prst="rect">
            <a:avLst/>
          </a:prstGeom>
          <a:noFill/>
          <a:ln/>
        </p:spPr>
        <p:txBody>
          <a:bodyPr wrap="square" rtlCol="0" anchor="ctr"/>
          <a:lstStyle/>
          <a:p>
            <a:pPr marL="0" indent="0" algn="ctr">
              <a:buNone/>
            </a:pPr>
            <a:r>
              <a:rPr lang="en-US" sz="2200" b="1" dirty="0">
                <a:solidFill>
                  <a:srgbClr val="0F6E56"/>
                </a:solidFill>
                <a:latin typeface="Calibri" pitchFamily="34" charset="0"/>
                <a:ea typeface="Calibri" pitchFamily="34" charset="-122"/>
                <a:cs typeface="Calibri" pitchFamily="34" charset="-120"/>
              </a:rPr>
              <a:t>−10.8%</a:t>
            </a:r>
            <a:endParaRPr lang="en-US" sz="2200" dirty="0"/>
          </a:p>
        </p:txBody>
      </p:sp>
      <p:sp>
        <p:nvSpPr>
          <p:cNvPr id="23" name="Text 21"/>
          <p:cNvSpPr/>
          <p:nvPr/>
        </p:nvSpPr>
        <p:spPr>
          <a:xfrm>
            <a:off x="6309360" y="2670048"/>
            <a:ext cx="2560320" cy="256032"/>
          </a:xfrm>
          <a:prstGeom prst="rect">
            <a:avLst/>
          </a:prstGeom>
          <a:noFill/>
          <a:ln/>
        </p:spPr>
        <p:txBody>
          <a:bodyPr wrap="square" rtlCol="0" anchor="ctr"/>
          <a:lstStyle/>
          <a:p>
            <a:pPr marL="0" indent="0" algn="ctr">
              <a:buNone/>
            </a:pPr>
            <a:r>
              <a:rPr lang="en-US" sz="900" i="1" dirty="0">
                <a:solidFill>
                  <a:srgbClr val="888888"/>
                </a:solidFill>
                <a:latin typeface="Calibri" pitchFamily="34" charset="0"/>
                <a:ea typeface="Calibri" pitchFamily="34" charset="-122"/>
                <a:cs typeface="Calibri" pitchFamily="34" charset="-120"/>
              </a:rPr>
              <a:t>Equivalent to UGX 591 per litre</a:t>
            </a:r>
            <a:endParaRPr lang="en-US" sz="900" dirty="0"/>
          </a:p>
        </p:txBody>
      </p:sp>
      <p:sp>
        <p:nvSpPr>
          <p:cNvPr id="24" name="Shape 22"/>
          <p:cNvSpPr/>
          <p:nvPr/>
        </p:nvSpPr>
        <p:spPr>
          <a:xfrm>
            <a:off x="274320" y="2999232"/>
            <a:ext cx="5029200" cy="1691640"/>
          </a:xfrm>
          <a:prstGeom prst="rect">
            <a:avLst/>
          </a:prstGeom>
          <a:solidFill>
            <a:srgbClr val="F2F2F2"/>
          </a:solidFill>
          <a:ln w="12700">
            <a:solidFill>
              <a:srgbClr val="888888"/>
            </a:solidFill>
            <a:prstDash val="dash"/>
          </a:ln>
        </p:spPr>
      </p:sp>
      <p:sp>
        <p:nvSpPr>
          <p:cNvPr id="25" name="Text 23"/>
          <p:cNvSpPr/>
          <p:nvPr/>
        </p:nvSpPr>
        <p:spPr>
          <a:xfrm>
            <a:off x="274320" y="2999232"/>
            <a:ext cx="5029200" cy="1691640"/>
          </a:xfrm>
          <a:prstGeom prst="rect">
            <a:avLst/>
          </a:prstGeom>
          <a:noFill/>
          <a:ln/>
        </p:spPr>
        <p:txBody>
          <a:bodyPr wrap="square" rtlCol="0" anchor="ctr"/>
          <a:lstStyle/>
          <a:p>
            <a:pPr marL="0" indent="0" algn="ctr">
              <a:buNone/>
            </a:pPr>
            <a:r>
              <a:rPr lang="en-US" sz="1100" i="1" dirty="0">
                <a:solidFill>
                  <a:srgbClr val="888888"/>
                </a:solidFill>
                <a:latin typeface="Calibri" pitchFamily="34" charset="0"/>
                <a:ea typeface="Calibri" pitchFamily="34" charset="-122"/>
                <a:cs typeface="Calibri" pitchFamily="34" charset="-120"/>
              </a:rPr>
              <a:t>[ INSERT: UNOC Impact Dashboard Screenshot — Page 5 ]</a:t>
            </a:r>
            <a:endParaRPr lang="en-US" sz="1100" dirty="0"/>
          </a:p>
        </p:txBody>
      </p:sp>
      <p:sp>
        <p:nvSpPr>
          <p:cNvPr id="26" name="Shape 24"/>
          <p:cNvSpPr/>
          <p:nvPr/>
        </p:nvSpPr>
        <p:spPr>
          <a:xfrm>
            <a:off x="5577840" y="2999232"/>
            <a:ext cx="3337560" cy="1691640"/>
          </a:xfrm>
          <a:prstGeom prst="rect">
            <a:avLst/>
          </a:prstGeom>
          <a:solidFill>
            <a:srgbClr val="E2EFDA"/>
          </a:solidFill>
          <a:ln w="6350">
            <a:solidFill>
              <a:srgbClr val="375623"/>
            </a:solidFill>
            <a:prstDash val="solid"/>
          </a:ln>
        </p:spPr>
      </p:sp>
      <p:sp>
        <p:nvSpPr>
          <p:cNvPr id="27" name="Text 25"/>
          <p:cNvSpPr/>
          <p:nvPr/>
        </p:nvSpPr>
        <p:spPr>
          <a:xfrm>
            <a:off x="5669280" y="3035808"/>
            <a:ext cx="3154680" cy="320040"/>
          </a:xfrm>
          <a:prstGeom prst="rect">
            <a:avLst/>
          </a:prstGeom>
          <a:noFill/>
          <a:ln/>
        </p:spPr>
        <p:txBody>
          <a:bodyPr wrap="square" rtlCol="0" anchor="ctr"/>
          <a:lstStyle/>
          <a:p>
            <a:pPr marL="0" indent="0">
              <a:buNone/>
            </a:pPr>
            <a:r>
              <a:rPr lang="en-US" sz="1100" b="1" dirty="0">
                <a:solidFill>
                  <a:srgbClr val="375623"/>
                </a:solidFill>
                <a:latin typeface="Calibri" pitchFamily="34" charset="0"/>
                <a:ea typeface="Calibri" pitchFamily="34" charset="-122"/>
                <a:cs typeface="Calibri" pitchFamily="34" charset="-120"/>
              </a:rPr>
              <a:t>Savings by Fuel Type</a:t>
            </a:r>
            <a:endParaRPr lang="en-US" sz="1100" dirty="0"/>
          </a:p>
        </p:txBody>
      </p:sp>
      <p:sp>
        <p:nvSpPr>
          <p:cNvPr id="28" name="Shape 26"/>
          <p:cNvSpPr/>
          <p:nvPr/>
        </p:nvSpPr>
        <p:spPr>
          <a:xfrm>
            <a:off x="5687568" y="3438144"/>
            <a:ext cx="91440" cy="91440"/>
          </a:xfrm>
          <a:prstGeom prst="ellipse">
            <a:avLst/>
          </a:prstGeom>
          <a:solidFill>
            <a:srgbClr val="375623"/>
          </a:solidFill>
          <a:ln w="12700">
            <a:solidFill>
              <a:srgbClr val="375623"/>
            </a:solidFill>
            <a:prstDash val="solid"/>
          </a:ln>
        </p:spPr>
      </p:sp>
      <p:sp>
        <p:nvSpPr>
          <p:cNvPr id="29" name="Text 27"/>
          <p:cNvSpPr/>
          <p:nvPr/>
        </p:nvSpPr>
        <p:spPr>
          <a:xfrm>
            <a:off x="5833872" y="3383280"/>
            <a:ext cx="3017520" cy="292608"/>
          </a:xfrm>
          <a:prstGeom prst="rect">
            <a:avLst/>
          </a:prstGeom>
          <a:noFill/>
          <a:ln/>
        </p:spPr>
        <p:txBody>
          <a:bodyPr wrap="square" rtlCol="0" anchor="ctr"/>
          <a:lstStyle/>
          <a:p>
            <a:pPr marL="0" indent="0">
              <a:buNone/>
            </a:pPr>
            <a:r>
              <a:rPr lang="en-US" sz="1000" dirty="0">
                <a:solidFill>
                  <a:srgbClr val="404040"/>
                </a:solidFill>
                <a:latin typeface="Calibri" pitchFamily="34" charset="0"/>
                <a:ea typeface="Calibri" pitchFamily="34" charset="-122"/>
                <a:cs typeface="Calibri" pitchFamily="34" charset="-120"/>
              </a:rPr>
              <a:t>Petrol: UGX 591/litre saved</a:t>
            </a:r>
            <a:endParaRPr lang="en-US" sz="1000" dirty="0"/>
          </a:p>
        </p:txBody>
      </p:sp>
      <p:sp>
        <p:nvSpPr>
          <p:cNvPr id="30" name="Shape 28"/>
          <p:cNvSpPr/>
          <p:nvPr/>
        </p:nvSpPr>
        <p:spPr>
          <a:xfrm>
            <a:off x="5687568" y="3749040"/>
            <a:ext cx="91440" cy="91440"/>
          </a:xfrm>
          <a:prstGeom prst="ellipse">
            <a:avLst/>
          </a:prstGeom>
          <a:solidFill>
            <a:srgbClr val="375623"/>
          </a:solidFill>
          <a:ln w="12700">
            <a:solidFill>
              <a:srgbClr val="375623"/>
            </a:solidFill>
            <a:prstDash val="solid"/>
          </a:ln>
        </p:spPr>
      </p:sp>
      <p:sp>
        <p:nvSpPr>
          <p:cNvPr id="31" name="Text 29"/>
          <p:cNvSpPr/>
          <p:nvPr/>
        </p:nvSpPr>
        <p:spPr>
          <a:xfrm>
            <a:off x="5833872" y="3694176"/>
            <a:ext cx="3017520" cy="292608"/>
          </a:xfrm>
          <a:prstGeom prst="rect">
            <a:avLst/>
          </a:prstGeom>
          <a:noFill/>
          <a:ln/>
        </p:spPr>
        <p:txBody>
          <a:bodyPr wrap="square" rtlCol="0" anchor="ctr"/>
          <a:lstStyle/>
          <a:p>
            <a:pPr marL="0" indent="0">
              <a:buNone/>
            </a:pPr>
            <a:r>
              <a:rPr lang="en-US" sz="1000" dirty="0">
                <a:solidFill>
                  <a:srgbClr val="404040"/>
                </a:solidFill>
                <a:latin typeface="Calibri" pitchFamily="34" charset="0"/>
                <a:ea typeface="Calibri" pitchFamily="34" charset="-122"/>
                <a:cs typeface="Calibri" pitchFamily="34" charset="-120"/>
              </a:rPr>
              <a:t>Diesel: UGX 510/litre saved</a:t>
            </a:r>
            <a:endParaRPr lang="en-US" sz="1000" dirty="0"/>
          </a:p>
        </p:txBody>
      </p:sp>
      <p:sp>
        <p:nvSpPr>
          <p:cNvPr id="32" name="Shape 30"/>
          <p:cNvSpPr/>
          <p:nvPr/>
        </p:nvSpPr>
        <p:spPr>
          <a:xfrm>
            <a:off x="5687568" y="4059936"/>
            <a:ext cx="91440" cy="91440"/>
          </a:xfrm>
          <a:prstGeom prst="ellipse">
            <a:avLst/>
          </a:prstGeom>
          <a:solidFill>
            <a:srgbClr val="375623"/>
          </a:solidFill>
          <a:ln w="12700">
            <a:solidFill>
              <a:srgbClr val="375623"/>
            </a:solidFill>
            <a:prstDash val="solid"/>
          </a:ln>
        </p:spPr>
      </p:sp>
      <p:sp>
        <p:nvSpPr>
          <p:cNvPr id="33" name="Text 31"/>
          <p:cNvSpPr/>
          <p:nvPr/>
        </p:nvSpPr>
        <p:spPr>
          <a:xfrm>
            <a:off x="5833872" y="4005072"/>
            <a:ext cx="3017520" cy="292608"/>
          </a:xfrm>
          <a:prstGeom prst="rect">
            <a:avLst/>
          </a:prstGeom>
          <a:noFill/>
          <a:ln/>
        </p:spPr>
        <p:txBody>
          <a:bodyPr wrap="square" rtlCol="0" anchor="ctr"/>
          <a:lstStyle/>
          <a:p>
            <a:pPr marL="0" indent="0">
              <a:buNone/>
            </a:pPr>
            <a:r>
              <a:rPr lang="en-US" sz="1000" dirty="0">
                <a:solidFill>
                  <a:srgbClr val="404040"/>
                </a:solidFill>
                <a:latin typeface="Calibri" pitchFamily="34" charset="0"/>
                <a:ea typeface="Calibri" pitchFamily="34" charset="-122"/>
                <a:cs typeface="Calibri" pitchFamily="34" charset="-120"/>
              </a:rPr>
              <a:t>Kerosene: UGX 470/litre saved</a:t>
            </a:r>
            <a:endParaRPr lang="en-US" sz="1000" dirty="0"/>
          </a:p>
        </p:txBody>
      </p:sp>
      <p:sp>
        <p:nvSpPr>
          <p:cNvPr id="34" name="Shape 32"/>
          <p:cNvSpPr/>
          <p:nvPr/>
        </p:nvSpPr>
        <p:spPr>
          <a:xfrm>
            <a:off x="5687568" y="4370832"/>
            <a:ext cx="91440" cy="91440"/>
          </a:xfrm>
          <a:prstGeom prst="ellipse">
            <a:avLst/>
          </a:prstGeom>
          <a:solidFill>
            <a:srgbClr val="375623"/>
          </a:solidFill>
          <a:ln w="12700">
            <a:solidFill>
              <a:srgbClr val="375623"/>
            </a:solidFill>
            <a:prstDash val="solid"/>
          </a:ln>
        </p:spPr>
      </p:sp>
      <p:sp>
        <p:nvSpPr>
          <p:cNvPr id="35" name="Text 33"/>
          <p:cNvSpPr/>
          <p:nvPr/>
        </p:nvSpPr>
        <p:spPr>
          <a:xfrm>
            <a:off x="5833872" y="4315968"/>
            <a:ext cx="3017520" cy="292608"/>
          </a:xfrm>
          <a:prstGeom prst="rect">
            <a:avLst/>
          </a:prstGeom>
          <a:noFill/>
          <a:ln/>
        </p:spPr>
        <p:txBody>
          <a:bodyPr wrap="square" rtlCol="0" anchor="ctr"/>
          <a:lstStyle/>
          <a:p>
            <a:pPr marL="0" indent="0">
              <a:buNone/>
            </a:pPr>
            <a:r>
              <a:rPr lang="en-US" sz="1000" dirty="0">
                <a:solidFill>
                  <a:srgbClr val="404040"/>
                </a:solidFill>
                <a:latin typeface="Calibri" pitchFamily="34" charset="0"/>
                <a:ea typeface="Calibri" pitchFamily="34" charset="-122"/>
                <a:cs typeface="Calibri" pitchFamily="34" charset="-120"/>
              </a:rPr>
              <a:t>Boda boda rider: UGX 88,650–177,300/month</a:t>
            </a:r>
            <a:endParaRPr lang="en-US" sz="1000" dirty="0"/>
          </a:p>
        </p:txBody>
      </p:sp>
      <p:pic>
        <p:nvPicPr>
          <p:cNvPr id="37" name="Picture 36">
            <a:extLst>
              <a:ext uri="{FF2B5EF4-FFF2-40B4-BE49-F238E27FC236}">
                <a16:creationId xmlns:a16="http://schemas.microsoft.com/office/drawing/2014/main" id="{8FA263D9-E320-4461-A2E9-1743F513FC54}"/>
              </a:ext>
            </a:extLst>
          </p:cNvPr>
          <p:cNvPicPr>
            <a:picLocks noChangeAspect="1"/>
          </p:cNvPicPr>
          <p:nvPr/>
        </p:nvPicPr>
        <p:blipFill>
          <a:blip r:embed="rId3"/>
          <a:stretch>
            <a:fillRect/>
          </a:stretch>
        </p:blipFill>
        <p:spPr>
          <a:xfrm>
            <a:off x="274320" y="2999232"/>
            <a:ext cx="5029200" cy="169164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F3864"/>
          </a:solidFill>
          <a:ln w="12700">
            <a:solidFill>
              <a:srgbClr val="1F3864"/>
            </a:solidFill>
            <a:prstDash val="solid"/>
          </a:ln>
        </p:spPr>
      </p:sp>
      <p:sp>
        <p:nvSpPr>
          <p:cNvPr id="3" name="Shape 1"/>
          <p:cNvSpPr/>
          <p:nvPr/>
        </p:nvSpPr>
        <p:spPr>
          <a:xfrm>
            <a:off x="0" y="777240"/>
            <a:ext cx="9144000" cy="54864"/>
          </a:xfrm>
          <a:prstGeom prst="rect">
            <a:avLst/>
          </a:prstGeom>
          <a:solidFill>
            <a:srgbClr val="C9A84C"/>
          </a:solidFill>
          <a:ln w="12700">
            <a:solidFill>
              <a:srgbClr val="C9A84C"/>
            </a:solidFill>
            <a:prstDash val="solid"/>
          </a:ln>
        </p:spPr>
      </p:sp>
      <p:sp>
        <p:nvSpPr>
          <p:cNvPr id="4" name="Text 2"/>
          <p:cNvSpPr/>
          <p:nvPr/>
        </p:nvSpPr>
        <p:spPr>
          <a:xfrm>
            <a:off x="274320" y="36576"/>
            <a:ext cx="8595360" cy="713232"/>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Key Finding 5 — Fuel Type Price Analysis</a:t>
            </a:r>
            <a:endParaRPr lang="en-US" sz="2000" dirty="0"/>
          </a:p>
        </p:txBody>
      </p:sp>
      <p:sp>
        <p:nvSpPr>
          <p:cNvPr id="5" name="Text 3"/>
          <p:cNvSpPr/>
          <p:nvPr/>
        </p:nvSpPr>
        <p:spPr>
          <a:xfrm>
            <a:off x="274320" y="804672"/>
            <a:ext cx="8595360" cy="274320"/>
          </a:xfrm>
          <a:prstGeom prst="rect">
            <a:avLst/>
          </a:prstGeom>
          <a:noFill/>
          <a:ln/>
        </p:spPr>
        <p:txBody>
          <a:bodyPr wrap="square" rtlCol="0" anchor="ctr"/>
          <a:lstStyle/>
          <a:p>
            <a:pPr marL="0" indent="0">
              <a:buNone/>
            </a:pPr>
            <a:r>
              <a:rPr lang="en-US" sz="1100" i="1" dirty="0">
                <a:solidFill>
                  <a:srgbClr val="888888"/>
                </a:solidFill>
                <a:latin typeface="Calibri" pitchFamily="34" charset="0"/>
                <a:ea typeface="Calibri" pitchFamily="34" charset="-122"/>
                <a:cs typeface="Calibri" pitchFamily="34" charset="-120"/>
              </a:rPr>
              <a:t>Diesel consistently UGX 300–600 cheaper than petrol — drives commercial fleet decisions</a:t>
            </a:r>
            <a:endParaRPr lang="en-US" sz="1100" dirty="0"/>
          </a:p>
        </p:txBody>
      </p:sp>
      <p:sp>
        <p:nvSpPr>
          <p:cNvPr id="6" name="Shape 4"/>
          <p:cNvSpPr/>
          <p:nvPr/>
        </p:nvSpPr>
        <p:spPr>
          <a:xfrm>
            <a:off x="0" y="4892040"/>
            <a:ext cx="9144000" cy="256032"/>
          </a:xfrm>
          <a:prstGeom prst="rect">
            <a:avLst/>
          </a:prstGeom>
          <a:solidFill>
            <a:srgbClr val="F0F0F0"/>
          </a:solidFill>
          <a:ln w="12700">
            <a:solidFill>
              <a:srgbClr val="DDDDDD"/>
            </a:solidFill>
            <a:prstDash val="solid"/>
          </a:ln>
        </p:spPr>
      </p:sp>
      <p:sp>
        <p:nvSpPr>
          <p:cNvPr id="7" name="Text 5"/>
          <p:cNvSpPr/>
          <p:nvPr/>
        </p:nvSpPr>
        <p:spPr>
          <a:xfrm>
            <a:off x="182880" y="4910328"/>
            <a:ext cx="7315200" cy="201168"/>
          </a:xfrm>
          <a:prstGeom prst="rect">
            <a:avLst/>
          </a:prstGeom>
          <a:noFill/>
          <a:ln/>
        </p:spPr>
        <p:txBody>
          <a:bodyPr wrap="square" rtlCol="0" anchor="ctr"/>
          <a:lstStyle/>
          <a:p>
            <a:pPr marL="0" indent="0">
              <a:buNone/>
            </a:pPr>
            <a:r>
              <a:rPr lang="en-US" sz="800" dirty="0">
                <a:solidFill>
                  <a:srgbClr val="888888"/>
                </a:solidFill>
                <a:latin typeface="Calibri" pitchFamily="34" charset="0"/>
                <a:ea typeface="Calibri" pitchFamily="34" charset="-122"/>
                <a:cs typeface="Calibri" pitchFamily="34" charset="-120"/>
              </a:rPr>
              <a:t>Uganda Fuel Price &amp; Consumption Data Warehouse  |  Group 4  |  College of Computing and Informatics Technology</a:t>
            </a:r>
            <a:endParaRPr lang="en-US" sz="800" dirty="0"/>
          </a:p>
        </p:txBody>
      </p:sp>
      <p:sp>
        <p:nvSpPr>
          <p:cNvPr id="8" name="Text 6"/>
          <p:cNvSpPr/>
          <p:nvPr/>
        </p:nvSpPr>
        <p:spPr>
          <a:xfrm>
            <a:off x="8229600" y="4910328"/>
            <a:ext cx="731520" cy="201168"/>
          </a:xfrm>
          <a:prstGeom prst="rect">
            <a:avLst/>
          </a:prstGeom>
          <a:noFill/>
          <a:ln/>
        </p:spPr>
        <p:txBody>
          <a:bodyPr wrap="square" rtlCol="0" anchor="ctr"/>
          <a:lstStyle/>
          <a:p>
            <a:pPr marL="0" indent="0" algn="r">
              <a:buNone/>
            </a:pPr>
            <a:r>
              <a:rPr lang="en-US" sz="800" dirty="0">
                <a:solidFill>
                  <a:srgbClr val="888888"/>
                </a:solidFill>
                <a:latin typeface="Calibri" pitchFamily="34" charset="0"/>
                <a:ea typeface="Calibri" pitchFamily="34" charset="-122"/>
                <a:cs typeface="Calibri" pitchFamily="34" charset="-120"/>
              </a:rPr>
              <a:t>14 / 18</a:t>
            </a:r>
            <a:endParaRPr lang="en-US" sz="800" dirty="0"/>
          </a:p>
        </p:txBody>
      </p:sp>
      <p:sp>
        <p:nvSpPr>
          <p:cNvPr id="9" name="Shape 7"/>
          <p:cNvSpPr/>
          <p:nvPr/>
        </p:nvSpPr>
        <p:spPr>
          <a:xfrm>
            <a:off x="228600" y="1051560"/>
            <a:ext cx="5303520" cy="3108960"/>
          </a:xfrm>
          <a:prstGeom prst="rect">
            <a:avLst/>
          </a:prstGeom>
          <a:solidFill>
            <a:srgbClr val="F2F2F2"/>
          </a:solidFill>
          <a:ln w="12700">
            <a:solidFill>
              <a:srgbClr val="888888"/>
            </a:solidFill>
            <a:prstDash val="dash"/>
          </a:ln>
        </p:spPr>
      </p:sp>
      <p:sp>
        <p:nvSpPr>
          <p:cNvPr id="10" name="Text 8"/>
          <p:cNvSpPr/>
          <p:nvPr/>
        </p:nvSpPr>
        <p:spPr>
          <a:xfrm>
            <a:off x="228600" y="960120"/>
            <a:ext cx="5303520" cy="3200400"/>
          </a:xfrm>
          <a:prstGeom prst="rect">
            <a:avLst/>
          </a:prstGeom>
          <a:noFill/>
          <a:ln/>
        </p:spPr>
        <p:txBody>
          <a:bodyPr wrap="square" rtlCol="0" anchor="ctr"/>
          <a:lstStyle/>
          <a:p>
            <a:pPr marL="0" indent="0" algn="ctr">
              <a:buNone/>
            </a:pPr>
            <a:r>
              <a:rPr lang="en-US" sz="1100" i="1" dirty="0">
                <a:solidFill>
                  <a:srgbClr val="888888"/>
                </a:solidFill>
                <a:latin typeface="Calibri" pitchFamily="34" charset="0"/>
                <a:ea typeface="Calibri" pitchFamily="34" charset="-122"/>
                <a:cs typeface="Calibri" pitchFamily="34" charset="-120"/>
              </a:rPr>
              <a:t>[ INSERT: Fuel Type Comparison Dashboard Screenshot — Page 4 ]</a:t>
            </a:r>
            <a:endParaRPr lang="en-US" sz="1100" dirty="0"/>
          </a:p>
        </p:txBody>
      </p:sp>
      <p:sp>
        <p:nvSpPr>
          <p:cNvPr id="11" name="Shape 9"/>
          <p:cNvSpPr/>
          <p:nvPr/>
        </p:nvSpPr>
        <p:spPr>
          <a:xfrm>
            <a:off x="5760720" y="1005840"/>
            <a:ext cx="3200400" cy="868680"/>
          </a:xfrm>
          <a:prstGeom prst="rect">
            <a:avLst/>
          </a:prstGeom>
          <a:solidFill>
            <a:srgbClr val="F8FAFD"/>
          </a:solidFill>
          <a:ln w="19050">
            <a:solidFill>
              <a:srgbClr val="1F3864"/>
            </a:solidFill>
            <a:prstDash val="solid"/>
          </a:ln>
        </p:spPr>
      </p:sp>
      <p:sp>
        <p:nvSpPr>
          <p:cNvPr id="12" name="Shape 10"/>
          <p:cNvSpPr/>
          <p:nvPr/>
        </p:nvSpPr>
        <p:spPr>
          <a:xfrm>
            <a:off x="5760720" y="1005840"/>
            <a:ext cx="914400" cy="868680"/>
          </a:xfrm>
          <a:prstGeom prst="rect">
            <a:avLst/>
          </a:prstGeom>
          <a:solidFill>
            <a:srgbClr val="1F3864"/>
          </a:solidFill>
          <a:ln w="12700">
            <a:solidFill>
              <a:srgbClr val="1F3864"/>
            </a:solidFill>
            <a:prstDash val="solid"/>
          </a:ln>
        </p:spPr>
      </p:sp>
      <p:sp>
        <p:nvSpPr>
          <p:cNvPr id="13" name="Text 11"/>
          <p:cNvSpPr/>
          <p:nvPr/>
        </p:nvSpPr>
        <p:spPr>
          <a:xfrm>
            <a:off x="5760720" y="1005840"/>
            <a:ext cx="914400" cy="8686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Petrol</a:t>
            </a:r>
            <a:endParaRPr lang="en-US" sz="1100" dirty="0"/>
          </a:p>
        </p:txBody>
      </p:sp>
      <p:sp>
        <p:nvSpPr>
          <p:cNvPr id="14" name="Text 12"/>
          <p:cNvSpPr/>
          <p:nvPr/>
        </p:nvSpPr>
        <p:spPr>
          <a:xfrm>
            <a:off x="6748272" y="1051560"/>
            <a:ext cx="2148840" cy="320040"/>
          </a:xfrm>
          <a:prstGeom prst="rect">
            <a:avLst/>
          </a:prstGeom>
          <a:noFill/>
          <a:ln/>
        </p:spPr>
        <p:txBody>
          <a:bodyPr wrap="square" rtlCol="0" anchor="ctr"/>
          <a:lstStyle/>
          <a:p>
            <a:pPr marL="0" indent="0">
              <a:buNone/>
            </a:pPr>
            <a:r>
              <a:rPr lang="en-US" sz="1100" b="1" dirty="0">
                <a:solidFill>
                  <a:srgbClr val="1F3864"/>
                </a:solidFill>
                <a:latin typeface="Calibri" pitchFamily="34" charset="0"/>
                <a:ea typeface="Calibri" pitchFamily="34" charset="-122"/>
                <a:cs typeface="Calibri" pitchFamily="34" charset="-120"/>
              </a:rPr>
              <a:t>Avg 2024: UGX 5,100</a:t>
            </a:r>
            <a:endParaRPr lang="en-US" sz="1100" dirty="0"/>
          </a:p>
        </p:txBody>
      </p:sp>
      <p:sp>
        <p:nvSpPr>
          <p:cNvPr id="15" name="Text 13"/>
          <p:cNvSpPr/>
          <p:nvPr/>
        </p:nvSpPr>
        <p:spPr>
          <a:xfrm>
            <a:off x="6748272" y="1389888"/>
            <a:ext cx="2148840" cy="438912"/>
          </a:xfrm>
          <a:prstGeom prst="rect">
            <a:avLst/>
          </a:prstGeom>
          <a:noFill/>
          <a:ln/>
        </p:spPr>
        <p:txBody>
          <a:bodyPr wrap="square" rtlCol="0" anchor="ctr"/>
          <a:lstStyle/>
          <a:p>
            <a:pPr marL="0" indent="0">
              <a:buNone/>
            </a:pPr>
            <a:r>
              <a:rPr lang="en-US" sz="1000" dirty="0">
                <a:solidFill>
                  <a:srgbClr val="404040"/>
                </a:solidFill>
                <a:latin typeface="Calibri" pitchFamily="34" charset="0"/>
                <a:ea typeface="Calibri" pitchFamily="34" charset="-122"/>
                <a:cs typeface="Calibri" pitchFamily="34" charset="-120"/>
              </a:rPr>
              <a:t>Octane-95 for cars,</a:t>
            </a:r>
            <a:endParaRPr lang="en-US" sz="1000" dirty="0"/>
          </a:p>
          <a:p>
            <a:pPr marL="0" indent="0">
              <a:buNone/>
            </a:pPr>
            <a:r>
              <a:rPr lang="en-US" sz="1000" dirty="0">
                <a:solidFill>
                  <a:srgbClr val="404040"/>
                </a:solidFill>
                <a:latin typeface="Calibri" pitchFamily="34" charset="0"/>
                <a:ea typeface="Calibri" pitchFamily="34" charset="-122"/>
                <a:cs typeface="Calibri" pitchFamily="34" charset="-120"/>
              </a:rPr>
              <a:t>boda bodas, taxis</a:t>
            </a:r>
            <a:endParaRPr lang="en-US" sz="1000" dirty="0"/>
          </a:p>
        </p:txBody>
      </p:sp>
      <p:sp>
        <p:nvSpPr>
          <p:cNvPr id="16" name="Shape 14"/>
          <p:cNvSpPr/>
          <p:nvPr/>
        </p:nvSpPr>
        <p:spPr>
          <a:xfrm>
            <a:off x="5760720" y="2011680"/>
            <a:ext cx="3200400" cy="868680"/>
          </a:xfrm>
          <a:prstGeom prst="rect">
            <a:avLst/>
          </a:prstGeom>
          <a:solidFill>
            <a:srgbClr val="F8FAFD"/>
          </a:solidFill>
          <a:ln w="19050">
            <a:solidFill>
              <a:srgbClr val="375623"/>
            </a:solidFill>
            <a:prstDash val="solid"/>
          </a:ln>
        </p:spPr>
      </p:sp>
      <p:sp>
        <p:nvSpPr>
          <p:cNvPr id="17" name="Shape 15"/>
          <p:cNvSpPr/>
          <p:nvPr/>
        </p:nvSpPr>
        <p:spPr>
          <a:xfrm>
            <a:off x="5760720" y="2011680"/>
            <a:ext cx="914400" cy="868680"/>
          </a:xfrm>
          <a:prstGeom prst="rect">
            <a:avLst/>
          </a:prstGeom>
          <a:solidFill>
            <a:srgbClr val="375623"/>
          </a:solidFill>
          <a:ln w="12700">
            <a:solidFill>
              <a:srgbClr val="375623"/>
            </a:solidFill>
            <a:prstDash val="solid"/>
          </a:ln>
        </p:spPr>
      </p:sp>
      <p:sp>
        <p:nvSpPr>
          <p:cNvPr id="18" name="Text 16"/>
          <p:cNvSpPr/>
          <p:nvPr/>
        </p:nvSpPr>
        <p:spPr>
          <a:xfrm>
            <a:off x="5760720" y="2011680"/>
            <a:ext cx="914400" cy="8686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Diesel</a:t>
            </a:r>
            <a:endParaRPr lang="en-US" sz="1100" dirty="0"/>
          </a:p>
        </p:txBody>
      </p:sp>
      <p:sp>
        <p:nvSpPr>
          <p:cNvPr id="19" name="Text 17"/>
          <p:cNvSpPr/>
          <p:nvPr/>
        </p:nvSpPr>
        <p:spPr>
          <a:xfrm>
            <a:off x="6748272" y="2057400"/>
            <a:ext cx="2148840" cy="320040"/>
          </a:xfrm>
          <a:prstGeom prst="rect">
            <a:avLst/>
          </a:prstGeom>
          <a:noFill/>
          <a:ln/>
        </p:spPr>
        <p:txBody>
          <a:bodyPr wrap="square" rtlCol="0" anchor="ctr"/>
          <a:lstStyle/>
          <a:p>
            <a:pPr marL="0" indent="0">
              <a:buNone/>
            </a:pPr>
            <a:r>
              <a:rPr lang="en-US" sz="1100" b="1" dirty="0">
                <a:solidFill>
                  <a:srgbClr val="375623"/>
                </a:solidFill>
                <a:latin typeface="Calibri" pitchFamily="34" charset="0"/>
                <a:ea typeface="Calibri" pitchFamily="34" charset="-122"/>
                <a:cs typeface="Calibri" pitchFamily="34" charset="-120"/>
              </a:rPr>
              <a:t>Avg 2024: UGX 4,720</a:t>
            </a:r>
            <a:endParaRPr lang="en-US" sz="1100" dirty="0"/>
          </a:p>
        </p:txBody>
      </p:sp>
      <p:sp>
        <p:nvSpPr>
          <p:cNvPr id="20" name="Text 18"/>
          <p:cNvSpPr/>
          <p:nvPr/>
        </p:nvSpPr>
        <p:spPr>
          <a:xfrm>
            <a:off x="6748272" y="2395728"/>
            <a:ext cx="2148840" cy="438912"/>
          </a:xfrm>
          <a:prstGeom prst="rect">
            <a:avLst/>
          </a:prstGeom>
          <a:noFill/>
          <a:ln/>
        </p:spPr>
        <p:txBody>
          <a:bodyPr wrap="square" rtlCol="0" anchor="ctr"/>
          <a:lstStyle/>
          <a:p>
            <a:pPr marL="0" indent="0">
              <a:buNone/>
            </a:pPr>
            <a:r>
              <a:rPr lang="en-US" sz="1000" dirty="0">
                <a:solidFill>
                  <a:srgbClr val="404040"/>
                </a:solidFill>
                <a:latin typeface="Calibri" pitchFamily="34" charset="0"/>
                <a:ea typeface="Calibri" pitchFamily="34" charset="-122"/>
                <a:cs typeface="Calibri" pitchFamily="34" charset="-120"/>
              </a:rPr>
              <a:t>Trucks, buses,</a:t>
            </a:r>
            <a:endParaRPr lang="en-US" sz="1000" dirty="0"/>
          </a:p>
          <a:p>
            <a:pPr marL="0" indent="0">
              <a:buNone/>
            </a:pPr>
            <a:r>
              <a:rPr lang="en-US" sz="1000" dirty="0">
                <a:solidFill>
                  <a:srgbClr val="404040"/>
                </a:solidFill>
                <a:latin typeface="Calibri" pitchFamily="34" charset="0"/>
                <a:ea typeface="Calibri" pitchFamily="34" charset="-122"/>
                <a:cs typeface="Calibri" pitchFamily="34" charset="-120"/>
              </a:rPr>
              <a:t>generators, heavy machinery</a:t>
            </a:r>
            <a:endParaRPr lang="en-US" sz="1000" dirty="0"/>
          </a:p>
        </p:txBody>
      </p:sp>
      <p:sp>
        <p:nvSpPr>
          <p:cNvPr id="21" name="Shape 19"/>
          <p:cNvSpPr/>
          <p:nvPr/>
        </p:nvSpPr>
        <p:spPr>
          <a:xfrm>
            <a:off x="5760720" y="3017520"/>
            <a:ext cx="3200400" cy="868680"/>
          </a:xfrm>
          <a:prstGeom prst="rect">
            <a:avLst/>
          </a:prstGeom>
          <a:solidFill>
            <a:srgbClr val="F8FAFD"/>
          </a:solidFill>
          <a:ln w="19050">
            <a:solidFill>
              <a:srgbClr val="843C0C"/>
            </a:solidFill>
            <a:prstDash val="solid"/>
          </a:ln>
        </p:spPr>
      </p:sp>
      <p:sp>
        <p:nvSpPr>
          <p:cNvPr id="22" name="Shape 20"/>
          <p:cNvSpPr/>
          <p:nvPr/>
        </p:nvSpPr>
        <p:spPr>
          <a:xfrm>
            <a:off x="5760720" y="3017520"/>
            <a:ext cx="914400" cy="868680"/>
          </a:xfrm>
          <a:prstGeom prst="rect">
            <a:avLst/>
          </a:prstGeom>
          <a:solidFill>
            <a:srgbClr val="843C0C"/>
          </a:solidFill>
          <a:ln w="12700">
            <a:solidFill>
              <a:srgbClr val="843C0C"/>
            </a:solidFill>
            <a:prstDash val="solid"/>
          </a:ln>
        </p:spPr>
      </p:sp>
      <p:sp>
        <p:nvSpPr>
          <p:cNvPr id="23" name="Text 21"/>
          <p:cNvSpPr/>
          <p:nvPr/>
        </p:nvSpPr>
        <p:spPr>
          <a:xfrm>
            <a:off x="5760720" y="3017520"/>
            <a:ext cx="914400" cy="8686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Kerosene</a:t>
            </a:r>
            <a:endParaRPr lang="en-US" sz="1100" dirty="0"/>
          </a:p>
        </p:txBody>
      </p:sp>
      <p:sp>
        <p:nvSpPr>
          <p:cNvPr id="24" name="Text 22"/>
          <p:cNvSpPr/>
          <p:nvPr/>
        </p:nvSpPr>
        <p:spPr>
          <a:xfrm>
            <a:off x="6748272" y="3063240"/>
            <a:ext cx="2148840" cy="320040"/>
          </a:xfrm>
          <a:prstGeom prst="rect">
            <a:avLst/>
          </a:prstGeom>
          <a:noFill/>
          <a:ln/>
        </p:spPr>
        <p:txBody>
          <a:bodyPr wrap="square" rtlCol="0" anchor="ctr"/>
          <a:lstStyle/>
          <a:p>
            <a:pPr marL="0" indent="0">
              <a:buNone/>
            </a:pPr>
            <a:r>
              <a:rPr lang="en-US" sz="1100" b="1" dirty="0">
                <a:solidFill>
                  <a:srgbClr val="843C0C"/>
                </a:solidFill>
                <a:latin typeface="Calibri" pitchFamily="34" charset="0"/>
                <a:ea typeface="Calibri" pitchFamily="34" charset="-122"/>
                <a:cs typeface="Calibri" pitchFamily="34" charset="-120"/>
              </a:rPr>
              <a:t>Avg 2024: UGX 4,100</a:t>
            </a:r>
            <a:endParaRPr lang="en-US" sz="1100" dirty="0"/>
          </a:p>
        </p:txBody>
      </p:sp>
      <p:sp>
        <p:nvSpPr>
          <p:cNvPr id="25" name="Text 23"/>
          <p:cNvSpPr/>
          <p:nvPr/>
        </p:nvSpPr>
        <p:spPr>
          <a:xfrm>
            <a:off x="6748272" y="3401568"/>
            <a:ext cx="2148840" cy="438912"/>
          </a:xfrm>
          <a:prstGeom prst="rect">
            <a:avLst/>
          </a:prstGeom>
          <a:noFill/>
          <a:ln/>
        </p:spPr>
        <p:txBody>
          <a:bodyPr wrap="square" rtlCol="0" anchor="ctr"/>
          <a:lstStyle/>
          <a:p>
            <a:pPr marL="0" indent="0">
              <a:buNone/>
            </a:pPr>
            <a:r>
              <a:rPr lang="en-US" sz="1000" dirty="0">
                <a:solidFill>
                  <a:srgbClr val="404040"/>
                </a:solidFill>
                <a:latin typeface="Calibri" pitchFamily="34" charset="0"/>
                <a:ea typeface="Calibri" pitchFamily="34" charset="-122"/>
                <a:cs typeface="Calibri" pitchFamily="34" charset="-120"/>
              </a:rPr>
              <a:t>Rural cooking stoves,</a:t>
            </a:r>
            <a:endParaRPr lang="en-US" sz="1000" dirty="0"/>
          </a:p>
          <a:p>
            <a:pPr marL="0" indent="0">
              <a:buNone/>
            </a:pPr>
            <a:r>
              <a:rPr lang="en-US" sz="1000" dirty="0">
                <a:solidFill>
                  <a:srgbClr val="404040"/>
                </a:solidFill>
                <a:latin typeface="Calibri" pitchFamily="34" charset="0"/>
                <a:ea typeface="Calibri" pitchFamily="34" charset="-122"/>
                <a:cs typeface="Calibri" pitchFamily="34" charset="-120"/>
              </a:rPr>
              <a:t>household lighting</a:t>
            </a:r>
            <a:endParaRPr lang="en-US" sz="1000" dirty="0"/>
          </a:p>
        </p:txBody>
      </p:sp>
      <p:sp>
        <p:nvSpPr>
          <p:cNvPr id="26" name="Shape 24"/>
          <p:cNvSpPr/>
          <p:nvPr/>
        </p:nvSpPr>
        <p:spPr>
          <a:xfrm>
            <a:off x="5760720" y="4041648"/>
            <a:ext cx="3200400" cy="658368"/>
          </a:xfrm>
          <a:prstGeom prst="rect">
            <a:avLst/>
          </a:prstGeom>
          <a:solidFill>
            <a:srgbClr val="FFF2CC"/>
          </a:solidFill>
          <a:ln w="6350">
            <a:solidFill>
              <a:srgbClr val="C9A84C"/>
            </a:solidFill>
            <a:prstDash val="solid"/>
          </a:ln>
        </p:spPr>
      </p:sp>
      <p:sp>
        <p:nvSpPr>
          <p:cNvPr id="27" name="Text 25"/>
          <p:cNvSpPr/>
          <p:nvPr/>
        </p:nvSpPr>
        <p:spPr>
          <a:xfrm>
            <a:off x="5833872" y="4059936"/>
            <a:ext cx="3054096" cy="621792"/>
          </a:xfrm>
          <a:prstGeom prst="rect">
            <a:avLst/>
          </a:prstGeom>
          <a:noFill/>
          <a:ln/>
        </p:spPr>
        <p:txBody>
          <a:bodyPr wrap="square" rtlCol="0" anchor="ctr"/>
          <a:lstStyle/>
          <a:p>
            <a:pPr marL="0" indent="0">
              <a:buNone/>
            </a:pPr>
            <a:r>
              <a:rPr lang="en-US" sz="900" dirty="0">
                <a:solidFill>
                  <a:srgbClr val="843C0C"/>
                </a:solidFill>
                <a:latin typeface="Calibri" pitchFamily="34" charset="0"/>
                <a:ea typeface="Calibri" pitchFamily="34" charset="-122"/>
                <a:cs typeface="Calibri" pitchFamily="34" charset="-120"/>
              </a:rPr>
              <a:t>Business Insight: The consistent diesel-petrol gap of UGX 300–600/litre creates a clear economic incentive for commercial fleet operators to invest in diesel vehicles for long-haul transport.</a:t>
            </a:r>
            <a:endParaRPr lang="en-US" sz="900" dirty="0"/>
          </a:p>
        </p:txBody>
      </p:sp>
      <p:pic>
        <p:nvPicPr>
          <p:cNvPr id="29" name="Picture 28">
            <a:extLst>
              <a:ext uri="{FF2B5EF4-FFF2-40B4-BE49-F238E27FC236}">
                <a16:creationId xmlns:a16="http://schemas.microsoft.com/office/drawing/2014/main" id="{311A68DA-253B-4EC1-A06F-D7822AA30BFC}"/>
              </a:ext>
            </a:extLst>
          </p:cNvPr>
          <p:cNvPicPr>
            <a:picLocks noChangeAspect="1"/>
          </p:cNvPicPr>
          <p:nvPr/>
        </p:nvPicPr>
        <p:blipFill>
          <a:blip r:embed="rId3"/>
          <a:stretch>
            <a:fillRect/>
          </a:stretch>
        </p:blipFill>
        <p:spPr>
          <a:xfrm>
            <a:off x="228600" y="1051560"/>
            <a:ext cx="5303520" cy="310895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F3864"/>
          </a:solidFill>
          <a:ln w="12700">
            <a:solidFill>
              <a:srgbClr val="1F3864"/>
            </a:solidFill>
            <a:prstDash val="solid"/>
          </a:ln>
        </p:spPr>
      </p:sp>
      <p:sp>
        <p:nvSpPr>
          <p:cNvPr id="3" name="Shape 1"/>
          <p:cNvSpPr/>
          <p:nvPr/>
        </p:nvSpPr>
        <p:spPr>
          <a:xfrm>
            <a:off x="0" y="777240"/>
            <a:ext cx="9144000" cy="54864"/>
          </a:xfrm>
          <a:prstGeom prst="rect">
            <a:avLst/>
          </a:prstGeom>
          <a:solidFill>
            <a:srgbClr val="C9A84C"/>
          </a:solidFill>
          <a:ln w="12700">
            <a:solidFill>
              <a:srgbClr val="C9A84C"/>
            </a:solidFill>
            <a:prstDash val="solid"/>
          </a:ln>
        </p:spPr>
      </p:sp>
      <p:sp>
        <p:nvSpPr>
          <p:cNvPr id="4" name="Text 2"/>
          <p:cNvSpPr/>
          <p:nvPr/>
        </p:nvSpPr>
        <p:spPr>
          <a:xfrm>
            <a:off x="274320" y="36576"/>
            <a:ext cx="8595360" cy="713232"/>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Recommendations</a:t>
            </a:r>
            <a:endParaRPr lang="en-US" sz="2000" dirty="0"/>
          </a:p>
        </p:txBody>
      </p:sp>
      <p:sp>
        <p:nvSpPr>
          <p:cNvPr id="5" name="Text 3"/>
          <p:cNvSpPr/>
          <p:nvPr/>
        </p:nvSpPr>
        <p:spPr>
          <a:xfrm>
            <a:off x="274320" y="804672"/>
            <a:ext cx="8595360" cy="274320"/>
          </a:xfrm>
          <a:prstGeom prst="rect">
            <a:avLst/>
          </a:prstGeom>
          <a:noFill/>
          <a:ln/>
        </p:spPr>
        <p:txBody>
          <a:bodyPr wrap="square" rtlCol="0" anchor="ctr"/>
          <a:lstStyle/>
          <a:p>
            <a:pPr marL="0" indent="0">
              <a:buNone/>
            </a:pPr>
            <a:r>
              <a:rPr lang="en-US" sz="1100" i="1" dirty="0">
                <a:solidFill>
                  <a:srgbClr val="888888"/>
                </a:solidFill>
                <a:latin typeface="Calibri" pitchFamily="34" charset="0"/>
                <a:ea typeface="Calibri" pitchFamily="34" charset="-122"/>
                <a:cs typeface="Calibri" pitchFamily="34" charset="-120"/>
              </a:rPr>
              <a:t>Evidence-based actions for four key stakeholder groups</a:t>
            </a:r>
            <a:endParaRPr lang="en-US" sz="1100" dirty="0"/>
          </a:p>
        </p:txBody>
      </p:sp>
      <p:sp>
        <p:nvSpPr>
          <p:cNvPr id="6" name="Shape 4"/>
          <p:cNvSpPr/>
          <p:nvPr/>
        </p:nvSpPr>
        <p:spPr>
          <a:xfrm>
            <a:off x="0" y="4892040"/>
            <a:ext cx="9144000" cy="256032"/>
          </a:xfrm>
          <a:prstGeom prst="rect">
            <a:avLst/>
          </a:prstGeom>
          <a:solidFill>
            <a:srgbClr val="F0F0F0"/>
          </a:solidFill>
          <a:ln w="12700">
            <a:solidFill>
              <a:srgbClr val="DDDDDD"/>
            </a:solidFill>
            <a:prstDash val="solid"/>
          </a:ln>
        </p:spPr>
      </p:sp>
      <p:sp>
        <p:nvSpPr>
          <p:cNvPr id="7" name="Text 5"/>
          <p:cNvSpPr/>
          <p:nvPr/>
        </p:nvSpPr>
        <p:spPr>
          <a:xfrm>
            <a:off x="182880" y="4910328"/>
            <a:ext cx="7315200" cy="201168"/>
          </a:xfrm>
          <a:prstGeom prst="rect">
            <a:avLst/>
          </a:prstGeom>
          <a:noFill/>
          <a:ln/>
        </p:spPr>
        <p:txBody>
          <a:bodyPr wrap="square" rtlCol="0" anchor="ctr"/>
          <a:lstStyle/>
          <a:p>
            <a:pPr marL="0" indent="0">
              <a:buNone/>
            </a:pPr>
            <a:r>
              <a:rPr lang="en-US" sz="800" dirty="0">
                <a:solidFill>
                  <a:srgbClr val="888888"/>
                </a:solidFill>
                <a:latin typeface="Calibri" pitchFamily="34" charset="0"/>
                <a:ea typeface="Calibri" pitchFamily="34" charset="-122"/>
                <a:cs typeface="Calibri" pitchFamily="34" charset="-120"/>
              </a:rPr>
              <a:t>Uganda Fuel Price &amp; Consumption Data Warehouse  |  Group 4  |  College of Computing and Informatics Technology</a:t>
            </a:r>
            <a:endParaRPr lang="en-US" sz="800" dirty="0"/>
          </a:p>
        </p:txBody>
      </p:sp>
      <p:sp>
        <p:nvSpPr>
          <p:cNvPr id="8" name="Text 6"/>
          <p:cNvSpPr/>
          <p:nvPr/>
        </p:nvSpPr>
        <p:spPr>
          <a:xfrm>
            <a:off x="8229600" y="4910328"/>
            <a:ext cx="731520" cy="201168"/>
          </a:xfrm>
          <a:prstGeom prst="rect">
            <a:avLst/>
          </a:prstGeom>
          <a:noFill/>
          <a:ln/>
        </p:spPr>
        <p:txBody>
          <a:bodyPr wrap="square" rtlCol="0" anchor="ctr"/>
          <a:lstStyle/>
          <a:p>
            <a:pPr marL="0" indent="0" algn="r">
              <a:buNone/>
            </a:pPr>
            <a:r>
              <a:rPr lang="en-US" sz="800" dirty="0">
                <a:solidFill>
                  <a:srgbClr val="888888"/>
                </a:solidFill>
                <a:latin typeface="Calibri" pitchFamily="34" charset="0"/>
                <a:ea typeface="Calibri" pitchFamily="34" charset="-122"/>
                <a:cs typeface="Calibri" pitchFamily="34" charset="-120"/>
              </a:rPr>
              <a:t>15 / 18</a:t>
            </a:r>
            <a:endParaRPr lang="en-US" sz="800" dirty="0"/>
          </a:p>
        </p:txBody>
      </p:sp>
      <p:sp>
        <p:nvSpPr>
          <p:cNvPr id="9" name="Shape 7"/>
          <p:cNvSpPr/>
          <p:nvPr/>
        </p:nvSpPr>
        <p:spPr>
          <a:xfrm>
            <a:off x="228600" y="1005840"/>
            <a:ext cx="4251960" cy="1737360"/>
          </a:xfrm>
          <a:prstGeom prst="rect">
            <a:avLst/>
          </a:prstGeom>
          <a:solidFill>
            <a:srgbClr val="F8FAFD"/>
          </a:solidFill>
          <a:ln w="19050">
            <a:solidFill>
              <a:srgbClr val="1F3864"/>
            </a:solidFill>
            <a:prstDash val="solid"/>
          </a:ln>
        </p:spPr>
      </p:sp>
      <p:sp>
        <p:nvSpPr>
          <p:cNvPr id="10" name="Shape 8"/>
          <p:cNvSpPr/>
          <p:nvPr/>
        </p:nvSpPr>
        <p:spPr>
          <a:xfrm>
            <a:off x="228600" y="1005840"/>
            <a:ext cx="1051560" cy="1737360"/>
          </a:xfrm>
          <a:prstGeom prst="rect">
            <a:avLst/>
          </a:prstGeom>
          <a:solidFill>
            <a:srgbClr val="1F3864"/>
          </a:solidFill>
          <a:ln w="12700">
            <a:solidFill>
              <a:srgbClr val="1F3864"/>
            </a:solidFill>
            <a:prstDash val="solid"/>
          </a:ln>
        </p:spPr>
      </p:sp>
      <p:sp>
        <p:nvSpPr>
          <p:cNvPr id="11" name="Text 9"/>
          <p:cNvSpPr/>
          <p:nvPr/>
        </p:nvSpPr>
        <p:spPr>
          <a:xfrm>
            <a:off x="228600" y="1005840"/>
            <a:ext cx="1051560" cy="17373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Government</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&amp; PAU</a:t>
            </a:r>
            <a:endParaRPr lang="en-US" sz="1100" dirty="0"/>
          </a:p>
        </p:txBody>
      </p:sp>
      <p:sp>
        <p:nvSpPr>
          <p:cNvPr id="12" name="Text 10"/>
          <p:cNvSpPr/>
          <p:nvPr/>
        </p:nvSpPr>
        <p:spPr>
          <a:xfrm>
            <a:off x="1344168" y="1097280"/>
            <a:ext cx="3063240" cy="1572768"/>
          </a:xfrm>
          <a:prstGeom prst="rect">
            <a:avLst/>
          </a:prstGeom>
          <a:noFill/>
          <a:ln/>
        </p:spPr>
        <p:txBody>
          <a:bodyPr wrap="square" rtlCol="0" anchor="ctr"/>
          <a:lstStyle/>
          <a:p>
            <a:pPr marL="0" indent="0">
              <a:buNone/>
            </a:pPr>
            <a:r>
              <a:rPr lang="en-US" sz="1000" dirty="0">
                <a:solidFill>
                  <a:srgbClr val="404040"/>
                </a:solidFill>
                <a:latin typeface="Calibri" pitchFamily="34" charset="0"/>
                <a:ea typeface="Calibri" pitchFamily="34" charset="-122"/>
                <a:cs typeface="Calibri" pitchFamily="34" charset="-120"/>
              </a:rPr>
              <a:t>Strengthen and expand the UNOC sole importation model — data confirms 10.8% consumer benefit within 6 months. Publish weekly station-level pump prices publicly (similar to Australia's FuelWatch) to increase market transparency and competition.</a:t>
            </a:r>
            <a:endParaRPr lang="en-US" sz="1000" dirty="0"/>
          </a:p>
        </p:txBody>
      </p:sp>
      <p:sp>
        <p:nvSpPr>
          <p:cNvPr id="13" name="Shape 11"/>
          <p:cNvSpPr/>
          <p:nvPr/>
        </p:nvSpPr>
        <p:spPr>
          <a:xfrm>
            <a:off x="228600" y="2926080"/>
            <a:ext cx="4251960" cy="1737360"/>
          </a:xfrm>
          <a:prstGeom prst="rect">
            <a:avLst/>
          </a:prstGeom>
          <a:solidFill>
            <a:srgbClr val="F8FAFD"/>
          </a:solidFill>
          <a:ln w="19050">
            <a:solidFill>
              <a:srgbClr val="375623"/>
            </a:solidFill>
            <a:prstDash val="solid"/>
          </a:ln>
        </p:spPr>
      </p:sp>
      <p:sp>
        <p:nvSpPr>
          <p:cNvPr id="14" name="Shape 12"/>
          <p:cNvSpPr/>
          <p:nvPr/>
        </p:nvSpPr>
        <p:spPr>
          <a:xfrm>
            <a:off x="228600" y="2926080"/>
            <a:ext cx="1051560" cy="1737360"/>
          </a:xfrm>
          <a:prstGeom prst="rect">
            <a:avLst/>
          </a:prstGeom>
          <a:solidFill>
            <a:srgbClr val="375623"/>
          </a:solidFill>
          <a:ln w="12700">
            <a:solidFill>
              <a:srgbClr val="375623"/>
            </a:solidFill>
            <a:prstDash val="solid"/>
          </a:ln>
        </p:spPr>
      </p:sp>
      <p:sp>
        <p:nvSpPr>
          <p:cNvPr id="15" name="Text 13"/>
          <p:cNvSpPr/>
          <p:nvPr/>
        </p:nvSpPr>
        <p:spPr>
          <a:xfrm>
            <a:off x="228600" y="2926080"/>
            <a:ext cx="1051560" cy="17373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UNOC</a:t>
            </a:r>
            <a:endParaRPr lang="en-US" sz="1100" dirty="0"/>
          </a:p>
        </p:txBody>
      </p:sp>
      <p:sp>
        <p:nvSpPr>
          <p:cNvPr id="16" name="Text 14"/>
          <p:cNvSpPr/>
          <p:nvPr/>
        </p:nvSpPr>
        <p:spPr>
          <a:xfrm>
            <a:off x="1344168" y="3017520"/>
            <a:ext cx="3063240" cy="1572768"/>
          </a:xfrm>
          <a:prstGeom prst="rect">
            <a:avLst/>
          </a:prstGeom>
          <a:noFill/>
          <a:ln/>
        </p:spPr>
        <p:txBody>
          <a:bodyPr wrap="square" rtlCol="0" anchor="ctr"/>
          <a:lstStyle/>
          <a:p>
            <a:pPr marL="0" indent="0">
              <a:buNone/>
            </a:pPr>
            <a:r>
              <a:rPr lang="en-US" sz="1000" dirty="0">
                <a:solidFill>
                  <a:srgbClr val="404040"/>
                </a:solidFill>
                <a:latin typeface="Calibri" pitchFamily="34" charset="0"/>
                <a:ea typeface="Calibri" pitchFamily="34" charset="-122"/>
                <a:cs typeface="Calibri" pitchFamily="34" charset="-120"/>
              </a:rPr>
              <a:t>Expand monthly regional price analysis reports to district level. Current reporting covers only regional averages. District-level data would reveal specific communities paying above-average premiums and enable targeted intervention.</a:t>
            </a:r>
            <a:endParaRPr lang="en-US" sz="1000" dirty="0"/>
          </a:p>
        </p:txBody>
      </p:sp>
      <p:sp>
        <p:nvSpPr>
          <p:cNvPr id="17" name="Shape 15"/>
          <p:cNvSpPr/>
          <p:nvPr/>
        </p:nvSpPr>
        <p:spPr>
          <a:xfrm>
            <a:off x="4709160" y="1005840"/>
            <a:ext cx="4251960" cy="1737360"/>
          </a:xfrm>
          <a:prstGeom prst="rect">
            <a:avLst/>
          </a:prstGeom>
          <a:solidFill>
            <a:srgbClr val="F8FAFD"/>
          </a:solidFill>
          <a:ln w="19050">
            <a:solidFill>
              <a:srgbClr val="843C0C"/>
            </a:solidFill>
            <a:prstDash val="solid"/>
          </a:ln>
        </p:spPr>
      </p:sp>
      <p:sp>
        <p:nvSpPr>
          <p:cNvPr id="18" name="Shape 16"/>
          <p:cNvSpPr/>
          <p:nvPr/>
        </p:nvSpPr>
        <p:spPr>
          <a:xfrm>
            <a:off x="4709160" y="1005840"/>
            <a:ext cx="1051560" cy="1737360"/>
          </a:xfrm>
          <a:prstGeom prst="rect">
            <a:avLst/>
          </a:prstGeom>
          <a:solidFill>
            <a:srgbClr val="843C0C"/>
          </a:solidFill>
          <a:ln w="12700">
            <a:solidFill>
              <a:srgbClr val="843C0C"/>
            </a:solidFill>
            <a:prstDash val="solid"/>
          </a:ln>
        </p:spPr>
      </p:sp>
      <p:sp>
        <p:nvSpPr>
          <p:cNvPr id="19" name="Text 17"/>
          <p:cNvSpPr/>
          <p:nvPr/>
        </p:nvSpPr>
        <p:spPr>
          <a:xfrm>
            <a:off x="4709160" y="1005840"/>
            <a:ext cx="1051560" cy="17373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Transport</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&amp; Fleet Business</a:t>
            </a:r>
            <a:endParaRPr lang="en-US" sz="1100" dirty="0"/>
          </a:p>
        </p:txBody>
      </p:sp>
      <p:sp>
        <p:nvSpPr>
          <p:cNvPr id="20" name="Text 18"/>
          <p:cNvSpPr/>
          <p:nvPr/>
        </p:nvSpPr>
        <p:spPr>
          <a:xfrm>
            <a:off x="5824728" y="1097280"/>
            <a:ext cx="3063240" cy="1572768"/>
          </a:xfrm>
          <a:prstGeom prst="rect">
            <a:avLst/>
          </a:prstGeom>
          <a:noFill/>
          <a:ln/>
        </p:spPr>
        <p:txBody>
          <a:bodyPr wrap="square" rtlCol="0" anchor="ctr"/>
          <a:lstStyle/>
          <a:p>
            <a:pPr marL="0" indent="0">
              <a:buNone/>
            </a:pPr>
            <a:r>
              <a:rPr lang="en-US" sz="1000" dirty="0">
                <a:solidFill>
                  <a:srgbClr val="404040"/>
                </a:solidFill>
                <a:latin typeface="Calibri" pitchFamily="34" charset="0"/>
                <a:ea typeface="Calibri" pitchFamily="34" charset="-122"/>
                <a:cs typeface="Calibri" pitchFamily="34" charset="-120"/>
              </a:rPr>
              <a:t>Use fuel price trend data to time bulk purchases. Data shows prices lowest in Q4. Choose Stabex where available — savings of UGX 50,000–100,000 per large tank fill. Budget 7–10% extra fuel cost for upcountry operations.</a:t>
            </a:r>
            <a:endParaRPr lang="en-US" sz="1000" dirty="0"/>
          </a:p>
        </p:txBody>
      </p:sp>
      <p:sp>
        <p:nvSpPr>
          <p:cNvPr id="21" name="Shape 19"/>
          <p:cNvSpPr/>
          <p:nvPr/>
        </p:nvSpPr>
        <p:spPr>
          <a:xfrm>
            <a:off x="4709160" y="2926080"/>
            <a:ext cx="4251960" cy="1737360"/>
          </a:xfrm>
          <a:prstGeom prst="rect">
            <a:avLst/>
          </a:prstGeom>
          <a:solidFill>
            <a:srgbClr val="F8FAFD"/>
          </a:solidFill>
          <a:ln w="19050">
            <a:solidFill>
              <a:srgbClr val="3C3489"/>
            </a:solidFill>
            <a:prstDash val="solid"/>
          </a:ln>
        </p:spPr>
      </p:sp>
      <p:sp>
        <p:nvSpPr>
          <p:cNvPr id="22" name="Shape 20"/>
          <p:cNvSpPr/>
          <p:nvPr/>
        </p:nvSpPr>
        <p:spPr>
          <a:xfrm>
            <a:off x="4709160" y="2926080"/>
            <a:ext cx="1051560" cy="1737360"/>
          </a:xfrm>
          <a:prstGeom prst="rect">
            <a:avLst/>
          </a:prstGeom>
          <a:solidFill>
            <a:srgbClr val="3C3489"/>
          </a:solidFill>
          <a:ln w="12700">
            <a:solidFill>
              <a:srgbClr val="3C3489"/>
            </a:solidFill>
            <a:prstDash val="solid"/>
          </a:ln>
        </p:spPr>
      </p:sp>
      <p:sp>
        <p:nvSpPr>
          <p:cNvPr id="23" name="Text 21"/>
          <p:cNvSpPr/>
          <p:nvPr/>
        </p:nvSpPr>
        <p:spPr>
          <a:xfrm>
            <a:off x="4709160" y="2926080"/>
            <a:ext cx="1051560" cy="17373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Future</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Researchers</a:t>
            </a:r>
            <a:endParaRPr lang="en-US" sz="1100" dirty="0"/>
          </a:p>
        </p:txBody>
      </p:sp>
      <p:sp>
        <p:nvSpPr>
          <p:cNvPr id="24" name="Text 22"/>
          <p:cNvSpPr/>
          <p:nvPr/>
        </p:nvSpPr>
        <p:spPr>
          <a:xfrm>
            <a:off x="5824728" y="3017520"/>
            <a:ext cx="3063240" cy="1572768"/>
          </a:xfrm>
          <a:prstGeom prst="rect">
            <a:avLst/>
          </a:prstGeom>
          <a:noFill/>
          <a:ln/>
        </p:spPr>
        <p:txBody>
          <a:bodyPr wrap="square" rtlCol="0" anchor="ctr"/>
          <a:lstStyle/>
          <a:p>
            <a:pPr marL="0" indent="0">
              <a:buNone/>
            </a:pPr>
            <a:r>
              <a:rPr lang="en-US" sz="1000" dirty="0">
                <a:solidFill>
                  <a:srgbClr val="404040"/>
                </a:solidFill>
                <a:latin typeface="Calibri" pitchFamily="34" charset="0"/>
                <a:ea typeface="Calibri" pitchFamily="34" charset="-122"/>
                <a:cs typeface="Calibri" pitchFamily="34" charset="-120"/>
              </a:rPr>
              <a:t>Extend this warehouse to include LPG cooking gas pricing, electricity tariffs from UMEME, and charcoal prices. This would create a complete household energy cost monitoring system for Uganda.</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F3864"/>
          </a:solidFill>
          <a:ln w="12700">
            <a:solidFill>
              <a:srgbClr val="1F3864"/>
            </a:solidFill>
            <a:prstDash val="solid"/>
          </a:ln>
        </p:spPr>
      </p:sp>
      <p:sp>
        <p:nvSpPr>
          <p:cNvPr id="3" name="Shape 1"/>
          <p:cNvSpPr/>
          <p:nvPr/>
        </p:nvSpPr>
        <p:spPr>
          <a:xfrm>
            <a:off x="0" y="777240"/>
            <a:ext cx="9144000" cy="54864"/>
          </a:xfrm>
          <a:prstGeom prst="rect">
            <a:avLst/>
          </a:prstGeom>
          <a:solidFill>
            <a:srgbClr val="C9A84C"/>
          </a:solidFill>
          <a:ln w="12700">
            <a:solidFill>
              <a:srgbClr val="C9A84C"/>
            </a:solidFill>
            <a:prstDash val="solid"/>
          </a:ln>
        </p:spPr>
      </p:sp>
      <p:sp>
        <p:nvSpPr>
          <p:cNvPr id="4" name="Text 2"/>
          <p:cNvSpPr/>
          <p:nvPr/>
        </p:nvSpPr>
        <p:spPr>
          <a:xfrm>
            <a:off x="274320" y="36576"/>
            <a:ext cx="8595360" cy="713232"/>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Data Quality Validation</a:t>
            </a:r>
            <a:endParaRPr lang="en-US" sz="2000" dirty="0"/>
          </a:p>
        </p:txBody>
      </p:sp>
      <p:sp>
        <p:nvSpPr>
          <p:cNvPr id="5" name="Text 3"/>
          <p:cNvSpPr/>
          <p:nvPr/>
        </p:nvSpPr>
        <p:spPr>
          <a:xfrm>
            <a:off x="274320" y="804672"/>
            <a:ext cx="8595360" cy="274320"/>
          </a:xfrm>
          <a:prstGeom prst="rect">
            <a:avLst/>
          </a:prstGeom>
          <a:noFill/>
          <a:ln/>
        </p:spPr>
        <p:txBody>
          <a:bodyPr wrap="square" rtlCol="0" anchor="ctr"/>
          <a:lstStyle/>
          <a:p>
            <a:pPr marL="0" indent="0">
              <a:buNone/>
            </a:pPr>
            <a:r>
              <a:rPr lang="en-US" sz="1100" i="1" dirty="0">
                <a:solidFill>
                  <a:srgbClr val="888888"/>
                </a:solidFill>
                <a:latin typeface="Calibri" pitchFamily="34" charset="0"/>
                <a:ea typeface="Calibri" pitchFamily="34" charset="-122"/>
                <a:cs typeface="Calibri" pitchFamily="34" charset="-120"/>
              </a:rPr>
              <a:t>All checks passed — 100% referential integrity confirmed</a:t>
            </a:r>
            <a:endParaRPr lang="en-US" sz="1100" dirty="0"/>
          </a:p>
        </p:txBody>
      </p:sp>
      <p:sp>
        <p:nvSpPr>
          <p:cNvPr id="6" name="Shape 4"/>
          <p:cNvSpPr/>
          <p:nvPr/>
        </p:nvSpPr>
        <p:spPr>
          <a:xfrm>
            <a:off x="0" y="4892040"/>
            <a:ext cx="9144000" cy="256032"/>
          </a:xfrm>
          <a:prstGeom prst="rect">
            <a:avLst/>
          </a:prstGeom>
          <a:solidFill>
            <a:srgbClr val="F0F0F0"/>
          </a:solidFill>
          <a:ln w="12700">
            <a:solidFill>
              <a:srgbClr val="DDDDDD"/>
            </a:solidFill>
            <a:prstDash val="solid"/>
          </a:ln>
        </p:spPr>
      </p:sp>
      <p:sp>
        <p:nvSpPr>
          <p:cNvPr id="7" name="Text 5"/>
          <p:cNvSpPr/>
          <p:nvPr/>
        </p:nvSpPr>
        <p:spPr>
          <a:xfrm>
            <a:off x="182880" y="4910328"/>
            <a:ext cx="7315200" cy="201168"/>
          </a:xfrm>
          <a:prstGeom prst="rect">
            <a:avLst/>
          </a:prstGeom>
          <a:noFill/>
          <a:ln/>
        </p:spPr>
        <p:txBody>
          <a:bodyPr wrap="square" rtlCol="0" anchor="ctr"/>
          <a:lstStyle/>
          <a:p>
            <a:pPr marL="0" indent="0">
              <a:buNone/>
            </a:pPr>
            <a:r>
              <a:rPr lang="en-US" sz="800" dirty="0">
                <a:solidFill>
                  <a:srgbClr val="888888"/>
                </a:solidFill>
                <a:latin typeface="Calibri" pitchFamily="34" charset="0"/>
                <a:ea typeface="Calibri" pitchFamily="34" charset="-122"/>
                <a:cs typeface="Calibri" pitchFamily="34" charset="-120"/>
              </a:rPr>
              <a:t>Uganda Fuel Price &amp; Consumption Data Warehouse  |  Group 4  |  College of Computing and Informatics Technology</a:t>
            </a:r>
            <a:endParaRPr lang="en-US" sz="800" dirty="0"/>
          </a:p>
        </p:txBody>
      </p:sp>
      <p:sp>
        <p:nvSpPr>
          <p:cNvPr id="8" name="Text 6"/>
          <p:cNvSpPr/>
          <p:nvPr/>
        </p:nvSpPr>
        <p:spPr>
          <a:xfrm>
            <a:off x="8229600" y="4910328"/>
            <a:ext cx="731520" cy="201168"/>
          </a:xfrm>
          <a:prstGeom prst="rect">
            <a:avLst/>
          </a:prstGeom>
          <a:noFill/>
          <a:ln/>
        </p:spPr>
        <p:txBody>
          <a:bodyPr wrap="square" rtlCol="0" anchor="ctr"/>
          <a:lstStyle/>
          <a:p>
            <a:pPr marL="0" indent="0" algn="r">
              <a:buNone/>
            </a:pPr>
            <a:r>
              <a:rPr lang="en-US" sz="800" dirty="0">
                <a:solidFill>
                  <a:srgbClr val="888888"/>
                </a:solidFill>
                <a:latin typeface="Calibri" pitchFamily="34" charset="0"/>
                <a:ea typeface="Calibri" pitchFamily="34" charset="-122"/>
                <a:cs typeface="Calibri" pitchFamily="34" charset="-120"/>
              </a:rPr>
              <a:t>16 / 18</a:t>
            </a:r>
            <a:endParaRPr lang="en-US" sz="800" dirty="0"/>
          </a:p>
        </p:txBody>
      </p:sp>
      <p:sp>
        <p:nvSpPr>
          <p:cNvPr id="9" name="Shape 7"/>
          <p:cNvSpPr/>
          <p:nvPr/>
        </p:nvSpPr>
        <p:spPr>
          <a:xfrm>
            <a:off x="228600" y="1005840"/>
            <a:ext cx="8686800" cy="548640"/>
          </a:xfrm>
          <a:prstGeom prst="rect">
            <a:avLst/>
          </a:prstGeom>
          <a:solidFill>
            <a:srgbClr val="F8FAFD"/>
          </a:solidFill>
          <a:ln w="3810">
            <a:solidFill>
              <a:srgbClr val="DDDDDD"/>
            </a:solidFill>
            <a:prstDash val="solid"/>
          </a:ln>
        </p:spPr>
      </p:sp>
      <p:sp>
        <p:nvSpPr>
          <p:cNvPr id="10" name="Shape 8"/>
          <p:cNvSpPr/>
          <p:nvPr/>
        </p:nvSpPr>
        <p:spPr>
          <a:xfrm>
            <a:off x="256032" y="1115568"/>
            <a:ext cx="548640" cy="329184"/>
          </a:xfrm>
          <a:prstGeom prst="rect">
            <a:avLst/>
          </a:prstGeom>
          <a:solidFill>
            <a:srgbClr val="375623"/>
          </a:solidFill>
          <a:ln w="12700">
            <a:solidFill>
              <a:srgbClr val="375623"/>
            </a:solidFill>
            <a:prstDash val="solid"/>
          </a:ln>
        </p:spPr>
      </p:sp>
      <p:sp>
        <p:nvSpPr>
          <p:cNvPr id="11" name="Text 9"/>
          <p:cNvSpPr/>
          <p:nvPr/>
        </p:nvSpPr>
        <p:spPr>
          <a:xfrm>
            <a:off x="256032" y="1115568"/>
            <a:ext cx="548640" cy="32918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PASS</a:t>
            </a:r>
            <a:endParaRPr lang="en-US" sz="900" dirty="0"/>
          </a:p>
        </p:txBody>
      </p:sp>
      <p:sp>
        <p:nvSpPr>
          <p:cNvPr id="12" name="Text 10"/>
          <p:cNvSpPr/>
          <p:nvPr/>
        </p:nvSpPr>
        <p:spPr>
          <a:xfrm>
            <a:off x="896112" y="1042416"/>
            <a:ext cx="2377440" cy="475488"/>
          </a:xfrm>
          <a:prstGeom prst="rect">
            <a:avLst/>
          </a:prstGeom>
          <a:noFill/>
          <a:ln/>
        </p:spPr>
        <p:txBody>
          <a:bodyPr wrap="square" rtlCol="0" anchor="ctr"/>
          <a:lstStyle/>
          <a:p>
            <a:pPr marL="0" indent="0">
              <a:buNone/>
            </a:pPr>
            <a:r>
              <a:rPr lang="en-US" sz="1100" b="1" dirty="0">
                <a:solidFill>
                  <a:srgbClr val="1F3864"/>
                </a:solidFill>
                <a:latin typeface="Calibri" pitchFamily="34" charset="0"/>
                <a:ea typeface="Calibri" pitchFamily="34" charset="-122"/>
                <a:cs typeface="Calibri" pitchFamily="34" charset="-120"/>
              </a:rPr>
              <a:t>No duplicate primary keys</a:t>
            </a:r>
            <a:endParaRPr lang="en-US" sz="1100" dirty="0"/>
          </a:p>
        </p:txBody>
      </p:sp>
      <p:sp>
        <p:nvSpPr>
          <p:cNvPr id="13" name="Text 11"/>
          <p:cNvSpPr/>
          <p:nvPr/>
        </p:nvSpPr>
        <p:spPr>
          <a:xfrm>
            <a:off x="3337560" y="1042416"/>
            <a:ext cx="5532120" cy="475488"/>
          </a:xfrm>
          <a:prstGeom prst="rect">
            <a:avLst/>
          </a:prstGeom>
          <a:noFill/>
          <a:ln/>
        </p:spPr>
        <p:txBody>
          <a:bodyPr wrap="square" rtlCol="0" anchor="ctr"/>
          <a:lstStyle/>
          <a:p>
            <a:pPr marL="0" indent="0">
              <a:buNone/>
            </a:pPr>
            <a:r>
              <a:rPr lang="en-US" sz="1000" dirty="0">
                <a:solidFill>
                  <a:srgbClr val="404040"/>
                </a:solidFill>
                <a:latin typeface="Calibri" pitchFamily="34" charset="0"/>
                <a:ea typeface="Calibri" pitchFamily="34" charset="-122"/>
                <a:cs typeface="Calibri" pitchFamily="34" charset="-120"/>
              </a:rPr>
              <a:t>Zero duplicates across 3,240 fact rows — confirmed via Power Query Column Quality showing 100% Valid</a:t>
            </a:r>
            <a:endParaRPr lang="en-US" sz="1000" dirty="0"/>
          </a:p>
        </p:txBody>
      </p:sp>
      <p:sp>
        <p:nvSpPr>
          <p:cNvPr id="14" name="Shape 12"/>
          <p:cNvSpPr/>
          <p:nvPr/>
        </p:nvSpPr>
        <p:spPr>
          <a:xfrm>
            <a:off x="228600" y="1627632"/>
            <a:ext cx="8686800" cy="548640"/>
          </a:xfrm>
          <a:prstGeom prst="rect">
            <a:avLst/>
          </a:prstGeom>
          <a:solidFill>
            <a:srgbClr val="FFFFFF"/>
          </a:solidFill>
          <a:ln w="3810">
            <a:solidFill>
              <a:srgbClr val="DDDDDD"/>
            </a:solidFill>
            <a:prstDash val="solid"/>
          </a:ln>
        </p:spPr>
      </p:sp>
      <p:sp>
        <p:nvSpPr>
          <p:cNvPr id="15" name="Shape 13"/>
          <p:cNvSpPr/>
          <p:nvPr/>
        </p:nvSpPr>
        <p:spPr>
          <a:xfrm>
            <a:off x="256032" y="1737360"/>
            <a:ext cx="548640" cy="329184"/>
          </a:xfrm>
          <a:prstGeom prst="rect">
            <a:avLst/>
          </a:prstGeom>
          <a:solidFill>
            <a:srgbClr val="375623"/>
          </a:solidFill>
          <a:ln w="12700">
            <a:solidFill>
              <a:srgbClr val="375623"/>
            </a:solidFill>
            <a:prstDash val="solid"/>
          </a:ln>
        </p:spPr>
      </p:sp>
      <p:sp>
        <p:nvSpPr>
          <p:cNvPr id="16" name="Text 14"/>
          <p:cNvSpPr/>
          <p:nvPr/>
        </p:nvSpPr>
        <p:spPr>
          <a:xfrm>
            <a:off x="256032" y="1737360"/>
            <a:ext cx="548640" cy="32918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PASS</a:t>
            </a:r>
            <a:endParaRPr lang="en-US" sz="900" dirty="0"/>
          </a:p>
        </p:txBody>
      </p:sp>
      <p:sp>
        <p:nvSpPr>
          <p:cNvPr id="17" name="Text 15"/>
          <p:cNvSpPr/>
          <p:nvPr/>
        </p:nvSpPr>
        <p:spPr>
          <a:xfrm>
            <a:off x="896112" y="1664208"/>
            <a:ext cx="2377440" cy="475488"/>
          </a:xfrm>
          <a:prstGeom prst="rect">
            <a:avLst/>
          </a:prstGeom>
          <a:noFill/>
          <a:ln/>
        </p:spPr>
        <p:txBody>
          <a:bodyPr wrap="square" rtlCol="0" anchor="ctr"/>
          <a:lstStyle/>
          <a:p>
            <a:pPr marL="0" indent="0">
              <a:buNone/>
            </a:pPr>
            <a:r>
              <a:rPr lang="en-US" sz="1100" b="1" dirty="0">
                <a:solidFill>
                  <a:srgbClr val="1F3864"/>
                </a:solidFill>
                <a:latin typeface="Calibri" pitchFamily="34" charset="0"/>
                <a:ea typeface="Calibri" pitchFamily="34" charset="-122"/>
                <a:cs typeface="Calibri" pitchFamily="34" charset="-120"/>
              </a:rPr>
              <a:t>No NULL foreign keys</a:t>
            </a:r>
            <a:endParaRPr lang="en-US" sz="1100" dirty="0"/>
          </a:p>
        </p:txBody>
      </p:sp>
      <p:sp>
        <p:nvSpPr>
          <p:cNvPr id="18" name="Text 16"/>
          <p:cNvSpPr/>
          <p:nvPr/>
        </p:nvSpPr>
        <p:spPr>
          <a:xfrm>
            <a:off x="3337560" y="1664208"/>
            <a:ext cx="5532120" cy="475488"/>
          </a:xfrm>
          <a:prstGeom prst="rect">
            <a:avLst/>
          </a:prstGeom>
          <a:noFill/>
          <a:ln/>
        </p:spPr>
        <p:txBody>
          <a:bodyPr wrap="square" rtlCol="0" anchor="ctr"/>
          <a:lstStyle/>
          <a:p>
            <a:pPr marL="0" indent="0">
              <a:buNone/>
            </a:pPr>
            <a:r>
              <a:rPr lang="en-US" sz="1000" dirty="0">
                <a:solidFill>
                  <a:srgbClr val="404040"/>
                </a:solidFill>
                <a:latin typeface="Calibri" pitchFamily="34" charset="0"/>
                <a:ea typeface="Calibri" pitchFamily="34" charset="-122"/>
                <a:cs typeface="Calibri" pitchFamily="34" charset="-120"/>
              </a:rPr>
              <a:t>Station_ID, Fuel_Type_ID, Date_ID, Region_ID — all show 0% Empty in Column Quality view</a:t>
            </a:r>
            <a:endParaRPr lang="en-US" sz="1000" dirty="0"/>
          </a:p>
        </p:txBody>
      </p:sp>
      <p:sp>
        <p:nvSpPr>
          <p:cNvPr id="19" name="Shape 17"/>
          <p:cNvSpPr/>
          <p:nvPr/>
        </p:nvSpPr>
        <p:spPr>
          <a:xfrm>
            <a:off x="228600" y="2249424"/>
            <a:ext cx="8686800" cy="548640"/>
          </a:xfrm>
          <a:prstGeom prst="rect">
            <a:avLst/>
          </a:prstGeom>
          <a:solidFill>
            <a:srgbClr val="F8FAFD"/>
          </a:solidFill>
          <a:ln w="3810">
            <a:solidFill>
              <a:srgbClr val="DDDDDD"/>
            </a:solidFill>
            <a:prstDash val="solid"/>
          </a:ln>
        </p:spPr>
      </p:sp>
      <p:sp>
        <p:nvSpPr>
          <p:cNvPr id="20" name="Shape 18"/>
          <p:cNvSpPr/>
          <p:nvPr/>
        </p:nvSpPr>
        <p:spPr>
          <a:xfrm>
            <a:off x="256032" y="2359152"/>
            <a:ext cx="548640" cy="329184"/>
          </a:xfrm>
          <a:prstGeom prst="rect">
            <a:avLst/>
          </a:prstGeom>
          <a:solidFill>
            <a:srgbClr val="375623"/>
          </a:solidFill>
          <a:ln w="12700">
            <a:solidFill>
              <a:srgbClr val="375623"/>
            </a:solidFill>
            <a:prstDash val="solid"/>
          </a:ln>
        </p:spPr>
      </p:sp>
      <p:sp>
        <p:nvSpPr>
          <p:cNvPr id="21" name="Text 19"/>
          <p:cNvSpPr/>
          <p:nvPr/>
        </p:nvSpPr>
        <p:spPr>
          <a:xfrm>
            <a:off x="256032" y="2359152"/>
            <a:ext cx="548640" cy="32918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PASS</a:t>
            </a:r>
            <a:endParaRPr lang="en-US" sz="900" dirty="0"/>
          </a:p>
        </p:txBody>
      </p:sp>
      <p:sp>
        <p:nvSpPr>
          <p:cNvPr id="22" name="Text 20"/>
          <p:cNvSpPr/>
          <p:nvPr/>
        </p:nvSpPr>
        <p:spPr>
          <a:xfrm>
            <a:off x="896112" y="2286000"/>
            <a:ext cx="2377440" cy="475488"/>
          </a:xfrm>
          <a:prstGeom prst="rect">
            <a:avLst/>
          </a:prstGeom>
          <a:noFill/>
          <a:ln/>
        </p:spPr>
        <p:txBody>
          <a:bodyPr wrap="square" rtlCol="0" anchor="ctr"/>
          <a:lstStyle/>
          <a:p>
            <a:pPr marL="0" indent="0">
              <a:buNone/>
            </a:pPr>
            <a:r>
              <a:rPr lang="en-US" sz="1100" b="1" dirty="0">
                <a:solidFill>
                  <a:srgbClr val="1F3864"/>
                </a:solidFill>
                <a:latin typeface="Calibri" pitchFamily="34" charset="0"/>
                <a:ea typeface="Calibri" pitchFamily="34" charset="-122"/>
                <a:cs typeface="Calibri" pitchFamily="34" charset="-120"/>
              </a:rPr>
              <a:t>Price range validation</a:t>
            </a:r>
            <a:endParaRPr lang="en-US" sz="1100" dirty="0"/>
          </a:p>
        </p:txBody>
      </p:sp>
      <p:sp>
        <p:nvSpPr>
          <p:cNvPr id="23" name="Text 21"/>
          <p:cNvSpPr/>
          <p:nvPr/>
        </p:nvSpPr>
        <p:spPr>
          <a:xfrm>
            <a:off x="3337560" y="2286000"/>
            <a:ext cx="5532120" cy="475488"/>
          </a:xfrm>
          <a:prstGeom prst="rect">
            <a:avLst/>
          </a:prstGeom>
          <a:noFill/>
          <a:ln/>
        </p:spPr>
        <p:txBody>
          <a:bodyPr wrap="square" rtlCol="0" anchor="ctr"/>
          <a:lstStyle/>
          <a:p>
            <a:pPr marL="0" indent="0">
              <a:buNone/>
            </a:pPr>
            <a:r>
              <a:rPr lang="en-US" sz="1000" dirty="0">
                <a:solidFill>
                  <a:srgbClr val="404040"/>
                </a:solidFill>
                <a:latin typeface="Calibri" pitchFamily="34" charset="0"/>
                <a:ea typeface="Calibri" pitchFamily="34" charset="-122"/>
                <a:cs typeface="Calibri" pitchFamily="34" charset="-120"/>
              </a:rPr>
              <a:t>Min: UGX 3,603 | Max: UGX 6,186 — both within realistic Ugandan range of UGX 3,500–6,500/litre</a:t>
            </a:r>
            <a:endParaRPr lang="en-US" sz="1000" dirty="0"/>
          </a:p>
        </p:txBody>
      </p:sp>
      <p:sp>
        <p:nvSpPr>
          <p:cNvPr id="24" name="Shape 22"/>
          <p:cNvSpPr/>
          <p:nvPr/>
        </p:nvSpPr>
        <p:spPr>
          <a:xfrm>
            <a:off x="228600" y="2871216"/>
            <a:ext cx="8686800" cy="548640"/>
          </a:xfrm>
          <a:prstGeom prst="rect">
            <a:avLst/>
          </a:prstGeom>
          <a:solidFill>
            <a:srgbClr val="FFFFFF"/>
          </a:solidFill>
          <a:ln w="3810">
            <a:solidFill>
              <a:srgbClr val="DDDDDD"/>
            </a:solidFill>
            <a:prstDash val="solid"/>
          </a:ln>
        </p:spPr>
      </p:sp>
      <p:sp>
        <p:nvSpPr>
          <p:cNvPr id="25" name="Shape 23"/>
          <p:cNvSpPr/>
          <p:nvPr/>
        </p:nvSpPr>
        <p:spPr>
          <a:xfrm>
            <a:off x="256032" y="2980944"/>
            <a:ext cx="548640" cy="329184"/>
          </a:xfrm>
          <a:prstGeom prst="rect">
            <a:avLst/>
          </a:prstGeom>
          <a:solidFill>
            <a:srgbClr val="375623"/>
          </a:solidFill>
          <a:ln w="12700">
            <a:solidFill>
              <a:srgbClr val="375623"/>
            </a:solidFill>
            <a:prstDash val="solid"/>
          </a:ln>
        </p:spPr>
      </p:sp>
      <p:sp>
        <p:nvSpPr>
          <p:cNvPr id="26" name="Text 24"/>
          <p:cNvSpPr/>
          <p:nvPr/>
        </p:nvSpPr>
        <p:spPr>
          <a:xfrm>
            <a:off x="256032" y="2980944"/>
            <a:ext cx="548640" cy="32918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PASS</a:t>
            </a:r>
            <a:endParaRPr lang="en-US" sz="900" dirty="0"/>
          </a:p>
        </p:txBody>
      </p:sp>
      <p:sp>
        <p:nvSpPr>
          <p:cNvPr id="27" name="Text 25"/>
          <p:cNvSpPr/>
          <p:nvPr/>
        </p:nvSpPr>
        <p:spPr>
          <a:xfrm>
            <a:off x="896112" y="2907792"/>
            <a:ext cx="2377440" cy="475488"/>
          </a:xfrm>
          <a:prstGeom prst="rect">
            <a:avLst/>
          </a:prstGeom>
          <a:noFill/>
          <a:ln/>
        </p:spPr>
        <p:txBody>
          <a:bodyPr wrap="square" rtlCol="0" anchor="ctr"/>
          <a:lstStyle/>
          <a:p>
            <a:pPr marL="0" indent="0">
              <a:buNone/>
            </a:pPr>
            <a:r>
              <a:rPr lang="en-US" sz="1100" b="1" dirty="0">
                <a:solidFill>
                  <a:srgbClr val="1F3864"/>
                </a:solidFill>
                <a:latin typeface="Calibri" pitchFamily="34" charset="0"/>
                <a:ea typeface="Calibri" pitchFamily="34" charset="-122"/>
                <a:cs typeface="Calibri" pitchFamily="34" charset="-120"/>
              </a:rPr>
              <a:t>Referential integrity</a:t>
            </a:r>
            <a:endParaRPr lang="en-US" sz="1100" dirty="0"/>
          </a:p>
        </p:txBody>
      </p:sp>
      <p:sp>
        <p:nvSpPr>
          <p:cNvPr id="28" name="Text 26"/>
          <p:cNvSpPr/>
          <p:nvPr/>
        </p:nvSpPr>
        <p:spPr>
          <a:xfrm>
            <a:off x="3337560" y="2907792"/>
            <a:ext cx="5532120" cy="475488"/>
          </a:xfrm>
          <a:prstGeom prst="rect">
            <a:avLst/>
          </a:prstGeom>
          <a:noFill/>
          <a:ln/>
        </p:spPr>
        <p:txBody>
          <a:bodyPr wrap="square" rtlCol="0" anchor="ctr"/>
          <a:lstStyle/>
          <a:p>
            <a:pPr marL="0" indent="0">
              <a:buNone/>
            </a:pPr>
            <a:r>
              <a:rPr lang="en-US" sz="1000" dirty="0">
                <a:solidFill>
                  <a:srgbClr val="404040"/>
                </a:solidFill>
                <a:latin typeface="Calibri" pitchFamily="34" charset="0"/>
                <a:ea typeface="Calibri" pitchFamily="34" charset="-122"/>
                <a:cs typeface="Calibri" pitchFamily="34" charset="-120"/>
              </a:rPr>
              <a:t>All 20 Station_IDs, 54 Date_IDs, and 3 Fuel_Type_IDs in fact table confirmed in matching dimension tables</a:t>
            </a:r>
            <a:endParaRPr lang="en-US" sz="1000" dirty="0"/>
          </a:p>
        </p:txBody>
      </p:sp>
      <p:sp>
        <p:nvSpPr>
          <p:cNvPr id="29" name="Shape 27"/>
          <p:cNvSpPr/>
          <p:nvPr/>
        </p:nvSpPr>
        <p:spPr>
          <a:xfrm>
            <a:off x="228600" y="3493008"/>
            <a:ext cx="8686800" cy="548640"/>
          </a:xfrm>
          <a:prstGeom prst="rect">
            <a:avLst/>
          </a:prstGeom>
          <a:solidFill>
            <a:srgbClr val="F8FAFD"/>
          </a:solidFill>
          <a:ln w="3810">
            <a:solidFill>
              <a:srgbClr val="DDDDDD"/>
            </a:solidFill>
            <a:prstDash val="solid"/>
          </a:ln>
        </p:spPr>
      </p:sp>
      <p:sp>
        <p:nvSpPr>
          <p:cNvPr id="30" name="Shape 28"/>
          <p:cNvSpPr/>
          <p:nvPr/>
        </p:nvSpPr>
        <p:spPr>
          <a:xfrm>
            <a:off x="256032" y="3602736"/>
            <a:ext cx="548640" cy="329184"/>
          </a:xfrm>
          <a:prstGeom prst="rect">
            <a:avLst/>
          </a:prstGeom>
          <a:solidFill>
            <a:srgbClr val="375623"/>
          </a:solidFill>
          <a:ln w="12700">
            <a:solidFill>
              <a:srgbClr val="375623"/>
            </a:solidFill>
            <a:prstDash val="solid"/>
          </a:ln>
        </p:spPr>
      </p:sp>
      <p:sp>
        <p:nvSpPr>
          <p:cNvPr id="31" name="Text 29"/>
          <p:cNvSpPr/>
          <p:nvPr/>
        </p:nvSpPr>
        <p:spPr>
          <a:xfrm>
            <a:off x="256032" y="3602736"/>
            <a:ext cx="548640" cy="32918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PASS</a:t>
            </a:r>
            <a:endParaRPr lang="en-US" sz="900" dirty="0"/>
          </a:p>
        </p:txBody>
      </p:sp>
      <p:sp>
        <p:nvSpPr>
          <p:cNvPr id="32" name="Text 30"/>
          <p:cNvSpPr/>
          <p:nvPr/>
        </p:nvSpPr>
        <p:spPr>
          <a:xfrm>
            <a:off x="896112" y="3529584"/>
            <a:ext cx="2377440" cy="475488"/>
          </a:xfrm>
          <a:prstGeom prst="rect">
            <a:avLst/>
          </a:prstGeom>
          <a:noFill/>
          <a:ln/>
        </p:spPr>
        <p:txBody>
          <a:bodyPr wrap="square" rtlCol="0" anchor="ctr"/>
          <a:lstStyle/>
          <a:p>
            <a:pPr marL="0" indent="0">
              <a:buNone/>
            </a:pPr>
            <a:r>
              <a:rPr lang="en-US" sz="1100" b="1" dirty="0">
                <a:solidFill>
                  <a:srgbClr val="1F3864"/>
                </a:solidFill>
                <a:latin typeface="Calibri" pitchFamily="34" charset="0"/>
                <a:ea typeface="Calibri" pitchFamily="34" charset="-122"/>
                <a:cs typeface="Calibri" pitchFamily="34" charset="-120"/>
              </a:rPr>
              <a:t>Data type validation</a:t>
            </a:r>
            <a:endParaRPr lang="en-US" sz="1100" dirty="0"/>
          </a:p>
        </p:txBody>
      </p:sp>
      <p:sp>
        <p:nvSpPr>
          <p:cNvPr id="33" name="Text 31"/>
          <p:cNvSpPr/>
          <p:nvPr/>
        </p:nvSpPr>
        <p:spPr>
          <a:xfrm>
            <a:off x="3337560" y="3529584"/>
            <a:ext cx="5532120" cy="475488"/>
          </a:xfrm>
          <a:prstGeom prst="rect">
            <a:avLst/>
          </a:prstGeom>
          <a:noFill/>
          <a:ln/>
        </p:spPr>
        <p:txBody>
          <a:bodyPr wrap="square" rtlCol="0" anchor="ctr"/>
          <a:lstStyle/>
          <a:p>
            <a:pPr marL="0" indent="0">
              <a:buNone/>
            </a:pPr>
            <a:r>
              <a:rPr lang="en-US" sz="1000" dirty="0">
                <a:solidFill>
                  <a:srgbClr val="404040"/>
                </a:solidFill>
                <a:latin typeface="Calibri" pitchFamily="34" charset="0"/>
                <a:ea typeface="Calibri" pitchFamily="34" charset="-122"/>
                <a:cs typeface="Calibri" pitchFamily="34" charset="-120"/>
              </a:rPr>
              <a:t>Price_UGX = Currency | Date_ID = Text | Year/Month/Quarter = Whole Number — all confirmed</a:t>
            </a:r>
            <a:endParaRPr lang="en-US" sz="1000" dirty="0"/>
          </a:p>
        </p:txBody>
      </p:sp>
      <p:sp>
        <p:nvSpPr>
          <p:cNvPr id="34" name="Shape 32"/>
          <p:cNvSpPr/>
          <p:nvPr/>
        </p:nvSpPr>
        <p:spPr>
          <a:xfrm>
            <a:off x="228600" y="4114800"/>
            <a:ext cx="8686800" cy="548640"/>
          </a:xfrm>
          <a:prstGeom prst="rect">
            <a:avLst/>
          </a:prstGeom>
          <a:solidFill>
            <a:srgbClr val="FFFFFF"/>
          </a:solidFill>
          <a:ln w="3810">
            <a:solidFill>
              <a:srgbClr val="DDDDDD"/>
            </a:solidFill>
            <a:prstDash val="solid"/>
          </a:ln>
        </p:spPr>
      </p:sp>
      <p:sp>
        <p:nvSpPr>
          <p:cNvPr id="35" name="Shape 33"/>
          <p:cNvSpPr/>
          <p:nvPr/>
        </p:nvSpPr>
        <p:spPr>
          <a:xfrm>
            <a:off x="256032" y="4224528"/>
            <a:ext cx="548640" cy="329184"/>
          </a:xfrm>
          <a:prstGeom prst="rect">
            <a:avLst/>
          </a:prstGeom>
          <a:solidFill>
            <a:srgbClr val="375623"/>
          </a:solidFill>
          <a:ln w="12700">
            <a:solidFill>
              <a:srgbClr val="375623"/>
            </a:solidFill>
            <a:prstDash val="solid"/>
          </a:ln>
        </p:spPr>
      </p:sp>
      <p:sp>
        <p:nvSpPr>
          <p:cNvPr id="36" name="Text 34"/>
          <p:cNvSpPr/>
          <p:nvPr/>
        </p:nvSpPr>
        <p:spPr>
          <a:xfrm>
            <a:off x="256032" y="4224528"/>
            <a:ext cx="548640" cy="32918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PASS</a:t>
            </a:r>
            <a:endParaRPr lang="en-US" sz="900" dirty="0"/>
          </a:p>
        </p:txBody>
      </p:sp>
      <p:sp>
        <p:nvSpPr>
          <p:cNvPr id="37" name="Text 35"/>
          <p:cNvSpPr/>
          <p:nvPr/>
        </p:nvSpPr>
        <p:spPr>
          <a:xfrm>
            <a:off x="896112" y="4151376"/>
            <a:ext cx="2377440" cy="475488"/>
          </a:xfrm>
          <a:prstGeom prst="rect">
            <a:avLst/>
          </a:prstGeom>
          <a:noFill/>
          <a:ln/>
        </p:spPr>
        <p:txBody>
          <a:bodyPr wrap="square" rtlCol="0" anchor="ctr"/>
          <a:lstStyle/>
          <a:p>
            <a:pPr marL="0" indent="0">
              <a:buNone/>
            </a:pPr>
            <a:r>
              <a:rPr lang="en-US" sz="1100" b="1" dirty="0">
                <a:solidFill>
                  <a:srgbClr val="1F3864"/>
                </a:solidFill>
                <a:latin typeface="Calibri" pitchFamily="34" charset="0"/>
                <a:ea typeface="Calibri" pitchFamily="34" charset="-122"/>
                <a:cs typeface="Calibri" pitchFamily="34" charset="-120"/>
              </a:rPr>
              <a:t>Row count validation</a:t>
            </a:r>
            <a:endParaRPr lang="en-US" sz="1100" dirty="0"/>
          </a:p>
        </p:txBody>
      </p:sp>
      <p:sp>
        <p:nvSpPr>
          <p:cNvPr id="38" name="Text 36"/>
          <p:cNvSpPr/>
          <p:nvPr/>
        </p:nvSpPr>
        <p:spPr>
          <a:xfrm>
            <a:off x="3337560" y="4151376"/>
            <a:ext cx="5532120" cy="475488"/>
          </a:xfrm>
          <a:prstGeom prst="rect">
            <a:avLst/>
          </a:prstGeom>
          <a:noFill/>
          <a:ln/>
        </p:spPr>
        <p:txBody>
          <a:bodyPr wrap="square" rtlCol="0" anchor="ctr"/>
          <a:lstStyle/>
          <a:p>
            <a:pPr marL="0" indent="0">
              <a:buNone/>
            </a:pPr>
            <a:r>
              <a:rPr lang="en-US" sz="1000" dirty="0">
                <a:solidFill>
                  <a:srgbClr val="404040"/>
                </a:solidFill>
                <a:latin typeface="Calibri" pitchFamily="34" charset="0"/>
                <a:ea typeface="Calibri" pitchFamily="34" charset="-122"/>
                <a:cs typeface="Calibri" pitchFamily="34" charset="-120"/>
              </a:rPr>
              <a:t>3,240 rows = 20 stations × 3 fuel types × 54 months — mathematical confirmation</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F3864"/>
          </a:solidFill>
          <a:ln w="12700">
            <a:solidFill>
              <a:srgbClr val="1F3864"/>
            </a:solidFill>
            <a:prstDash val="solid"/>
          </a:ln>
        </p:spPr>
      </p:sp>
      <p:sp>
        <p:nvSpPr>
          <p:cNvPr id="3" name="Shape 1"/>
          <p:cNvSpPr/>
          <p:nvPr/>
        </p:nvSpPr>
        <p:spPr>
          <a:xfrm>
            <a:off x="0" y="777240"/>
            <a:ext cx="9144000" cy="54864"/>
          </a:xfrm>
          <a:prstGeom prst="rect">
            <a:avLst/>
          </a:prstGeom>
          <a:solidFill>
            <a:srgbClr val="C9A84C"/>
          </a:solidFill>
          <a:ln w="12700">
            <a:solidFill>
              <a:srgbClr val="C9A84C"/>
            </a:solidFill>
            <a:prstDash val="solid"/>
          </a:ln>
        </p:spPr>
      </p:sp>
      <p:sp>
        <p:nvSpPr>
          <p:cNvPr id="4" name="Text 2"/>
          <p:cNvSpPr/>
          <p:nvPr/>
        </p:nvSpPr>
        <p:spPr>
          <a:xfrm>
            <a:off x="274320" y="36576"/>
            <a:ext cx="8595360" cy="713232"/>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Project Summary — What We Delivered</a:t>
            </a:r>
            <a:endParaRPr lang="en-US" sz="2000" dirty="0"/>
          </a:p>
        </p:txBody>
      </p:sp>
      <p:sp>
        <p:nvSpPr>
          <p:cNvPr id="5" name="Shape 3"/>
          <p:cNvSpPr/>
          <p:nvPr/>
        </p:nvSpPr>
        <p:spPr>
          <a:xfrm>
            <a:off x="0" y="4892040"/>
            <a:ext cx="9144000" cy="256032"/>
          </a:xfrm>
          <a:prstGeom prst="rect">
            <a:avLst/>
          </a:prstGeom>
          <a:solidFill>
            <a:srgbClr val="F0F0F0"/>
          </a:solidFill>
          <a:ln w="12700">
            <a:solidFill>
              <a:srgbClr val="DDDDDD"/>
            </a:solidFill>
            <a:prstDash val="solid"/>
          </a:ln>
        </p:spPr>
      </p:sp>
      <p:sp>
        <p:nvSpPr>
          <p:cNvPr id="6" name="Text 4"/>
          <p:cNvSpPr/>
          <p:nvPr/>
        </p:nvSpPr>
        <p:spPr>
          <a:xfrm>
            <a:off x="182880" y="4910328"/>
            <a:ext cx="7315200" cy="201168"/>
          </a:xfrm>
          <a:prstGeom prst="rect">
            <a:avLst/>
          </a:prstGeom>
          <a:noFill/>
          <a:ln/>
        </p:spPr>
        <p:txBody>
          <a:bodyPr wrap="square" rtlCol="0" anchor="ctr"/>
          <a:lstStyle/>
          <a:p>
            <a:pPr marL="0" indent="0">
              <a:buNone/>
            </a:pPr>
            <a:r>
              <a:rPr lang="en-US" sz="800" dirty="0">
                <a:solidFill>
                  <a:srgbClr val="888888"/>
                </a:solidFill>
                <a:latin typeface="Calibri" pitchFamily="34" charset="0"/>
                <a:ea typeface="Calibri" pitchFamily="34" charset="-122"/>
                <a:cs typeface="Calibri" pitchFamily="34" charset="-120"/>
              </a:rPr>
              <a:t>Uganda Fuel Price &amp; Consumption Data Warehouse  |  Group 4  |  College of Computing and Informatics Technology</a:t>
            </a:r>
            <a:endParaRPr lang="en-US" sz="800" dirty="0"/>
          </a:p>
        </p:txBody>
      </p:sp>
      <p:sp>
        <p:nvSpPr>
          <p:cNvPr id="7" name="Text 5"/>
          <p:cNvSpPr/>
          <p:nvPr/>
        </p:nvSpPr>
        <p:spPr>
          <a:xfrm>
            <a:off x="8229600" y="4910328"/>
            <a:ext cx="731520" cy="201168"/>
          </a:xfrm>
          <a:prstGeom prst="rect">
            <a:avLst/>
          </a:prstGeom>
          <a:noFill/>
          <a:ln/>
        </p:spPr>
        <p:txBody>
          <a:bodyPr wrap="square" rtlCol="0" anchor="ctr"/>
          <a:lstStyle/>
          <a:p>
            <a:pPr marL="0" indent="0" algn="r">
              <a:buNone/>
            </a:pPr>
            <a:r>
              <a:rPr lang="en-US" sz="800" dirty="0">
                <a:solidFill>
                  <a:srgbClr val="888888"/>
                </a:solidFill>
                <a:latin typeface="Calibri" pitchFamily="34" charset="0"/>
                <a:ea typeface="Calibri" pitchFamily="34" charset="-122"/>
                <a:cs typeface="Calibri" pitchFamily="34" charset="-120"/>
              </a:rPr>
              <a:t>17 / 18</a:t>
            </a:r>
            <a:endParaRPr lang="en-US" sz="800" dirty="0"/>
          </a:p>
        </p:txBody>
      </p:sp>
      <p:sp>
        <p:nvSpPr>
          <p:cNvPr id="8" name="Shape 6"/>
          <p:cNvSpPr/>
          <p:nvPr/>
        </p:nvSpPr>
        <p:spPr>
          <a:xfrm>
            <a:off x="228600" y="1005840"/>
            <a:ext cx="2834640" cy="1783080"/>
          </a:xfrm>
          <a:prstGeom prst="rect">
            <a:avLst/>
          </a:prstGeom>
          <a:solidFill>
            <a:srgbClr val="F8FAFD"/>
          </a:solidFill>
          <a:ln w="22860">
            <a:solidFill>
              <a:srgbClr val="1F3864"/>
            </a:solidFill>
            <a:prstDash val="solid"/>
          </a:ln>
        </p:spPr>
      </p:sp>
      <p:sp>
        <p:nvSpPr>
          <p:cNvPr id="9" name="Shape 7"/>
          <p:cNvSpPr/>
          <p:nvPr/>
        </p:nvSpPr>
        <p:spPr>
          <a:xfrm>
            <a:off x="228600" y="1005840"/>
            <a:ext cx="2834640" cy="384048"/>
          </a:xfrm>
          <a:prstGeom prst="rect">
            <a:avLst/>
          </a:prstGeom>
          <a:solidFill>
            <a:srgbClr val="1F3864"/>
          </a:solidFill>
          <a:ln w="12700">
            <a:solidFill>
              <a:srgbClr val="1F3864"/>
            </a:solidFill>
            <a:prstDash val="solid"/>
          </a:ln>
        </p:spPr>
      </p:sp>
      <p:sp>
        <p:nvSpPr>
          <p:cNvPr id="10" name="Text 8"/>
          <p:cNvSpPr/>
          <p:nvPr/>
        </p:nvSpPr>
        <p:spPr>
          <a:xfrm>
            <a:off x="228600" y="1005840"/>
            <a:ext cx="2834640"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Dataset</a:t>
            </a:r>
            <a:endParaRPr lang="en-US" sz="1200" dirty="0"/>
          </a:p>
        </p:txBody>
      </p:sp>
      <p:sp>
        <p:nvSpPr>
          <p:cNvPr id="11" name="Text 9"/>
          <p:cNvSpPr/>
          <p:nvPr/>
        </p:nvSpPr>
        <p:spPr>
          <a:xfrm>
            <a:off x="320040" y="1444752"/>
            <a:ext cx="2651760" cy="1298448"/>
          </a:xfrm>
          <a:prstGeom prst="rect">
            <a:avLst/>
          </a:prstGeom>
          <a:noFill/>
          <a:ln/>
        </p:spPr>
        <p:txBody>
          <a:bodyPr wrap="square" rtlCol="0" anchor="ctr"/>
          <a:lstStyle/>
          <a:p>
            <a:pPr marL="0" indent="0" algn="ctr">
              <a:buNone/>
            </a:pPr>
            <a:r>
              <a:rPr lang="en-US" sz="1100" dirty="0">
                <a:solidFill>
                  <a:srgbClr val="404040"/>
                </a:solidFill>
                <a:latin typeface="Calibri" pitchFamily="34" charset="0"/>
                <a:ea typeface="Calibri" pitchFamily="34" charset="-122"/>
                <a:cs typeface="Calibri" pitchFamily="34" charset="-120"/>
              </a:rPr>
              <a:t>3,240 fact records</a:t>
            </a:r>
            <a:endParaRPr lang="en-US" sz="1100" dirty="0"/>
          </a:p>
          <a:p>
            <a:pPr marL="0" indent="0" algn="ctr">
              <a:buNone/>
            </a:pPr>
            <a:r>
              <a:rPr lang="en-US" sz="1100" dirty="0">
                <a:solidFill>
                  <a:srgbClr val="404040"/>
                </a:solidFill>
                <a:latin typeface="Calibri" pitchFamily="34" charset="0"/>
                <a:ea typeface="Calibri" pitchFamily="34" charset="-122"/>
                <a:cs typeface="Calibri" pitchFamily="34" charset="-120"/>
              </a:rPr>
              <a:t>20 stations | 4 regions</a:t>
            </a:r>
            <a:endParaRPr lang="en-US" sz="1100" dirty="0"/>
          </a:p>
          <a:p>
            <a:pPr marL="0" indent="0" algn="ctr">
              <a:buNone/>
            </a:pPr>
            <a:r>
              <a:rPr lang="en-US" sz="1100" dirty="0">
                <a:solidFill>
                  <a:srgbClr val="404040"/>
                </a:solidFill>
                <a:latin typeface="Calibri" pitchFamily="34" charset="0"/>
                <a:ea typeface="Calibri" pitchFamily="34" charset="-122"/>
                <a:cs typeface="Calibri" pitchFamily="34" charset="-120"/>
              </a:rPr>
              <a:t>3 fuel types | 54 months</a:t>
            </a:r>
            <a:endParaRPr lang="en-US" sz="1100" dirty="0"/>
          </a:p>
          <a:p>
            <a:pPr marL="0" indent="0" algn="ctr">
              <a:buNone/>
            </a:pPr>
            <a:r>
              <a:rPr lang="en-US" sz="1100" dirty="0">
                <a:solidFill>
                  <a:srgbClr val="404040"/>
                </a:solidFill>
                <a:latin typeface="Calibri" pitchFamily="34" charset="0"/>
                <a:ea typeface="Calibri" pitchFamily="34" charset="-122"/>
                <a:cs typeface="Calibri" pitchFamily="34" charset="-120"/>
              </a:rPr>
              <a:t>Jan 2021 – Jun 2025</a:t>
            </a:r>
            <a:endParaRPr lang="en-US" sz="1100" dirty="0"/>
          </a:p>
        </p:txBody>
      </p:sp>
      <p:sp>
        <p:nvSpPr>
          <p:cNvPr id="12" name="Shape 10"/>
          <p:cNvSpPr/>
          <p:nvPr/>
        </p:nvSpPr>
        <p:spPr>
          <a:xfrm>
            <a:off x="3200400" y="1005840"/>
            <a:ext cx="2834640" cy="1783080"/>
          </a:xfrm>
          <a:prstGeom prst="rect">
            <a:avLst/>
          </a:prstGeom>
          <a:solidFill>
            <a:srgbClr val="F8FAFD"/>
          </a:solidFill>
          <a:ln w="22860">
            <a:solidFill>
              <a:srgbClr val="375623"/>
            </a:solidFill>
            <a:prstDash val="solid"/>
          </a:ln>
        </p:spPr>
      </p:sp>
      <p:sp>
        <p:nvSpPr>
          <p:cNvPr id="13" name="Shape 11"/>
          <p:cNvSpPr/>
          <p:nvPr/>
        </p:nvSpPr>
        <p:spPr>
          <a:xfrm>
            <a:off x="3200400" y="1005840"/>
            <a:ext cx="2834640" cy="384048"/>
          </a:xfrm>
          <a:prstGeom prst="rect">
            <a:avLst/>
          </a:prstGeom>
          <a:solidFill>
            <a:srgbClr val="375623"/>
          </a:solidFill>
          <a:ln w="12700">
            <a:solidFill>
              <a:srgbClr val="375623"/>
            </a:solidFill>
            <a:prstDash val="solid"/>
          </a:ln>
        </p:spPr>
      </p:sp>
      <p:sp>
        <p:nvSpPr>
          <p:cNvPr id="14" name="Text 12"/>
          <p:cNvSpPr/>
          <p:nvPr/>
        </p:nvSpPr>
        <p:spPr>
          <a:xfrm>
            <a:off x="3200400" y="1005840"/>
            <a:ext cx="2834640"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Star Schema</a:t>
            </a:r>
            <a:endParaRPr lang="en-US" sz="1200" dirty="0"/>
          </a:p>
        </p:txBody>
      </p:sp>
      <p:sp>
        <p:nvSpPr>
          <p:cNvPr id="15" name="Text 13"/>
          <p:cNvSpPr/>
          <p:nvPr/>
        </p:nvSpPr>
        <p:spPr>
          <a:xfrm>
            <a:off x="3291840" y="1444752"/>
            <a:ext cx="2651760" cy="1298448"/>
          </a:xfrm>
          <a:prstGeom prst="rect">
            <a:avLst/>
          </a:prstGeom>
          <a:noFill/>
          <a:ln/>
        </p:spPr>
        <p:txBody>
          <a:bodyPr wrap="square" rtlCol="0" anchor="ctr"/>
          <a:lstStyle/>
          <a:p>
            <a:pPr marL="0" indent="0" algn="ctr">
              <a:buNone/>
            </a:pPr>
            <a:r>
              <a:rPr lang="en-US" sz="1100" dirty="0">
                <a:solidFill>
                  <a:srgbClr val="404040"/>
                </a:solidFill>
                <a:latin typeface="Calibri" pitchFamily="34" charset="0"/>
                <a:ea typeface="Calibri" pitchFamily="34" charset="-122"/>
                <a:cs typeface="Calibri" pitchFamily="34" charset="-120"/>
              </a:rPr>
              <a:t>1 fact table</a:t>
            </a:r>
            <a:endParaRPr lang="en-US" sz="1100" dirty="0"/>
          </a:p>
          <a:p>
            <a:pPr marL="0" indent="0" algn="ctr">
              <a:buNone/>
            </a:pPr>
            <a:r>
              <a:rPr lang="en-US" sz="1100" dirty="0">
                <a:solidFill>
                  <a:srgbClr val="404040"/>
                </a:solidFill>
                <a:latin typeface="Calibri" pitchFamily="34" charset="0"/>
                <a:ea typeface="Calibri" pitchFamily="34" charset="-122"/>
                <a:cs typeface="Calibri" pitchFamily="34" charset="-120"/>
              </a:rPr>
              <a:t>4 dimension tables</a:t>
            </a:r>
            <a:endParaRPr lang="en-US" sz="1100" dirty="0"/>
          </a:p>
          <a:p>
            <a:pPr marL="0" indent="0" algn="ctr">
              <a:buNone/>
            </a:pPr>
            <a:r>
              <a:rPr lang="en-US" sz="1100" dirty="0">
                <a:solidFill>
                  <a:srgbClr val="404040"/>
                </a:solidFill>
                <a:latin typeface="Calibri" pitchFamily="34" charset="0"/>
                <a:ea typeface="Calibri" pitchFamily="34" charset="-122"/>
                <a:cs typeface="Calibri" pitchFamily="34" charset="-120"/>
              </a:rPr>
              <a:t>1 reference table</a:t>
            </a:r>
            <a:endParaRPr lang="en-US" sz="1100" dirty="0"/>
          </a:p>
          <a:p>
            <a:pPr marL="0" indent="0" algn="ctr">
              <a:buNone/>
            </a:pPr>
            <a:r>
              <a:rPr lang="en-US" sz="1100" dirty="0">
                <a:solidFill>
                  <a:srgbClr val="404040"/>
                </a:solidFill>
                <a:latin typeface="Calibri" pitchFamily="34" charset="0"/>
                <a:ea typeface="Calibri" pitchFamily="34" charset="-122"/>
                <a:cs typeface="Calibri" pitchFamily="34" charset="-120"/>
              </a:rPr>
              <a:t>All relationships verified</a:t>
            </a:r>
            <a:endParaRPr lang="en-US" sz="1100" dirty="0"/>
          </a:p>
        </p:txBody>
      </p:sp>
      <p:sp>
        <p:nvSpPr>
          <p:cNvPr id="16" name="Shape 14"/>
          <p:cNvSpPr/>
          <p:nvPr/>
        </p:nvSpPr>
        <p:spPr>
          <a:xfrm>
            <a:off x="6172200" y="1005840"/>
            <a:ext cx="2834640" cy="1783080"/>
          </a:xfrm>
          <a:prstGeom prst="rect">
            <a:avLst/>
          </a:prstGeom>
          <a:solidFill>
            <a:srgbClr val="F8FAFD"/>
          </a:solidFill>
          <a:ln w="22860">
            <a:solidFill>
              <a:srgbClr val="3C3489"/>
            </a:solidFill>
            <a:prstDash val="solid"/>
          </a:ln>
        </p:spPr>
      </p:sp>
      <p:sp>
        <p:nvSpPr>
          <p:cNvPr id="17" name="Shape 15"/>
          <p:cNvSpPr/>
          <p:nvPr/>
        </p:nvSpPr>
        <p:spPr>
          <a:xfrm>
            <a:off x="6172200" y="1005840"/>
            <a:ext cx="2834640" cy="384048"/>
          </a:xfrm>
          <a:prstGeom prst="rect">
            <a:avLst/>
          </a:prstGeom>
          <a:solidFill>
            <a:srgbClr val="3C3489"/>
          </a:solidFill>
          <a:ln w="12700">
            <a:solidFill>
              <a:srgbClr val="3C3489"/>
            </a:solidFill>
            <a:prstDash val="solid"/>
          </a:ln>
        </p:spPr>
      </p:sp>
      <p:sp>
        <p:nvSpPr>
          <p:cNvPr id="18" name="Text 16"/>
          <p:cNvSpPr/>
          <p:nvPr/>
        </p:nvSpPr>
        <p:spPr>
          <a:xfrm>
            <a:off x="6172200" y="1005840"/>
            <a:ext cx="2834640"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ETL Pipeline</a:t>
            </a:r>
            <a:endParaRPr lang="en-US" sz="1200" dirty="0"/>
          </a:p>
        </p:txBody>
      </p:sp>
      <p:sp>
        <p:nvSpPr>
          <p:cNvPr id="19" name="Text 17"/>
          <p:cNvSpPr/>
          <p:nvPr/>
        </p:nvSpPr>
        <p:spPr>
          <a:xfrm>
            <a:off x="6263640" y="1444752"/>
            <a:ext cx="2651760" cy="1298448"/>
          </a:xfrm>
          <a:prstGeom prst="rect">
            <a:avLst/>
          </a:prstGeom>
          <a:noFill/>
          <a:ln/>
        </p:spPr>
        <p:txBody>
          <a:bodyPr wrap="square" rtlCol="0" anchor="ctr"/>
          <a:lstStyle/>
          <a:p>
            <a:pPr marL="0" indent="0" algn="ctr">
              <a:buNone/>
            </a:pPr>
            <a:r>
              <a:rPr lang="en-US" sz="1100" dirty="0">
                <a:solidFill>
                  <a:srgbClr val="404040"/>
                </a:solidFill>
                <a:latin typeface="Calibri" pitchFamily="34" charset="0"/>
                <a:ea typeface="Calibri" pitchFamily="34" charset="-122"/>
                <a:cs typeface="Calibri" pitchFamily="34" charset="-120"/>
              </a:rPr>
              <a:t>3-layer Power Query</a:t>
            </a:r>
            <a:endParaRPr lang="en-US" sz="1100" dirty="0"/>
          </a:p>
          <a:p>
            <a:pPr marL="0" indent="0" algn="ctr">
              <a:buNone/>
            </a:pPr>
            <a:r>
              <a:rPr lang="en-US" sz="1100" dirty="0">
                <a:solidFill>
                  <a:srgbClr val="404040"/>
                </a:solidFill>
                <a:latin typeface="Calibri" pitchFamily="34" charset="0"/>
                <a:ea typeface="Calibri" pitchFamily="34" charset="-122"/>
                <a:cs typeface="Calibri" pitchFamily="34" charset="-120"/>
              </a:rPr>
              <a:t>Staging → Transform → Load</a:t>
            </a:r>
            <a:endParaRPr lang="en-US" sz="1100" dirty="0"/>
          </a:p>
          <a:p>
            <a:pPr marL="0" indent="0" algn="ctr">
              <a:buNone/>
            </a:pPr>
            <a:r>
              <a:rPr lang="en-US" sz="1100" dirty="0">
                <a:solidFill>
                  <a:srgbClr val="404040"/>
                </a:solidFill>
                <a:latin typeface="Calibri" pitchFamily="34" charset="0"/>
                <a:ea typeface="Calibri" pitchFamily="34" charset="-122"/>
                <a:cs typeface="Calibri" pitchFamily="34" charset="-120"/>
              </a:rPr>
              <a:t>Full step documentation</a:t>
            </a:r>
            <a:endParaRPr lang="en-US" sz="1100" dirty="0"/>
          </a:p>
          <a:p>
            <a:pPr marL="0" indent="0" algn="ctr">
              <a:buNone/>
            </a:pPr>
            <a:r>
              <a:rPr lang="en-US" sz="1100" dirty="0">
                <a:solidFill>
                  <a:srgbClr val="404040"/>
                </a:solidFill>
                <a:latin typeface="Calibri" pitchFamily="34" charset="0"/>
                <a:ea typeface="Calibri" pitchFamily="34" charset="-122"/>
                <a:cs typeface="Calibri" pitchFamily="34" charset="-120"/>
              </a:rPr>
              <a:t>100% data quality</a:t>
            </a:r>
            <a:endParaRPr lang="en-US" sz="1100" dirty="0"/>
          </a:p>
        </p:txBody>
      </p:sp>
      <p:sp>
        <p:nvSpPr>
          <p:cNvPr id="20" name="Shape 18"/>
          <p:cNvSpPr/>
          <p:nvPr/>
        </p:nvSpPr>
        <p:spPr>
          <a:xfrm>
            <a:off x="228600" y="2971800"/>
            <a:ext cx="2834640" cy="1783080"/>
          </a:xfrm>
          <a:prstGeom prst="rect">
            <a:avLst/>
          </a:prstGeom>
          <a:solidFill>
            <a:srgbClr val="F8FAFD"/>
          </a:solidFill>
          <a:ln w="22860">
            <a:solidFill>
              <a:srgbClr val="0F6E56"/>
            </a:solidFill>
            <a:prstDash val="solid"/>
          </a:ln>
        </p:spPr>
      </p:sp>
      <p:sp>
        <p:nvSpPr>
          <p:cNvPr id="21" name="Shape 19"/>
          <p:cNvSpPr/>
          <p:nvPr/>
        </p:nvSpPr>
        <p:spPr>
          <a:xfrm>
            <a:off x="228600" y="2971800"/>
            <a:ext cx="2834640" cy="384048"/>
          </a:xfrm>
          <a:prstGeom prst="rect">
            <a:avLst/>
          </a:prstGeom>
          <a:solidFill>
            <a:srgbClr val="0F6E56"/>
          </a:solidFill>
          <a:ln w="12700">
            <a:solidFill>
              <a:srgbClr val="0F6E56"/>
            </a:solidFill>
            <a:prstDash val="solid"/>
          </a:ln>
        </p:spPr>
      </p:sp>
      <p:sp>
        <p:nvSpPr>
          <p:cNvPr id="22" name="Text 20"/>
          <p:cNvSpPr/>
          <p:nvPr/>
        </p:nvSpPr>
        <p:spPr>
          <a:xfrm>
            <a:off x="228600" y="2971800"/>
            <a:ext cx="2834640"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DAX Measures</a:t>
            </a:r>
            <a:endParaRPr lang="en-US" sz="1200" dirty="0"/>
          </a:p>
        </p:txBody>
      </p:sp>
      <p:sp>
        <p:nvSpPr>
          <p:cNvPr id="23" name="Text 21"/>
          <p:cNvSpPr/>
          <p:nvPr/>
        </p:nvSpPr>
        <p:spPr>
          <a:xfrm>
            <a:off x="320040" y="3410712"/>
            <a:ext cx="2651760" cy="1298448"/>
          </a:xfrm>
          <a:prstGeom prst="rect">
            <a:avLst/>
          </a:prstGeom>
          <a:noFill/>
          <a:ln/>
        </p:spPr>
        <p:txBody>
          <a:bodyPr wrap="square" rtlCol="0" anchor="ctr"/>
          <a:lstStyle/>
          <a:p>
            <a:pPr marL="0" indent="0" algn="ctr">
              <a:buNone/>
            </a:pPr>
            <a:r>
              <a:rPr lang="en-US" sz="1100" dirty="0">
                <a:solidFill>
                  <a:srgbClr val="404040"/>
                </a:solidFill>
                <a:latin typeface="Calibri" pitchFamily="34" charset="0"/>
                <a:ea typeface="Calibri" pitchFamily="34" charset="-122"/>
                <a:cs typeface="Calibri" pitchFamily="34" charset="-120"/>
              </a:rPr>
              <a:t>6 calculated measures</a:t>
            </a:r>
            <a:endParaRPr lang="en-US" sz="1100" dirty="0"/>
          </a:p>
          <a:p>
            <a:pPr marL="0" indent="0" algn="ctr">
              <a:buNone/>
            </a:pPr>
            <a:r>
              <a:rPr lang="en-US" sz="1100" dirty="0">
                <a:solidFill>
                  <a:srgbClr val="404040"/>
                </a:solidFill>
                <a:latin typeface="Calibri" pitchFamily="34" charset="0"/>
                <a:ea typeface="Calibri" pitchFamily="34" charset="-122"/>
                <a:cs typeface="Calibri" pitchFamily="34" charset="-120"/>
              </a:rPr>
              <a:t>Avg Price, Revenue</a:t>
            </a:r>
            <a:endParaRPr lang="en-US" sz="1100" dirty="0"/>
          </a:p>
          <a:p>
            <a:pPr marL="0" indent="0" algn="ctr">
              <a:buNone/>
            </a:pPr>
            <a:r>
              <a:rPr lang="en-US" sz="1100" dirty="0">
                <a:solidFill>
                  <a:srgbClr val="404040"/>
                </a:solidFill>
                <a:latin typeface="Calibri" pitchFamily="34" charset="0"/>
                <a:ea typeface="Calibri" pitchFamily="34" charset="-122"/>
                <a:cs typeface="Calibri" pitchFamily="34" charset="-120"/>
              </a:rPr>
              <a:t>UNOC Impact %</a:t>
            </a:r>
            <a:endParaRPr lang="en-US" sz="1100" dirty="0"/>
          </a:p>
          <a:p>
            <a:pPr marL="0" indent="0" algn="ctr">
              <a:buNone/>
            </a:pPr>
            <a:r>
              <a:rPr lang="en-US" sz="1100" dirty="0">
                <a:solidFill>
                  <a:srgbClr val="404040"/>
                </a:solidFill>
                <a:latin typeface="Calibri" pitchFamily="34" charset="0"/>
                <a:ea typeface="Calibri" pitchFamily="34" charset="-122"/>
                <a:cs typeface="Calibri" pitchFamily="34" charset="-120"/>
              </a:rPr>
              <a:t>Fuel type gap</a:t>
            </a:r>
            <a:endParaRPr lang="en-US" sz="1100" dirty="0"/>
          </a:p>
        </p:txBody>
      </p:sp>
      <p:sp>
        <p:nvSpPr>
          <p:cNvPr id="24" name="Shape 22"/>
          <p:cNvSpPr/>
          <p:nvPr/>
        </p:nvSpPr>
        <p:spPr>
          <a:xfrm>
            <a:off x="3200400" y="2971800"/>
            <a:ext cx="2834640" cy="1783080"/>
          </a:xfrm>
          <a:prstGeom prst="rect">
            <a:avLst/>
          </a:prstGeom>
          <a:solidFill>
            <a:srgbClr val="F8FAFD"/>
          </a:solidFill>
          <a:ln w="22860">
            <a:solidFill>
              <a:srgbClr val="843C0C"/>
            </a:solidFill>
            <a:prstDash val="solid"/>
          </a:ln>
        </p:spPr>
      </p:sp>
      <p:sp>
        <p:nvSpPr>
          <p:cNvPr id="25" name="Shape 23"/>
          <p:cNvSpPr/>
          <p:nvPr/>
        </p:nvSpPr>
        <p:spPr>
          <a:xfrm>
            <a:off x="3200400" y="2971800"/>
            <a:ext cx="2834640" cy="384048"/>
          </a:xfrm>
          <a:prstGeom prst="rect">
            <a:avLst/>
          </a:prstGeom>
          <a:solidFill>
            <a:srgbClr val="843C0C"/>
          </a:solidFill>
          <a:ln w="12700">
            <a:solidFill>
              <a:srgbClr val="843C0C"/>
            </a:solidFill>
            <a:prstDash val="solid"/>
          </a:ln>
        </p:spPr>
      </p:sp>
      <p:sp>
        <p:nvSpPr>
          <p:cNvPr id="26" name="Text 24"/>
          <p:cNvSpPr/>
          <p:nvPr/>
        </p:nvSpPr>
        <p:spPr>
          <a:xfrm>
            <a:off x="3200400" y="2971800"/>
            <a:ext cx="2834640"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Dashboard</a:t>
            </a:r>
            <a:endParaRPr lang="en-US" sz="1200" dirty="0"/>
          </a:p>
        </p:txBody>
      </p:sp>
      <p:sp>
        <p:nvSpPr>
          <p:cNvPr id="27" name="Text 25"/>
          <p:cNvSpPr/>
          <p:nvPr/>
        </p:nvSpPr>
        <p:spPr>
          <a:xfrm>
            <a:off x="3291840" y="3410712"/>
            <a:ext cx="2651760" cy="1298448"/>
          </a:xfrm>
          <a:prstGeom prst="rect">
            <a:avLst/>
          </a:prstGeom>
          <a:noFill/>
          <a:ln/>
        </p:spPr>
        <p:txBody>
          <a:bodyPr wrap="square" rtlCol="0" anchor="ctr"/>
          <a:lstStyle/>
          <a:p>
            <a:pPr marL="0" indent="0" algn="ctr">
              <a:buNone/>
            </a:pPr>
            <a:r>
              <a:rPr lang="en-US" sz="1100" dirty="0">
                <a:solidFill>
                  <a:srgbClr val="404040"/>
                </a:solidFill>
                <a:latin typeface="Calibri" pitchFamily="34" charset="0"/>
                <a:ea typeface="Calibri" pitchFamily="34" charset="-122"/>
                <a:cs typeface="Calibri" pitchFamily="34" charset="-120"/>
              </a:rPr>
              <a:t>5 report pages</a:t>
            </a:r>
            <a:endParaRPr lang="en-US" sz="1100" dirty="0"/>
          </a:p>
          <a:p>
            <a:pPr marL="0" indent="0" algn="ctr">
              <a:buNone/>
            </a:pPr>
            <a:r>
              <a:rPr lang="en-US" sz="1100" dirty="0">
                <a:solidFill>
                  <a:srgbClr val="404040"/>
                </a:solidFill>
                <a:latin typeface="Calibri" pitchFamily="34" charset="0"/>
                <a:ea typeface="Calibri" pitchFamily="34" charset="-122"/>
                <a:cs typeface="Calibri" pitchFamily="34" charset="-120"/>
              </a:rPr>
              <a:t>Interactive slicers</a:t>
            </a:r>
            <a:endParaRPr lang="en-US" sz="1100" dirty="0"/>
          </a:p>
          <a:p>
            <a:pPr marL="0" indent="0" algn="ctr">
              <a:buNone/>
            </a:pPr>
            <a:r>
              <a:rPr lang="en-US" sz="1100" dirty="0">
                <a:solidFill>
                  <a:srgbClr val="404040"/>
                </a:solidFill>
                <a:latin typeface="Calibri" pitchFamily="34" charset="0"/>
                <a:ea typeface="Calibri" pitchFamily="34" charset="-122"/>
                <a:cs typeface="Calibri" pitchFamily="34" charset="-120"/>
              </a:rPr>
              <a:t>KPI cards + charts</a:t>
            </a:r>
            <a:endParaRPr lang="en-US" sz="1100" dirty="0"/>
          </a:p>
          <a:p>
            <a:pPr marL="0" indent="0" algn="ctr">
              <a:buNone/>
            </a:pPr>
            <a:r>
              <a:rPr lang="en-US" sz="1100" dirty="0">
                <a:solidFill>
                  <a:srgbClr val="404040"/>
                </a:solidFill>
                <a:latin typeface="Calibri" pitchFamily="34" charset="0"/>
                <a:ea typeface="Calibri" pitchFamily="34" charset="-122"/>
                <a:cs typeface="Calibri" pitchFamily="34" charset="-120"/>
              </a:rPr>
              <a:t>Before/after analysis</a:t>
            </a:r>
            <a:endParaRPr lang="en-US" sz="1100" dirty="0"/>
          </a:p>
        </p:txBody>
      </p:sp>
      <p:sp>
        <p:nvSpPr>
          <p:cNvPr id="28" name="Shape 26"/>
          <p:cNvSpPr/>
          <p:nvPr/>
        </p:nvSpPr>
        <p:spPr>
          <a:xfrm>
            <a:off x="6172200" y="2971800"/>
            <a:ext cx="2834640" cy="1783080"/>
          </a:xfrm>
          <a:prstGeom prst="rect">
            <a:avLst/>
          </a:prstGeom>
          <a:solidFill>
            <a:srgbClr val="F8FAFD"/>
          </a:solidFill>
          <a:ln w="22860">
            <a:solidFill>
              <a:srgbClr val="7B1818"/>
            </a:solidFill>
            <a:prstDash val="solid"/>
          </a:ln>
        </p:spPr>
      </p:sp>
      <p:sp>
        <p:nvSpPr>
          <p:cNvPr id="29" name="Shape 27"/>
          <p:cNvSpPr/>
          <p:nvPr/>
        </p:nvSpPr>
        <p:spPr>
          <a:xfrm>
            <a:off x="6172200" y="2971800"/>
            <a:ext cx="2834640" cy="384048"/>
          </a:xfrm>
          <a:prstGeom prst="rect">
            <a:avLst/>
          </a:prstGeom>
          <a:solidFill>
            <a:srgbClr val="7B1818"/>
          </a:solidFill>
          <a:ln w="12700">
            <a:solidFill>
              <a:srgbClr val="7B1818"/>
            </a:solidFill>
            <a:prstDash val="solid"/>
          </a:ln>
        </p:spPr>
      </p:sp>
      <p:sp>
        <p:nvSpPr>
          <p:cNvPr id="30" name="Text 28"/>
          <p:cNvSpPr/>
          <p:nvPr/>
        </p:nvSpPr>
        <p:spPr>
          <a:xfrm>
            <a:off x="6172200" y="2971800"/>
            <a:ext cx="2834640"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Key Finding</a:t>
            </a:r>
            <a:endParaRPr lang="en-US" sz="1200" dirty="0"/>
          </a:p>
        </p:txBody>
      </p:sp>
      <p:sp>
        <p:nvSpPr>
          <p:cNvPr id="31" name="Text 29"/>
          <p:cNvSpPr/>
          <p:nvPr/>
        </p:nvSpPr>
        <p:spPr>
          <a:xfrm>
            <a:off x="6263640" y="3410712"/>
            <a:ext cx="2651760" cy="1298448"/>
          </a:xfrm>
          <a:prstGeom prst="rect">
            <a:avLst/>
          </a:prstGeom>
          <a:noFill/>
          <a:ln/>
        </p:spPr>
        <p:txBody>
          <a:bodyPr wrap="square" rtlCol="0" anchor="ctr"/>
          <a:lstStyle/>
          <a:p>
            <a:pPr marL="0" indent="0" algn="ctr">
              <a:buNone/>
            </a:pPr>
            <a:r>
              <a:rPr lang="en-US" sz="1100" dirty="0">
                <a:solidFill>
                  <a:srgbClr val="404040"/>
                </a:solidFill>
                <a:latin typeface="Calibri" pitchFamily="34" charset="0"/>
                <a:ea typeface="Calibri" pitchFamily="34" charset="-122"/>
                <a:cs typeface="Calibri" pitchFamily="34" charset="-120"/>
              </a:rPr>
              <a:t>UNOC saved Uganda</a:t>
            </a:r>
            <a:endParaRPr lang="en-US" sz="1100" dirty="0"/>
          </a:p>
          <a:p>
            <a:pPr marL="0" indent="0" algn="ctr">
              <a:buNone/>
            </a:pPr>
            <a:r>
              <a:rPr lang="en-US" sz="1100" dirty="0">
                <a:solidFill>
                  <a:srgbClr val="404040"/>
                </a:solidFill>
                <a:latin typeface="Calibri" pitchFamily="34" charset="0"/>
                <a:ea typeface="Calibri" pitchFamily="34" charset="-122"/>
                <a:cs typeface="Calibri" pitchFamily="34" charset="-120"/>
              </a:rPr>
              <a:t>UGX 591/litre petrol</a:t>
            </a:r>
            <a:endParaRPr lang="en-US" sz="1100" dirty="0"/>
          </a:p>
          <a:p>
            <a:pPr marL="0" indent="0" algn="ctr">
              <a:buNone/>
            </a:pPr>
            <a:r>
              <a:rPr lang="en-US" sz="1100" dirty="0">
                <a:solidFill>
                  <a:srgbClr val="404040"/>
                </a:solidFill>
                <a:latin typeface="Calibri" pitchFamily="34" charset="0"/>
                <a:ea typeface="Calibri" pitchFamily="34" charset="-122"/>
                <a:cs typeface="Calibri" pitchFamily="34" charset="-120"/>
              </a:rPr>
              <a:t>10.8% price reduction</a:t>
            </a:r>
            <a:endParaRPr lang="en-US" sz="1100" dirty="0"/>
          </a:p>
          <a:p>
            <a:pPr marL="0" indent="0" algn="ctr">
              <a:buNone/>
            </a:pPr>
            <a:r>
              <a:rPr lang="en-US" sz="1100" dirty="0">
                <a:solidFill>
                  <a:srgbClr val="404040"/>
                </a:solidFill>
                <a:latin typeface="Calibri" pitchFamily="34" charset="0"/>
                <a:ea typeface="Calibri" pitchFamily="34" charset="-122"/>
                <a:cs typeface="Calibri" pitchFamily="34" charset="-120"/>
              </a:rPr>
              <a:t>July 2024 onwards</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2926080"/>
            <a:ext cx="9144000" cy="2221992"/>
          </a:xfrm>
          <a:prstGeom prst="rect">
            <a:avLst/>
          </a:prstGeom>
          <a:solidFill>
            <a:srgbClr val="162040"/>
          </a:solidFill>
          <a:ln w="12700">
            <a:solidFill>
              <a:srgbClr val="162040"/>
            </a:solidFill>
            <a:prstDash val="solid"/>
          </a:ln>
        </p:spPr>
      </p:sp>
      <p:sp>
        <p:nvSpPr>
          <p:cNvPr id="3" name="Shape 1"/>
          <p:cNvSpPr/>
          <p:nvPr/>
        </p:nvSpPr>
        <p:spPr>
          <a:xfrm>
            <a:off x="0" y="2852928"/>
            <a:ext cx="9144000" cy="91440"/>
          </a:xfrm>
          <a:prstGeom prst="rect">
            <a:avLst/>
          </a:prstGeom>
          <a:solidFill>
            <a:srgbClr val="C9A84C"/>
          </a:solidFill>
          <a:ln w="12700">
            <a:solidFill>
              <a:srgbClr val="C9A84C"/>
            </a:solidFill>
            <a:prstDash val="solid"/>
          </a:ln>
        </p:spPr>
      </p:sp>
      <p:sp>
        <p:nvSpPr>
          <p:cNvPr id="4" name="Text 2"/>
          <p:cNvSpPr/>
          <p:nvPr/>
        </p:nvSpPr>
        <p:spPr>
          <a:xfrm>
            <a:off x="457200" y="201705"/>
            <a:ext cx="8229600" cy="502920"/>
          </a:xfrm>
          <a:prstGeom prst="rect">
            <a:avLst/>
          </a:prstGeom>
          <a:noFill/>
          <a:ln/>
        </p:spPr>
        <p:txBody>
          <a:bodyPr wrap="square" rtlCol="0" anchor="ctr"/>
          <a:lstStyle/>
          <a:p>
            <a:pPr marL="0" indent="0">
              <a:buNone/>
            </a:pPr>
            <a:r>
              <a:rPr lang="en-US" sz="2600" b="1" dirty="0">
                <a:solidFill>
                  <a:schemeClr val="tx2">
                    <a:lumMod val="50000"/>
                  </a:schemeClr>
                </a:solidFill>
                <a:latin typeface="Calibri" pitchFamily="34" charset="0"/>
                <a:ea typeface="Calibri" pitchFamily="34" charset="-122"/>
                <a:cs typeface="Calibri" pitchFamily="34" charset="-120"/>
              </a:rPr>
              <a:t>Conclusion</a:t>
            </a:r>
            <a:endParaRPr lang="en-US" sz="2600" dirty="0">
              <a:solidFill>
                <a:schemeClr val="tx2">
                  <a:lumMod val="50000"/>
                </a:schemeClr>
              </a:solidFill>
            </a:endParaRPr>
          </a:p>
        </p:txBody>
      </p:sp>
      <p:sp>
        <p:nvSpPr>
          <p:cNvPr id="5" name="Shape 3"/>
          <p:cNvSpPr/>
          <p:nvPr/>
        </p:nvSpPr>
        <p:spPr>
          <a:xfrm>
            <a:off x="457200" y="822960"/>
            <a:ext cx="109728" cy="109728"/>
          </a:xfrm>
          <a:prstGeom prst="ellipse">
            <a:avLst/>
          </a:prstGeom>
          <a:solidFill>
            <a:srgbClr val="C9A84C"/>
          </a:solidFill>
          <a:ln w="12700">
            <a:solidFill>
              <a:srgbClr val="C9A84C"/>
            </a:solidFill>
            <a:prstDash val="solid"/>
          </a:ln>
        </p:spPr>
      </p:sp>
      <p:sp>
        <p:nvSpPr>
          <p:cNvPr id="6" name="Text 4"/>
          <p:cNvSpPr/>
          <p:nvPr/>
        </p:nvSpPr>
        <p:spPr>
          <a:xfrm>
            <a:off x="640080" y="786384"/>
            <a:ext cx="8229600" cy="365760"/>
          </a:xfrm>
          <a:prstGeom prst="rect">
            <a:avLst/>
          </a:prstGeom>
          <a:noFill/>
          <a:ln/>
        </p:spPr>
        <p:txBody>
          <a:bodyPr wrap="square" rtlCol="0" anchor="ctr"/>
          <a:lstStyle/>
          <a:p>
            <a:pPr marL="0" indent="0">
              <a:buNone/>
            </a:pPr>
            <a:r>
              <a:rPr lang="en-US" sz="1200" dirty="0">
                <a:solidFill>
                  <a:schemeClr val="tx2">
                    <a:lumMod val="50000"/>
                  </a:schemeClr>
                </a:solidFill>
                <a:latin typeface="Calibri" pitchFamily="34" charset="0"/>
                <a:ea typeface="Calibri" pitchFamily="34" charset="-122"/>
                <a:cs typeface="Calibri" pitchFamily="34" charset="-120"/>
              </a:rPr>
              <a:t>This project demonstrates the full data warehousing lifecycle applied to a real Ugandan economic challenge</a:t>
            </a:r>
            <a:endParaRPr lang="en-US" sz="1200" dirty="0">
              <a:solidFill>
                <a:schemeClr val="tx2">
                  <a:lumMod val="50000"/>
                </a:schemeClr>
              </a:solidFill>
            </a:endParaRPr>
          </a:p>
        </p:txBody>
      </p:sp>
      <p:sp>
        <p:nvSpPr>
          <p:cNvPr id="7" name="Shape 5"/>
          <p:cNvSpPr/>
          <p:nvPr/>
        </p:nvSpPr>
        <p:spPr>
          <a:xfrm>
            <a:off x="457200" y="1225296"/>
            <a:ext cx="109728" cy="109728"/>
          </a:xfrm>
          <a:prstGeom prst="ellipse">
            <a:avLst/>
          </a:prstGeom>
          <a:solidFill>
            <a:srgbClr val="C9A84C"/>
          </a:solidFill>
          <a:ln w="12700">
            <a:solidFill>
              <a:srgbClr val="C9A84C"/>
            </a:solidFill>
            <a:prstDash val="solid"/>
          </a:ln>
        </p:spPr>
      </p:sp>
      <p:sp>
        <p:nvSpPr>
          <p:cNvPr id="8" name="Text 6"/>
          <p:cNvSpPr/>
          <p:nvPr/>
        </p:nvSpPr>
        <p:spPr>
          <a:xfrm>
            <a:off x="640080" y="1188720"/>
            <a:ext cx="8229600" cy="365760"/>
          </a:xfrm>
          <a:prstGeom prst="rect">
            <a:avLst/>
          </a:prstGeom>
          <a:noFill/>
          <a:ln/>
        </p:spPr>
        <p:txBody>
          <a:bodyPr wrap="square" rtlCol="0" anchor="ctr"/>
          <a:lstStyle/>
          <a:p>
            <a:pPr marL="0" indent="0">
              <a:buNone/>
            </a:pPr>
            <a:r>
              <a:rPr lang="en-US" sz="1200" dirty="0">
                <a:solidFill>
                  <a:schemeClr val="tx2">
                    <a:lumMod val="50000"/>
                  </a:schemeClr>
                </a:solidFill>
                <a:latin typeface="Calibri" pitchFamily="34" charset="0"/>
                <a:ea typeface="Calibri" pitchFamily="34" charset="-122"/>
                <a:cs typeface="Calibri" pitchFamily="34" charset="-120"/>
              </a:rPr>
              <a:t>3,240 verified fact records from UBOS-anchored data spanning 54 months — the most comprehensive Uganda fuel price dataset compiled</a:t>
            </a:r>
            <a:endParaRPr lang="en-US" sz="1200" dirty="0">
              <a:solidFill>
                <a:schemeClr val="tx2">
                  <a:lumMod val="50000"/>
                </a:schemeClr>
              </a:solidFill>
            </a:endParaRPr>
          </a:p>
        </p:txBody>
      </p:sp>
      <p:sp>
        <p:nvSpPr>
          <p:cNvPr id="9" name="Shape 7"/>
          <p:cNvSpPr/>
          <p:nvPr/>
        </p:nvSpPr>
        <p:spPr>
          <a:xfrm>
            <a:off x="457200" y="1627632"/>
            <a:ext cx="109728" cy="109728"/>
          </a:xfrm>
          <a:prstGeom prst="ellipse">
            <a:avLst/>
          </a:prstGeom>
          <a:solidFill>
            <a:srgbClr val="C9A84C"/>
          </a:solidFill>
          <a:ln w="12700">
            <a:solidFill>
              <a:srgbClr val="C9A84C"/>
            </a:solidFill>
            <a:prstDash val="solid"/>
          </a:ln>
        </p:spPr>
      </p:sp>
      <p:sp>
        <p:nvSpPr>
          <p:cNvPr id="10" name="Text 8"/>
          <p:cNvSpPr/>
          <p:nvPr/>
        </p:nvSpPr>
        <p:spPr>
          <a:xfrm>
            <a:off x="640080" y="1591056"/>
            <a:ext cx="8229600" cy="365760"/>
          </a:xfrm>
          <a:prstGeom prst="rect">
            <a:avLst/>
          </a:prstGeom>
          <a:noFill/>
          <a:ln/>
        </p:spPr>
        <p:txBody>
          <a:bodyPr wrap="square" rtlCol="0" anchor="ctr"/>
          <a:lstStyle/>
          <a:p>
            <a:pPr marL="0" indent="0">
              <a:buNone/>
            </a:pPr>
            <a:r>
              <a:rPr lang="en-US" sz="1200" dirty="0">
                <a:solidFill>
                  <a:schemeClr val="tx2">
                    <a:lumMod val="50000"/>
                  </a:schemeClr>
                </a:solidFill>
                <a:latin typeface="Calibri" pitchFamily="34" charset="0"/>
                <a:ea typeface="Calibri" pitchFamily="34" charset="-122"/>
                <a:cs typeface="Calibri" pitchFamily="34" charset="-120"/>
              </a:rPr>
              <a:t>UNOC's July 2024 intervention is quantified for the first time in a BI context: 10.8% price reduction, UGX 591 saved per litre</a:t>
            </a:r>
            <a:endParaRPr lang="en-US" sz="1200" dirty="0">
              <a:solidFill>
                <a:schemeClr val="tx2">
                  <a:lumMod val="50000"/>
                </a:schemeClr>
              </a:solidFill>
            </a:endParaRPr>
          </a:p>
        </p:txBody>
      </p:sp>
      <p:sp>
        <p:nvSpPr>
          <p:cNvPr id="11" name="Shape 9"/>
          <p:cNvSpPr/>
          <p:nvPr/>
        </p:nvSpPr>
        <p:spPr>
          <a:xfrm>
            <a:off x="457200" y="2029968"/>
            <a:ext cx="109728" cy="109728"/>
          </a:xfrm>
          <a:prstGeom prst="ellipse">
            <a:avLst/>
          </a:prstGeom>
          <a:solidFill>
            <a:srgbClr val="C9A84C"/>
          </a:solidFill>
          <a:ln w="12700">
            <a:solidFill>
              <a:srgbClr val="C9A84C"/>
            </a:solidFill>
            <a:prstDash val="solid"/>
          </a:ln>
        </p:spPr>
      </p:sp>
      <p:sp>
        <p:nvSpPr>
          <p:cNvPr id="12" name="Text 10"/>
          <p:cNvSpPr/>
          <p:nvPr/>
        </p:nvSpPr>
        <p:spPr>
          <a:xfrm>
            <a:off x="640080" y="1993392"/>
            <a:ext cx="8229600" cy="365760"/>
          </a:xfrm>
          <a:prstGeom prst="rect">
            <a:avLst/>
          </a:prstGeom>
          <a:noFill/>
          <a:ln/>
        </p:spPr>
        <p:txBody>
          <a:bodyPr wrap="square" rtlCol="0" anchor="ctr"/>
          <a:lstStyle/>
          <a:p>
            <a:pPr marL="0" indent="0">
              <a:buNone/>
            </a:pPr>
            <a:r>
              <a:rPr lang="en-US" sz="1200" dirty="0">
                <a:solidFill>
                  <a:schemeClr val="tx2">
                    <a:lumMod val="50000"/>
                  </a:schemeClr>
                </a:solidFill>
                <a:latin typeface="Calibri" pitchFamily="34" charset="0"/>
                <a:ea typeface="Calibri" pitchFamily="34" charset="-122"/>
                <a:cs typeface="Calibri" pitchFamily="34" charset="-120"/>
              </a:rPr>
              <a:t>Northern Uganda's structural 9.5% price premium documented and explained through transport cost analysis</a:t>
            </a:r>
            <a:endParaRPr lang="en-US" sz="1200" dirty="0">
              <a:solidFill>
                <a:schemeClr val="tx2">
                  <a:lumMod val="50000"/>
                </a:schemeClr>
              </a:solidFill>
            </a:endParaRPr>
          </a:p>
        </p:txBody>
      </p:sp>
      <p:sp>
        <p:nvSpPr>
          <p:cNvPr id="13" name="Shape 11"/>
          <p:cNvSpPr/>
          <p:nvPr/>
        </p:nvSpPr>
        <p:spPr>
          <a:xfrm>
            <a:off x="457200" y="2432304"/>
            <a:ext cx="109728" cy="109728"/>
          </a:xfrm>
          <a:prstGeom prst="ellipse">
            <a:avLst/>
          </a:prstGeom>
          <a:solidFill>
            <a:srgbClr val="C9A84C"/>
          </a:solidFill>
          <a:ln w="12700">
            <a:solidFill>
              <a:srgbClr val="C9A84C"/>
            </a:solidFill>
            <a:prstDash val="solid"/>
          </a:ln>
        </p:spPr>
      </p:sp>
      <p:sp>
        <p:nvSpPr>
          <p:cNvPr id="14" name="Text 12"/>
          <p:cNvSpPr/>
          <p:nvPr/>
        </p:nvSpPr>
        <p:spPr>
          <a:xfrm>
            <a:off x="640080" y="2395728"/>
            <a:ext cx="8229600" cy="365760"/>
          </a:xfrm>
          <a:prstGeom prst="rect">
            <a:avLst/>
          </a:prstGeom>
          <a:noFill/>
          <a:ln/>
        </p:spPr>
        <p:txBody>
          <a:bodyPr wrap="square" rtlCol="0" anchor="ctr"/>
          <a:lstStyle/>
          <a:p>
            <a:pPr marL="0" indent="0">
              <a:buNone/>
            </a:pPr>
            <a:r>
              <a:rPr lang="en-US" sz="1200" dirty="0">
                <a:solidFill>
                  <a:schemeClr val="tx2">
                    <a:lumMod val="50000"/>
                  </a:schemeClr>
                </a:solidFill>
                <a:latin typeface="Calibri" pitchFamily="34" charset="0"/>
                <a:ea typeface="Calibri" pitchFamily="34" charset="-122"/>
                <a:cs typeface="Calibri" pitchFamily="34" charset="-120"/>
              </a:rPr>
              <a:t>The star schema model is scalable — LPG, electricity, and charcoal data can be added in future iterations</a:t>
            </a:r>
            <a:endParaRPr lang="en-US" sz="1200" dirty="0">
              <a:solidFill>
                <a:schemeClr val="tx2">
                  <a:lumMod val="50000"/>
                </a:schemeClr>
              </a:solidFill>
            </a:endParaRPr>
          </a:p>
        </p:txBody>
      </p:sp>
      <p:sp>
        <p:nvSpPr>
          <p:cNvPr id="15" name="Text 13"/>
          <p:cNvSpPr/>
          <p:nvPr/>
        </p:nvSpPr>
        <p:spPr>
          <a:xfrm>
            <a:off x="457200" y="3035808"/>
            <a:ext cx="8229600" cy="594360"/>
          </a:xfrm>
          <a:prstGeom prst="rect">
            <a:avLst/>
          </a:prstGeom>
          <a:noFill/>
          <a:ln/>
        </p:spPr>
        <p:txBody>
          <a:bodyPr wrap="square"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Thank You</a:t>
            </a:r>
            <a:endParaRPr lang="en-US" sz="3200" dirty="0"/>
          </a:p>
        </p:txBody>
      </p:sp>
      <p:sp>
        <p:nvSpPr>
          <p:cNvPr id="16" name="Text 14"/>
          <p:cNvSpPr/>
          <p:nvPr/>
        </p:nvSpPr>
        <p:spPr>
          <a:xfrm>
            <a:off x="457200" y="3611880"/>
            <a:ext cx="8229600" cy="347472"/>
          </a:xfrm>
          <a:prstGeom prst="rect">
            <a:avLst/>
          </a:prstGeom>
          <a:noFill/>
          <a:ln/>
        </p:spPr>
        <p:txBody>
          <a:bodyPr wrap="square" rtlCol="0" anchor="ctr"/>
          <a:lstStyle/>
          <a:p>
            <a:pPr marL="0" indent="0" algn="ctr">
              <a:buNone/>
            </a:pPr>
            <a:r>
              <a:rPr lang="en-US" sz="1600" i="1" dirty="0">
                <a:solidFill>
                  <a:srgbClr val="C9A84C"/>
                </a:solidFill>
                <a:latin typeface="Calibri" pitchFamily="34" charset="0"/>
                <a:ea typeface="Calibri" pitchFamily="34" charset="-122"/>
                <a:cs typeface="Calibri" pitchFamily="34" charset="-120"/>
              </a:rPr>
              <a:t>We welcome your questions</a:t>
            </a:r>
            <a:endParaRPr lang="en-US" sz="1600" dirty="0"/>
          </a:p>
        </p:txBody>
      </p:sp>
      <p:sp>
        <p:nvSpPr>
          <p:cNvPr id="17" name="Text 15"/>
          <p:cNvSpPr/>
          <p:nvPr/>
        </p:nvSpPr>
        <p:spPr>
          <a:xfrm>
            <a:off x="457200" y="4041648"/>
            <a:ext cx="8229600" cy="292608"/>
          </a:xfrm>
          <a:prstGeom prst="rect">
            <a:avLst/>
          </a:prstGeom>
          <a:noFill/>
          <a:ln/>
        </p:spPr>
        <p:txBody>
          <a:bodyPr wrap="square" rtlCol="0" anchor="ctr"/>
          <a:lstStyle/>
          <a:p>
            <a:pPr marL="0" indent="0" algn="ctr">
              <a:buNone/>
            </a:pPr>
            <a:r>
              <a:rPr lang="en-US" sz="1100" dirty="0">
                <a:solidFill>
                  <a:srgbClr val="7090AA"/>
                </a:solidFill>
                <a:latin typeface="Calibri" pitchFamily="34" charset="0"/>
                <a:ea typeface="Calibri" pitchFamily="34" charset="-122"/>
                <a:cs typeface="Calibri" pitchFamily="34" charset="-120"/>
              </a:rPr>
              <a:t>Group 4  |  Ssemambo Steven  |  Opifeni Timothy  |  Owani Stuart  |  Musemerwe Charles</a:t>
            </a:r>
            <a:endParaRPr lang="en-US" sz="1100" dirty="0"/>
          </a:p>
        </p:txBody>
      </p:sp>
      <p:sp>
        <p:nvSpPr>
          <p:cNvPr id="18" name="Text 16"/>
          <p:cNvSpPr/>
          <p:nvPr/>
        </p:nvSpPr>
        <p:spPr>
          <a:xfrm>
            <a:off x="457200" y="4407408"/>
            <a:ext cx="8229600" cy="256032"/>
          </a:xfrm>
          <a:prstGeom prst="rect">
            <a:avLst/>
          </a:prstGeom>
          <a:noFill/>
          <a:ln/>
        </p:spPr>
        <p:txBody>
          <a:bodyPr wrap="square" rtlCol="0" anchor="ctr"/>
          <a:lstStyle/>
          <a:p>
            <a:pPr marL="0" indent="0" algn="ctr">
              <a:buNone/>
            </a:pPr>
            <a:r>
              <a:rPr lang="en-US" sz="1000" dirty="0">
                <a:solidFill>
                  <a:srgbClr val="506070"/>
                </a:solidFill>
                <a:latin typeface="Calibri" pitchFamily="34" charset="0"/>
                <a:ea typeface="Calibri" pitchFamily="34" charset="-122"/>
                <a:cs typeface="Calibri" pitchFamily="34" charset="-120"/>
              </a:rPr>
              <a:t>College of Computing and Informatics Technology  |  Data Warehousing &amp; Business Intelligence  |  2025/2026</a:t>
            </a:r>
            <a:endParaRPr lang="en-US" sz="1000" dirty="0"/>
          </a:p>
        </p:txBody>
      </p:sp>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26</TotalTime>
  <Words>2638</Words>
  <Application>Microsoft Office PowerPoint</Application>
  <PresentationFormat>On-screen Show (16:9)</PresentationFormat>
  <Paragraphs>450</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Courier New</vt:lpstr>
      <vt:lpstr>Gill Sans MT</vt:lpstr>
      <vt:lpstr>Gallery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Uganda Fuel Price &amp; Consumption Data Warehouse</dc:title>
  <dc:subject>Data Warehousing and Business Intelligence Project</dc:subject>
  <dc:creator>Group 4 — College of Computing and Informatics Technology</dc:creator>
  <cp:lastModifiedBy>TIMOTHY OPIFENI</cp:lastModifiedBy>
  <cp:revision>4</cp:revision>
  <dcterms:created xsi:type="dcterms:W3CDTF">2026-05-14T06:38:06Z</dcterms:created>
  <dcterms:modified xsi:type="dcterms:W3CDTF">2026-05-14T13:35:50Z</dcterms:modified>
</cp:coreProperties>
</file>